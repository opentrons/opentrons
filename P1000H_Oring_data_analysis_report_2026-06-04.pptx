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337560" cy="6858000"/>
          </a:xfrm>
          <a:prstGeom prst="rect">
            <a:avLst/>
          </a:prstGeom>
          <a:solidFill>
            <a:srgbClr val="2168D3"/>
          </a:solidFill>
          <a:ln w="12700">
            <a:solidFill>
              <a:srgbClr val="2168D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337560" y="0"/>
            <a:ext cx="73152" cy="6858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023360" y="1115568"/>
            <a:ext cx="6126480" cy="4114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F3437"/>
                </a:solidFill>
              </a:rPr>
              <a:t>P1000H O-ring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023360" y="1627632"/>
            <a:ext cx="6126480" cy="5029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F3437"/>
                </a:solidFill>
              </a:rPr>
              <a:t>数据分析报告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050792" y="2423160"/>
            <a:ext cx="6126480" cy="5029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687384"/>
                </a:solidFill>
              </a:rPr>
              <a:t>Data-focused analysis of aspiration behavior and optical CV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687384"/>
                </a:solidFill>
              </a:rPr>
              <a:t>1,020,000 cycles / 392.3% life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914400"/>
            <a:ext cx="1554480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CEBFF"/>
                </a:solidFill>
              </a:rPr>
              <a:t>报告类型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325880"/>
            <a:ext cx="2240280" cy="1417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</a:rPr>
              <a:t>数据分析</a:t>
            </a:r>
            <a:endParaRPr lang="en-US" sz="1900" dirty="0"/>
          </a:p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</a:rPr>
              <a:t>趋势 / 异常节点</a:t>
            </a:r>
            <a:endParaRPr lang="en-US" sz="1900" dirty="0"/>
          </a:p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</a:rPr>
              <a:t>plate-level 口径</a:t>
            </a:r>
            <a:endParaRPr lang="en-US" sz="1900" dirty="0"/>
          </a:p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</a:rPr>
              <a:t>逐台证据链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050792" y="5349240"/>
            <a:ext cx="3474720" cy="2194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87384"/>
                </a:solidFill>
              </a:rPr>
              <a:t>SZ ENG | 2026-06-04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6547104"/>
            <a:ext cx="475488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87384"/>
                </a:solidFill>
              </a:rPr>
              <a:t>P1000H O-ring Data Analysis | 2026-06-04 | 1/13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83464"/>
            <a:ext cx="932688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50" b="1" dirty="0">
                <a:solidFill>
                  <a:srgbClr val="2168D3"/>
                </a:solidFill>
              </a:rPr>
              <a:t>1. 数据范围与分析口径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502920" y="667512"/>
            <a:ext cx="1028700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87384"/>
                </a:solidFill>
              </a:rPr>
              <a:t>本报告以吸水/LOW %D 与 Optical CV 为主分析对象，Pressure 仅作为密封辅助背景，不作为主判定。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104120" y="310896"/>
            <a:ext cx="14173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2168D3"/>
                </a:solidFill>
              </a:rPr>
              <a:t>Opentrons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960120"/>
            <a:ext cx="1083564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47104"/>
            <a:ext cx="475488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87384"/>
                </a:solidFill>
              </a:rPr>
              <a:t>P1000H O-ring Data Analysis | 2026-06-04 | 2/13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685800" y="1234440"/>
            <a:ext cx="1920240" cy="502920"/>
          </a:xfrm>
          <a:prstGeom prst="rect">
            <a:avLst/>
          </a:prstGeom>
          <a:solidFill>
            <a:srgbClr val="2168D3"/>
          </a:solidFill>
          <a:ln w="6350">
            <a:solidFill>
              <a:srgbClr val="2168D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22376" y="1289304"/>
            <a:ext cx="1847088" cy="42976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</a:rPr>
              <a:t>字段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606040" y="1234440"/>
            <a:ext cx="8595360" cy="502920"/>
          </a:xfrm>
          <a:prstGeom prst="rect">
            <a:avLst/>
          </a:prstGeom>
          <a:solidFill>
            <a:srgbClr val="2168D3"/>
          </a:solidFill>
          <a:ln w="6350">
            <a:solidFill>
              <a:srgbClr val="2168D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42616" y="1289304"/>
            <a:ext cx="8522208" cy="42976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</a:rPr>
              <a:t>数据口径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85800" y="1737360"/>
            <a:ext cx="1920240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2376" y="1787652"/>
            <a:ext cx="1847088" cy="42976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F3437"/>
                </a:solidFill>
              </a:rPr>
              <a:t>样本数量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606040" y="1737360"/>
            <a:ext cx="8595360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42616" y="1787652"/>
            <a:ext cx="8522208" cy="42976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F3437"/>
                </a:solidFill>
              </a:rPr>
              <a:t>5 台 production P1KH 96-channel P1000H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5800" y="2240280"/>
            <a:ext cx="1920240" cy="502920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2376" y="2290572"/>
            <a:ext cx="1847088" cy="42976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F3437"/>
                </a:solidFill>
              </a:rPr>
              <a:t>测试类型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606040" y="2240280"/>
            <a:ext cx="8595360" cy="502920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42616" y="2290572"/>
            <a:ext cx="8522208" cy="42976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F3437"/>
                </a:solidFill>
              </a:rPr>
              <a:t>1000 uL cycles / O-ring 相关性能观察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5800" y="2743200"/>
            <a:ext cx="1920240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2376" y="2793492"/>
            <a:ext cx="1847088" cy="42976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F3437"/>
                </a:solidFill>
              </a:rPr>
              <a:t>Cycle 记录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606040" y="2743200"/>
            <a:ext cx="8595360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42616" y="2793492"/>
            <a:ext cx="8522208" cy="42976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F3437"/>
                </a:solidFill>
              </a:rPr>
              <a:t>每台 15 条 cycle row，其中 10 条具有可分析 CV 数值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85800" y="3246120"/>
            <a:ext cx="1920240" cy="502920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2376" y="3296412"/>
            <a:ext cx="1847088" cy="42976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F3437"/>
                </a:solidFill>
              </a:rPr>
              <a:t>最新节点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606040" y="3246120"/>
            <a:ext cx="8595360" cy="502920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42616" y="3296412"/>
            <a:ext cx="8522208" cy="42976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F3437"/>
                </a:solidFill>
              </a:rPr>
              <a:t>1,020,000 cycles / 392.3% life / Finish x5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85800" y="3749040"/>
            <a:ext cx="1920240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2376" y="3799332"/>
            <a:ext cx="1847088" cy="42976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F3437"/>
                </a:solidFill>
              </a:rPr>
              <a:t>关键数据字段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606040" y="3749040"/>
            <a:ext cx="8595360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42616" y="3799332"/>
            <a:ext cx="8522208" cy="42976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F3437"/>
                </a:solidFill>
              </a:rPr>
              <a:t>CV across all dispenses、plate1-5 CV、worst-channel CV、LOW %D / fail / note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85800" y="4251960"/>
            <a:ext cx="1920240" cy="502920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2376" y="4302252"/>
            <a:ext cx="1847088" cy="42976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F3437"/>
                </a:solidFill>
              </a:rPr>
              <a:t>重要口径变化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606040" y="4251960"/>
            <a:ext cx="8595360" cy="502920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42616" y="4302252"/>
            <a:ext cx="8522208" cy="42976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F3437"/>
                </a:solidFill>
              </a:rPr>
              <a:t>1020k 最新节点仅 plate1-3 有效，plate4/5 为 #DIV/0!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31520" y="4983480"/>
            <a:ext cx="10469880" cy="685800"/>
          </a:xfrm>
          <a:prstGeom prst="roundRect">
            <a:avLst>
              <a:gd name="adj" fmla="val 8000"/>
            </a:avLst>
          </a:prstGeom>
          <a:solidFill>
            <a:srgbClr val="EAF2FF"/>
          </a:solidFill>
          <a:ln w="10160">
            <a:solidFill>
              <a:srgbClr val="BFDBF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60120" y="5212080"/>
            <a:ext cx="9966960" cy="1645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4EA6"/>
                </a:solidFill>
              </a:rPr>
              <a:t>分析原则：把 O-ring 作为“影响吸水一致性和 optical CV 的工程假设”，用数据证明风险等级；不把推断当作已确认根因。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83464"/>
            <a:ext cx="932688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50" b="1" dirty="0">
                <a:solidFill>
                  <a:srgbClr val="2168D3"/>
                </a:solidFill>
              </a:rPr>
              <a:t>2. 指标定义：哪些数据能说明 O-ring 风险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502920" y="667512"/>
            <a:ext cx="1028700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87384"/>
                </a:solidFill>
              </a:rPr>
              <a:t>O-ring 不直接产生 optical 数值；它通过密封和摩擦影响吸/排液稳定性，再反映到光学。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104120" y="310896"/>
            <a:ext cx="14173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2168D3"/>
                </a:solidFill>
              </a:rPr>
              <a:t>Opentrons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960120"/>
            <a:ext cx="1083564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47104"/>
            <a:ext cx="475488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87384"/>
                </a:solidFill>
              </a:rPr>
              <a:t>P1000H O-ring Data Analysis | 2026-06-04 | 3/13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594360" y="1170432"/>
            <a:ext cx="1234440" cy="621792"/>
          </a:xfrm>
          <a:prstGeom prst="rect">
            <a:avLst/>
          </a:prstGeom>
          <a:solidFill>
            <a:srgbClr val="2168D3"/>
          </a:solidFill>
          <a:ln w="6350">
            <a:solidFill>
              <a:srgbClr val="2168D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" y="1225296"/>
            <a:ext cx="1161288" cy="54864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</a:rPr>
              <a:t>类别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828800" y="1170432"/>
            <a:ext cx="2331720" cy="621792"/>
          </a:xfrm>
          <a:prstGeom prst="rect">
            <a:avLst/>
          </a:prstGeom>
          <a:solidFill>
            <a:srgbClr val="2168D3"/>
          </a:solidFill>
          <a:ln w="6350">
            <a:solidFill>
              <a:srgbClr val="2168D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65376" y="1225296"/>
            <a:ext cx="2258568" cy="54864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</a:rPr>
              <a:t>指标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160520" y="1170432"/>
            <a:ext cx="6995160" cy="621792"/>
          </a:xfrm>
          <a:prstGeom prst="rect">
            <a:avLst/>
          </a:prstGeom>
          <a:solidFill>
            <a:srgbClr val="2168D3"/>
          </a:solidFill>
          <a:ln w="6350">
            <a:solidFill>
              <a:srgbClr val="2168D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97096" y="1225296"/>
            <a:ext cx="6922008" cy="54864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</a:rPr>
              <a:t>分析意义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94360" y="1792224"/>
            <a:ext cx="1234440" cy="621792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" y="1842516"/>
            <a:ext cx="1161288" cy="54864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2F3437"/>
                </a:solidFill>
              </a:rPr>
              <a:t>直接现象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1828800" y="1792224"/>
            <a:ext cx="2331720" cy="621792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65376" y="1842516"/>
            <a:ext cx="2258568" cy="54864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2F3437"/>
                </a:solidFill>
              </a:rPr>
              <a:t>LOW %D / low aspiration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4160520" y="1792224"/>
            <a:ext cx="6995160" cy="621792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97096" y="1842516"/>
            <a:ext cx="6922008" cy="54864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2F3437"/>
                </a:solidFill>
              </a:rPr>
              <a:t>吸水偏少或通道局部吸液不足，是最接近 O-ring 密封问题的观察项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594360" y="2414016"/>
            <a:ext cx="1234440" cy="621792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" y="2464308"/>
            <a:ext cx="1161288" cy="54864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2F3437"/>
                </a:solidFill>
              </a:rPr>
              <a:t>直接现象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1828800" y="2414016"/>
            <a:ext cx="2331720" cy="621792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65376" y="2464308"/>
            <a:ext cx="2258568" cy="54864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2F3437"/>
                </a:solidFill>
              </a:rPr>
              <a:t>Optical CV across all dispenses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4160520" y="2414016"/>
            <a:ext cx="6995160" cy="621792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97096" y="2464308"/>
            <a:ext cx="6922008" cy="54864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2F3437"/>
                </a:solidFill>
              </a:rPr>
              <a:t>总体分液一致性；升高提示通道间或 plate 间波动增加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594360" y="3035808"/>
            <a:ext cx="1234440" cy="621792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936" y="3086100"/>
            <a:ext cx="1161288" cy="54864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2F3437"/>
                </a:solidFill>
              </a:rPr>
              <a:t>直接现象</a:t>
            </a:r>
            <a:endParaRPr lang="en-US" sz="920" dirty="0"/>
          </a:p>
        </p:txBody>
      </p:sp>
      <p:sp>
        <p:nvSpPr>
          <p:cNvPr id="27" name="Shape 25"/>
          <p:cNvSpPr/>
          <p:nvPr/>
        </p:nvSpPr>
        <p:spPr>
          <a:xfrm>
            <a:off x="1828800" y="3035808"/>
            <a:ext cx="2331720" cy="621792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865376" y="3086100"/>
            <a:ext cx="2258568" cy="54864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2F3437"/>
                </a:solidFill>
              </a:rPr>
              <a:t>Worst-channel CV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4160520" y="3035808"/>
            <a:ext cx="6995160" cy="621792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97096" y="3086100"/>
            <a:ext cx="6922008" cy="54864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2F3437"/>
                </a:solidFill>
              </a:rPr>
              <a:t>用于定位单通道或少数通道的异常峰值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594360" y="3657600"/>
            <a:ext cx="1234440" cy="621792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0936" y="3707892"/>
            <a:ext cx="1161288" cy="54864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2F3437"/>
                </a:solidFill>
              </a:rPr>
              <a:t>数据质量</a:t>
            </a:r>
            <a:endParaRPr lang="en-US" sz="920" dirty="0"/>
          </a:p>
        </p:txBody>
      </p:sp>
      <p:sp>
        <p:nvSpPr>
          <p:cNvPr id="33" name="Shape 31"/>
          <p:cNvSpPr/>
          <p:nvPr/>
        </p:nvSpPr>
        <p:spPr>
          <a:xfrm>
            <a:off x="1828800" y="3657600"/>
            <a:ext cx="2331720" cy="621792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865376" y="3707892"/>
            <a:ext cx="2258568" cy="54864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2F3437"/>
                </a:solidFill>
              </a:rPr>
              <a:t>有效 plate 数</a:t>
            </a:r>
            <a:endParaRPr lang="en-US" sz="920" dirty="0"/>
          </a:p>
        </p:txBody>
      </p:sp>
      <p:sp>
        <p:nvSpPr>
          <p:cNvPr id="35" name="Shape 33"/>
          <p:cNvSpPr/>
          <p:nvPr/>
        </p:nvSpPr>
        <p:spPr>
          <a:xfrm>
            <a:off x="4160520" y="3657600"/>
            <a:ext cx="6995160" cy="621792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97096" y="3707892"/>
            <a:ext cx="6922008" cy="54864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2F3437"/>
                </a:solidFill>
              </a:rPr>
              <a:t>latest 1020k 只测 3 盘，不能与历史 5 盘口径完全等价</a:t>
            </a:r>
            <a:endParaRPr lang="en-US" sz="920" dirty="0"/>
          </a:p>
        </p:txBody>
      </p:sp>
      <p:sp>
        <p:nvSpPr>
          <p:cNvPr id="37" name="Shape 35"/>
          <p:cNvSpPr/>
          <p:nvPr/>
        </p:nvSpPr>
        <p:spPr>
          <a:xfrm>
            <a:off x="594360" y="4279392"/>
            <a:ext cx="1234440" cy="621792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0936" y="4329684"/>
            <a:ext cx="1161288" cy="54864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2F3437"/>
                </a:solidFill>
              </a:rPr>
              <a:t>工程推断</a:t>
            </a:r>
            <a:endParaRPr lang="en-US" sz="920" dirty="0"/>
          </a:p>
        </p:txBody>
      </p:sp>
      <p:sp>
        <p:nvSpPr>
          <p:cNvPr id="39" name="Shape 37"/>
          <p:cNvSpPr/>
          <p:nvPr/>
        </p:nvSpPr>
        <p:spPr>
          <a:xfrm>
            <a:off x="1828800" y="4279392"/>
            <a:ext cx="2331720" cy="621792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865376" y="4329684"/>
            <a:ext cx="2258568" cy="54864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2F3437"/>
                </a:solidFill>
              </a:rPr>
              <a:t>O-ring 风险</a:t>
            </a:r>
            <a:endParaRPr lang="en-US" sz="920" dirty="0"/>
          </a:p>
        </p:txBody>
      </p:sp>
      <p:sp>
        <p:nvSpPr>
          <p:cNvPr id="41" name="Shape 39"/>
          <p:cNvSpPr/>
          <p:nvPr/>
        </p:nvSpPr>
        <p:spPr>
          <a:xfrm>
            <a:off x="4160520" y="4279392"/>
            <a:ext cx="6995160" cy="621792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97096" y="4329684"/>
            <a:ext cx="6922008" cy="54864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2F3437"/>
                </a:solidFill>
              </a:rPr>
              <a:t>当 LOW %D、CV 峰值和通道定位同时出现时，O-ring 风险等级上升</a:t>
            </a:r>
            <a:endParaRPr lang="en-US" sz="920" dirty="0"/>
          </a:p>
        </p:txBody>
      </p:sp>
      <p:sp>
        <p:nvSpPr>
          <p:cNvPr id="43" name="Text 41"/>
          <p:cNvSpPr/>
          <p:nvPr/>
        </p:nvSpPr>
        <p:spPr>
          <a:xfrm>
            <a:off x="777240" y="5074920"/>
            <a:ext cx="10149840" cy="685800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F3437"/>
                </a:solidFill>
              </a:rPr>
              <a:t>• 本报告优先看“数据模式”：是否整体偏高、是否局部通道异常、是否伴随 LOW %D / fail note。</a:t>
            </a:r>
            <a:endParaRPr lang="en-US" sz="1250" dirty="0"/>
          </a:p>
          <a:p>
            <a:pPr marL="0" indent="0" algn="l">
              <a:buNone/>
            </a:pPr>
            <a:r>
              <a:rPr lang="en-US" sz="1250" b="1" dirty="0">
                <a:solidFill>
                  <a:srgbClr val="2F3437"/>
                </a:solidFill>
              </a:rPr>
              <a:t>• O-ring 结论必须通过拆检或更换前后复测确认；当前报告给出的是数据支持强弱。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83464"/>
            <a:ext cx="932688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50" b="1" dirty="0">
                <a:solidFill>
                  <a:srgbClr val="2168D3"/>
                </a:solidFill>
              </a:rPr>
              <a:t>3. CV Trend：不同样机的波动模式不同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502920" y="667512"/>
            <a:ext cx="1028700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87384"/>
                </a:solidFill>
              </a:rPr>
              <a:t>A05 是 late-stage spike；A01 是 early/mid-stage high 后改善；A04 在 195k-520k 和 latest 均偏高。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104120" y="310896"/>
            <a:ext cx="14173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2168D3"/>
                </a:solidFill>
              </a:rPr>
              <a:t>Opentrons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960120"/>
            <a:ext cx="1083564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47104"/>
            <a:ext cx="475488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87384"/>
                </a:solidFill>
              </a:rPr>
              <a:t>P1000H O-ring Data Analysis | 2026-06-04 | 4/13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566928" y="1133856"/>
            <a:ext cx="10835640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70" b="1" dirty="0">
                <a:solidFill>
                  <a:srgbClr val="2F3437"/>
                </a:solidFill>
              </a:rPr>
              <a:t>CV across all dispenses by cycle</a:t>
            </a:r>
            <a:endParaRPr lang="en-US" sz="1270" dirty="0"/>
          </a:p>
        </p:txBody>
      </p:sp>
      <p:sp>
        <p:nvSpPr>
          <p:cNvPr id="8" name="Shape 6"/>
          <p:cNvSpPr/>
          <p:nvPr/>
        </p:nvSpPr>
        <p:spPr>
          <a:xfrm>
            <a:off x="978408" y="5257800"/>
            <a:ext cx="10195560" cy="0"/>
          </a:xfrm>
          <a:prstGeom prst="line">
            <a:avLst/>
          </a:prstGeom>
          <a:noFill/>
          <a:ln w="5715">
            <a:solidFill>
              <a:srgbClr val="D9E2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5198364"/>
            <a:ext cx="228600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87384"/>
                </a:solidFill>
              </a:rPr>
              <a:t>0</a:t>
            </a:r>
            <a:endParaRPr lang="en-US" sz="650" dirty="0"/>
          </a:p>
        </p:txBody>
      </p:sp>
      <p:sp>
        <p:nvSpPr>
          <p:cNvPr id="10" name="Shape 8"/>
          <p:cNvSpPr/>
          <p:nvPr/>
        </p:nvSpPr>
        <p:spPr>
          <a:xfrm>
            <a:off x="978408" y="4851400"/>
            <a:ext cx="10195560" cy="0"/>
          </a:xfrm>
          <a:prstGeom prst="line">
            <a:avLst/>
          </a:prstGeom>
          <a:noFill/>
          <a:ln w="5715">
            <a:solidFill>
              <a:srgbClr val="D9E2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4791964"/>
            <a:ext cx="228600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87384"/>
                </a:solidFill>
              </a:rPr>
              <a:t>1</a:t>
            </a:r>
            <a:endParaRPr lang="en-US" sz="650" dirty="0"/>
          </a:p>
        </p:txBody>
      </p:sp>
      <p:sp>
        <p:nvSpPr>
          <p:cNvPr id="12" name="Shape 10"/>
          <p:cNvSpPr/>
          <p:nvPr/>
        </p:nvSpPr>
        <p:spPr>
          <a:xfrm>
            <a:off x="978408" y="4445000"/>
            <a:ext cx="10195560" cy="0"/>
          </a:xfrm>
          <a:prstGeom prst="line">
            <a:avLst/>
          </a:prstGeom>
          <a:noFill/>
          <a:ln w="5715">
            <a:solidFill>
              <a:srgbClr val="D9E2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385564"/>
            <a:ext cx="228600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87384"/>
                </a:solidFill>
              </a:rPr>
              <a:t>2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978408" y="4038600"/>
            <a:ext cx="10195560" cy="0"/>
          </a:xfrm>
          <a:prstGeom prst="line">
            <a:avLst/>
          </a:prstGeom>
          <a:noFill/>
          <a:ln w="5715">
            <a:solidFill>
              <a:srgbClr val="D9E2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979164"/>
            <a:ext cx="228600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87384"/>
                </a:solidFill>
              </a:rPr>
              <a:t>3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978408" y="3632200"/>
            <a:ext cx="10195560" cy="0"/>
          </a:xfrm>
          <a:prstGeom prst="line">
            <a:avLst/>
          </a:prstGeom>
          <a:noFill/>
          <a:ln w="5715">
            <a:solidFill>
              <a:srgbClr val="D9E2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572764"/>
            <a:ext cx="228600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87384"/>
                </a:solidFill>
              </a:rPr>
              <a:t>4</a:t>
            </a:r>
            <a:endParaRPr lang="en-US" sz="650" dirty="0"/>
          </a:p>
        </p:txBody>
      </p:sp>
      <p:sp>
        <p:nvSpPr>
          <p:cNvPr id="18" name="Shape 16"/>
          <p:cNvSpPr/>
          <p:nvPr/>
        </p:nvSpPr>
        <p:spPr>
          <a:xfrm>
            <a:off x="978408" y="3225800"/>
            <a:ext cx="10195560" cy="0"/>
          </a:xfrm>
          <a:prstGeom prst="line">
            <a:avLst/>
          </a:prstGeom>
          <a:noFill/>
          <a:ln w="5715">
            <a:solidFill>
              <a:srgbClr val="D9E2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166364"/>
            <a:ext cx="228600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87384"/>
                </a:solidFill>
              </a:rPr>
              <a:t>5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978408" y="2819400"/>
            <a:ext cx="10195560" cy="0"/>
          </a:xfrm>
          <a:prstGeom prst="line">
            <a:avLst/>
          </a:prstGeom>
          <a:noFill/>
          <a:ln w="5715">
            <a:solidFill>
              <a:srgbClr val="D9E2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2759964"/>
            <a:ext cx="228600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87384"/>
                </a:solidFill>
              </a:rPr>
              <a:t>6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978408" y="2413000"/>
            <a:ext cx="10195560" cy="0"/>
          </a:xfrm>
          <a:prstGeom prst="line">
            <a:avLst/>
          </a:prstGeom>
          <a:noFill/>
          <a:ln w="5715">
            <a:solidFill>
              <a:srgbClr val="D9E2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2353564"/>
            <a:ext cx="228600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87384"/>
                </a:solidFill>
              </a:rPr>
              <a:t>7</a:t>
            </a:r>
            <a:endParaRPr lang="en-US" sz="650" dirty="0"/>
          </a:p>
        </p:txBody>
      </p:sp>
      <p:sp>
        <p:nvSpPr>
          <p:cNvPr id="24" name="Shape 22"/>
          <p:cNvSpPr/>
          <p:nvPr/>
        </p:nvSpPr>
        <p:spPr>
          <a:xfrm>
            <a:off x="978408" y="2006600"/>
            <a:ext cx="10195560" cy="0"/>
          </a:xfrm>
          <a:prstGeom prst="line">
            <a:avLst/>
          </a:prstGeom>
          <a:noFill/>
          <a:ln w="5715">
            <a:solidFill>
              <a:srgbClr val="D9E2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1947164"/>
            <a:ext cx="228600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87384"/>
                </a:solidFill>
              </a:rPr>
              <a:t>8</a:t>
            </a:r>
            <a:endParaRPr lang="en-US" sz="650" dirty="0"/>
          </a:p>
        </p:txBody>
      </p:sp>
      <p:sp>
        <p:nvSpPr>
          <p:cNvPr id="26" name="Shape 24"/>
          <p:cNvSpPr/>
          <p:nvPr/>
        </p:nvSpPr>
        <p:spPr>
          <a:xfrm>
            <a:off x="978408" y="1600200"/>
            <a:ext cx="10195560" cy="0"/>
          </a:xfrm>
          <a:prstGeom prst="line">
            <a:avLst/>
          </a:prstGeom>
          <a:noFill/>
          <a:ln w="5715">
            <a:solidFill>
              <a:srgbClr val="D9E2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1540764"/>
            <a:ext cx="228600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87384"/>
                </a:solidFill>
              </a:rPr>
              <a:t>9</a:t>
            </a: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978408" y="5257800"/>
            <a:ext cx="0" cy="45720"/>
          </a:xfrm>
          <a:prstGeom prst="line">
            <a:avLst/>
          </a:prstGeom>
          <a:noFill/>
          <a:ln w="5715">
            <a:solidFill>
              <a:srgbClr val="68738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2104" y="5340096"/>
            <a:ext cx="310896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687384"/>
                </a:solidFill>
              </a:rPr>
              <a:t>0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3577276" y="5257800"/>
            <a:ext cx="0" cy="45720"/>
          </a:xfrm>
          <a:prstGeom prst="line">
            <a:avLst/>
          </a:prstGeom>
          <a:noFill/>
          <a:ln w="5715">
            <a:solidFill>
              <a:srgbClr val="68738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30972" y="5340096"/>
            <a:ext cx="310896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687384"/>
                </a:solidFill>
              </a:rPr>
              <a:t>260k</a:t>
            </a:r>
            <a:endParaRPr lang="en-US" sz="650" dirty="0"/>
          </a:p>
        </p:txBody>
      </p:sp>
      <p:sp>
        <p:nvSpPr>
          <p:cNvPr id="32" name="Shape 30"/>
          <p:cNvSpPr/>
          <p:nvPr/>
        </p:nvSpPr>
        <p:spPr>
          <a:xfrm>
            <a:off x="6176144" y="5257800"/>
            <a:ext cx="0" cy="45720"/>
          </a:xfrm>
          <a:prstGeom prst="line">
            <a:avLst/>
          </a:prstGeom>
          <a:noFill/>
          <a:ln w="5715">
            <a:solidFill>
              <a:srgbClr val="68738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29840" y="5340096"/>
            <a:ext cx="310896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687384"/>
                </a:solidFill>
              </a:rPr>
              <a:t>520k</a:t>
            </a:r>
            <a:endParaRPr lang="en-US" sz="650" dirty="0"/>
          </a:p>
        </p:txBody>
      </p:sp>
      <p:sp>
        <p:nvSpPr>
          <p:cNvPr id="34" name="Shape 32"/>
          <p:cNvSpPr/>
          <p:nvPr/>
        </p:nvSpPr>
        <p:spPr>
          <a:xfrm>
            <a:off x="9174839" y="5257800"/>
            <a:ext cx="0" cy="45720"/>
          </a:xfrm>
          <a:prstGeom prst="line">
            <a:avLst/>
          </a:prstGeom>
          <a:noFill/>
          <a:ln w="5715">
            <a:solidFill>
              <a:srgbClr val="68738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028535" y="5340096"/>
            <a:ext cx="310896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687384"/>
                </a:solidFill>
              </a:rPr>
              <a:t>820k</a:t>
            </a:r>
            <a:endParaRPr lang="en-US" sz="650" dirty="0"/>
          </a:p>
        </p:txBody>
      </p:sp>
      <p:sp>
        <p:nvSpPr>
          <p:cNvPr id="36" name="Shape 34"/>
          <p:cNvSpPr/>
          <p:nvPr/>
        </p:nvSpPr>
        <p:spPr>
          <a:xfrm>
            <a:off x="11173968" y="5257800"/>
            <a:ext cx="0" cy="45720"/>
          </a:xfrm>
          <a:prstGeom prst="line">
            <a:avLst/>
          </a:prstGeom>
          <a:noFill/>
          <a:ln w="5715">
            <a:solidFill>
              <a:srgbClr val="68738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1027664" y="5340096"/>
            <a:ext cx="310896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687384"/>
                </a:solidFill>
              </a:rPr>
              <a:t>1020k</a:t>
            </a:r>
            <a:endParaRPr lang="en-US" sz="650" dirty="0"/>
          </a:p>
        </p:txBody>
      </p:sp>
      <p:sp>
        <p:nvSpPr>
          <p:cNvPr id="38" name="Shape 36"/>
          <p:cNvSpPr/>
          <p:nvPr/>
        </p:nvSpPr>
        <p:spPr>
          <a:xfrm>
            <a:off x="978408" y="3225800"/>
            <a:ext cx="10195560" cy="0"/>
          </a:xfrm>
          <a:prstGeom prst="line">
            <a:avLst/>
          </a:prstGeom>
          <a:noFill/>
          <a:ln w="11430">
            <a:solidFill>
              <a:srgbClr val="DC262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351008" y="3079496"/>
            <a:ext cx="822960" cy="1097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DC2626"/>
                </a:solidFill>
              </a:rPr>
              <a:t>CV 5 reference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978408" y="4885451"/>
            <a:ext cx="649717" cy="85167"/>
          </a:xfrm>
          <a:prstGeom prst="line">
            <a:avLst/>
          </a:prstGeom>
          <a:noFill/>
          <a:ln w="13970">
            <a:solidFill>
              <a:srgbClr val="F59E0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628125" y="4781828"/>
            <a:ext cx="349848" cy="103624"/>
          </a:xfrm>
          <a:prstGeom prst="line">
            <a:avLst/>
          </a:prstGeom>
          <a:noFill/>
          <a:ln w="13970">
            <a:solidFill>
              <a:srgbClr val="F59E0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977973" y="4781828"/>
            <a:ext cx="299869" cy="241303"/>
          </a:xfrm>
          <a:prstGeom prst="line">
            <a:avLst/>
          </a:prstGeom>
          <a:noFill/>
          <a:ln w="13970">
            <a:solidFill>
              <a:srgbClr val="F59E0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277842" y="3566813"/>
            <a:ext cx="649717" cy="1456317"/>
          </a:xfrm>
          <a:prstGeom prst="line">
            <a:avLst/>
          </a:prstGeom>
          <a:noFill/>
          <a:ln w="13970">
            <a:solidFill>
              <a:srgbClr val="F59E0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927559" y="3545140"/>
            <a:ext cx="649717" cy="21674"/>
          </a:xfrm>
          <a:prstGeom prst="line">
            <a:avLst/>
          </a:prstGeom>
          <a:noFill/>
          <a:ln w="13970">
            <a:solidFill>
              <a:srgbClr val="F59E0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577276" y="2964929"/>
            <a:ext cx="2598868" cy="580210"/>
          </a:xfrm>
          <a:prstGeom prst="line">
            <a:avLst/>
          </a:prstGeom>
          <a:noFill/>
          <a:ln w="13970">
            <a:solidFill>
              <a:srgbClr val="F59E0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176144" y="2964929"/>
            <a:ext cx="999565" cy="1831896"/>
          </a:xfrm>
          <a:prstGeom prst="line">
            <a:avLst/>
          </a:prstGeom>
          <a:noFill/>
          <a:ln w="13970">
            <a:solidFill>
              <a:srgbClr val="F59E0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175709" y="4796826"/>
            <a:ext cx="1999129" cy="157318"/>
          </a:xfrm>
          <a:prstGeom prst="line">
            <a:avLst/>
          </a:prstGeom>
          <a:noFill/>
          <a:ln w="13970">
            <a:solidFill>
              <a:srgbClr val="F59E0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174839" y="3478011"/>
            <a:ext cx="1999129" cy="1476133"/>
          </a:xfrm>
          <a:prstGeom prst="line">
            <a:avLst/>
          </a:prstGeom>
          <a:noFill/>
          <a:ln w="13970">
            <a:solidFill>
              <a:srgbClr val="F59E0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46404" y="4938614"/>
            <a:ext cx="64008" cy="64008"/>
          </a:xfrm>
          <a:prstGeom prst="ellipse">
            <a:avLst/>
          </a:prstGeom>
          <a:solidFill>
            <a:srgbClr val="F59E0B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144140" y="2932925"/>
            <a:ext cx="64008" cy="64008"/>
          </a:xfrm>
          <a:prstGeom prst="ellipse">
            <a:avLst/>
          </a:prstGeom>
          <a:solidFill>
            <a:srgbClr val="F59E0B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1141964" y="3446007"/>
            <a:ext cx="64008" cy="64008"/>
          </a:xfrm>
          <a:prstGeom prst="ellipse">
            <a:avLst/>
          </a:prstGeom>
          <a:solidFill>
            <a:srgbClr val="F59E0B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78408" y="4934211"/>
            <a:ext cx="649717" cy="47473"/>
          </a:xfrm>
          <a:prstGeom prst="line">
            <a:avLst/>
          </a:prstGeom>
          <a:noFill/>
          <a:ln w="13970">
            <a:solidFill>
              <a:srgbClr val="7C3AED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628125" y="4934211"/>
            <a:ext cx="349848" cy="26631"/>
          </a:xfrm>
          <a:prstGeom prst="line">
            <a:avLst/>
          </a:prstGeom>
          <a:noFill/>
          <a:ln w="13970">
            <a:solidFill>
              <a:srgbClr val="7C3AED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977973" y="4960842"/>
            <a:ext cx="299869" cy="57181"/>
          </a:xfrm>
          <a:prstGeom prst="line">
            <a:avLst/>
          </a:prstGeom>
          <a:noFill/>
          <a:ln w="13970">
            <a:solidFill>
              <a:srgbClr val="7C3AED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277842" y="4854441"/>
            <a:ext cx="649717" cy="163582"/>
          </a:xfrm>
          <a:prstGeom prst="line">
            <a:avLst/>
          </a:prstGeom>
          <a:noFill/>
          <a:ln w="13970">
            <a:solidFill>
              <a:srgbClr val="7C3AED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927559" y="4854441"/>
            <a:ext cx="649717" cy="24628"/>
          </a:xfrm>
          <a:prstGeom prst="line">
            <a:avLst/>
          </a:prstGeom>
          <a:noFill/>
          <a:ln w="13970">
            <a:solidFill>
              <a:srgbClr val="7C3AED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577276" y="2740238"/>
            <a:ext cx="2598868" cy="2138831"/>
          </a:xfrm>
          <a:prstGeom prst="line">
            <a:avLst/>
          </a:prstGeom>
          <a:noFill/>
          <a:ln w="13970">
            <a:solidFill>
              <a:srgbClr val="7C3AED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176144" y="2740238"/>
            <a:ext cx="999565" cy="2003778"/>
          </a:xfrm>
          <a:prstGeom prst="line">
            <a:avLst/>
          </a:prstGeom>
          <a:noFill/>
          <a:ln w="13970">
            <a:solidFill>
              <a:srgbClr val="7C3AED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175709" y="4498840"/>
            <a:ext cx="1999129" cy="245176"/>
          </a:xfrm>
          <a:prstGeom prst="line">
            <a:avLst/>
          </a:prstGeom>
          <a:noFill/>
          <a:ln w="13970">
            <a:solidFill>
              <a:srgbClr val="7C3AED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174839" y="4498840"/>
            <a:ext cx="1999129" cy="154785"/>
          </a:xfrm>
          <a:prstGeom prst="line">
            <a:avLst/>
          </a:prstGeom>
          <a:noFill/>
          <a:ln w="13970">
            <a:solidFill>
              <a:srgbClr val="7C3AED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46404" y="4949680"/>
            <a:ext cx="64008" cy="64008"/>
          </a:xfrm>
          <a:prstGeom prst="ellipse">
            <a:avLst/>
          </a:prstGeom>
          <a:solidFill>
            <a:srgbClr val="7C3AED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144140" y="2708234"/>
            <a:ext cx="64008" cy="64008"/>
          </a:xfrm>
          <a:prstGeom prst="ellipse">
            <a:avLst/>
          </a:prstGeom>
          <a:solidFill>
            <a:srgbClr val="7C3AED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1141964" y="4621621"/>
            <a:ext cx="64008" cy="64008"/>
          </a:xfrm>
          <a:prstGeom prst="ellipse">
            <a:avLst/>
          </a:prstGeom>
          <a:solidFill>
            <a:srgbClr val="7C3AED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978408" y="4462424"/>
            <a:ext cx="649717" cy="510373"/>
          </a:xfrm>
          <a:prstGeom prst="line">
            <a:avLst/>
          </a:prstGeom>
          <a:noFill/>
          <a:ln w="13970">
            <a:solidFill>
              <a:srgbClr val="16A34A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628125" y="4779809"/>
            <a:ext cx="349848" cy="192987"/>
          </a:xfrm>
          <a:prstGeom prst="line">
            <a:avLst/>
          </a:prstGeom>
          <a:noFill/>
          <a:ln w="13970">
            <a:solidFill>
              <a:srgbClr val="16A34A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977973" y="4779809"/>
            <a:ext cx="299869" cy="253648"/>
          </a:xfrm>
          <a:prstGeom prst="line">
            <a:avLst/>
          </a:prstGeom>
          <a:noFill/>
          <a:ln w="13970">
            <a:solidFill>
              <a:srgbClr val="16A34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277842" y="4834564"/>
            <a:ext cx="649717" cy="198894"/>
          </a:xfrm>
          <a:prstGeom prst="line">
            <a:avLst/>
          </a:prstGeom>
          <a:noFill/>
          <a:ln w="13970">
            <a:solidFill>
              <a:srgbClr val="16A34A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927559" y="4834564"/>
            <a:ext cx="649717" cy="164927"/>
          </a:xfrm>
          <a:prstGeom prst="line">
            <a:avLst/>
          </a:prstGeom>
          <a:noFill/>
          <a:ln w="13970">
            <a:solidFill>
              <a:srgbClr val="16A34A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3577276" y="4834106"/>
            <a:ext cx="2598868" cy="165384"/>
          </a:xfrm>
          <a:prstGeom prst="line">
            <a:avLst/>
          </a:prstGeom>
          <a:noFill/>
          <a:ln w="13970">
            <a:solidFill>
              <a:srgbClr val="16A34A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176144" y="4834107"/>
            <a:ext cx="999565" cy="59828"/>
          </a:xfrm>
          <a:prstGeom prst="line">
            <a:avLst/>
          </a:prstGeom>
          <a:noFill/>
          <a:ln w="13970">
            <a:solidFill>
              <a:srgbClr val="16A34A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175709" y="4893934"/>
            <a:ext cx="1999129" cy="135646"/>
          </a:xfrm>
          <a:prstGeom prst="line">
            <a:avLst/>
          </a:prstGeom>
          <a:noFill/>
          <a:ln w="13970">
            <a:solidFill>
              <a:srgbClr val="16A34A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9174839" y="4982507"/>
            <a:ext cx="1999129" cy="47073"/>
          </a:xfrm>
          <a:prstGeom prst="line">
            <a:avLst/>
          </a:prstGeom>
          <a:noFill/>
          <a:ln w="13970">
            <a:solidFill>
              <a:srgbClr val="16A34A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46404" y="4430420"/>
            <a:ext cx="64008" cy="64008"/>
          </a:xfrm>
          <a:prstGeom prst="ellipse">
            <a:avLst/>
          </a:prstGeom>
          <a:solidFill>
            <a:srgbClr val="16A34A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895555" y="4802560"/>
            <a:ext cx="64008" cy="64008"/>
          </a:xfrm>
          <a:prstGeom prst="ellipse">
            <a:avLst/>
          </a:prstGeom>
          <a:solidFill>
            <a:srgbClr val="16A34A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1141964" y="4950503"/>
            <a:ext cx="64008" cy="64008"/>
          </a:xfrm>
          <a:prstGeom prst="ellipse">
            <a:avLst/>
          </a:prstGeom>
          <a:solidFill>
            <a:srgbClr val="16A34A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978408" y="3324710"/>
            <a:ext cx="649717" cy="1686932"/>
          </a:xfrm>
          <a:prstGeom prst="line">
            <a:avLst/>
          </a:prstGeom>
          <a:noFill/>
          <a:ln w="13970">
            <a:solidFill>
              <a:srgbClr val="0891B2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628125" y="3324709"/>
            <a:ext cx="349848" cy="745867"/>
          </a:xfrm>
          <a:prstGeom prst="line">
            <a:avLst/>
          </a:prstGeom>
          <a:noFill/>
          <a:ln w="13970">
            <a:solidFill>
              <a:srgbClr val="0891B2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977973" y="3053518"/>
            <a:ext cx="299869" cy="1017059"/>
          </a:xfrm>
          <a:prstGeom prst="line">
            <a:avLst/>
          </a:prstGeom>
          <a:noFill/>
          <a:ln w="13970">
            <a:solidFill>
              <a:srgbClr val="0891B2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277842" y="2033442"/>
            <a:ext cx="649717" cy="1020076"/>
          </a:xfrm>
          <a:prstGeom prst="line">
            <a:avLst/>
          </a:prstGeom>
          <a:noFill/>
          <a:ln w="13970">
            <a:solidFill>
              <a:srgbClr val="0891B2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927559" y="2033442"/>
            <a:ext cx="649717" cy="488094"/>
          </a:xfrm>
          <a:prstGeom prst="line">
            <a:avLst/>
          </a:prstGeom>
          <a:noFill/>
          <a:ln w="13970">
            <a:solidFill>
              <a:srgbClr val="0891B2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3577276" y="1841788"/>
            <a:ext cx="2598868" cy="679747"/>
          </a:xfrm>
          <a:prstGeom prst="line">
            <a:avLst/>
          </a:prstGeom>
          <a:noFill/>
          <a:ln w="13970">
            <a:solidFill>
              <a:srgbClr val="0891B2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176144" y="1841788"/>
            <a:ext cx="999565" cy="1593115"/>
          </a:xfrm>
          <a:prstGeom prst="line">
            <a:avLst/>
          </a:prstGeom>
          <a:noFill/>
          <a:ln w="13970">
            <a:solidFill>
              <a:srgbClr val="0891B2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175709" y="3434903"/>
            <a:ext cx="1999129" cy="1032852"/>
          </a:xfrm>
          <a:prstGeom prst="line">
            <a:avLst/>
          </a:prstGeom>
          <a:noFill/>
          <a:ln w="13970">
            <a:solidFill>
              <a:srgbClr val="0891B2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9174839" y="4467755"/>
            <a:ext cx="1999129" cy="126515"/>
          </a:xfrm>
          <a:prstGeom prst="line">
            <a:avLst/>
          </a:prstGeom>
          <a:noFill/>
          <a:ln w="13970">
            <a:solidFill>
              <a:srgbClr val="0891B2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946404" y="4979638"/>
            <a:ext cx="64008" cy="64008"/>
          </a:xfrm>
          <a:prstGeom prst="ellipse">
            <a:avLst/>
          </a:prstGeom>
          <a:solidFill>
            <a:srgbClr val="0891B2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2895555" y="2001438"/>
            <a:ext cx="64008" cy="64008"/>
          </a:xfrm>
          <a:prstGeom prst="ellipse">
            <a:avLst/>
          </a:prstGeom>
          <a:solidFill>
            <a:srgbClr val="0891B2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6144140" y="1809784"/>
            <a:ext cx="64008" cy="64008"/>
          </a:xfrm>
          <a:prstGeom prst="ellipse">
            <a:avLst/>
          </a:prstGeom>
          <a:solidFill>
            <a:srgbClr val="0891B2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1141964" y="4562266"/>
            <a:ext cx="64008" cy="64008"/>
          </a:xfrm>
          <a:prstGeom prst="ellipse">
            <a:avLst/>
          </a:prstGeom>
          <a:solidFill>
            <a:srgbClr val="0891B2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978408" y="4830539"/>
            <a:ext cx="649717" cy="77656"/>
          </a:xfrm>
          <a:prstGeom prst="line">
            <a:avLst/>
          </a:prstGeom>
          <a:noFill/>
          <a:ln w="13970">
            <a:solidFill>
              <a:srgbClr val="DC2626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628125" y="4729428"/>
            <a:ext cx="349848" cy="101111"/>
          </a:xfrm>
          <a:prstGeom prst="line">
            <a:avLst/>
          </a:prstGeom>
          <a:noFill/>
          <a:ln w="13970">
            <a:solidFill>
              <a:srgbClr val="DC2626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977973" y="4729428"/>
            <a:ext cx="299869" cy="267816"/>
          </a:xfrm>
          <a:prstGeom prst="line">
            <a:avLst/>
          </a:prstGeom>
          <a:noFill/>
          <a:ln w="13970">
            <a:solidFill>
              <a:srgbClr val="DC2626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2277842" y="4886010"/>
            <a:ext cx="649717" cy="111234"/>
          </a:xfrm>
          <a:prstGeom prst="line">
            <a:avLst/>
          </a:prstGeom>
          <a:noFill/>
          <a:ln w="13970">
            <a:solidFill>
              <a:srgbClr val="DC2626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2927559" y="4886010"/>
            <a:ext cx="649717" cy="127032"/>
          </a:xfrm>
          <a:prstGeom prst="line">
            <a:avLst/>
          </a:prstGeom>
          <a:noFill/>
          <a:ln w="13970">
            <a:solidFill>
              <a:srgbClr val="DC2626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577276" y="4953818"/>
            <a:ext cx="2598868" cy="59224"/>
          </a:xfrm>
          <a:prstGeom prst="line">
            <a:avLst/>
          </a:prstGeom>
          <a:noFill/>
          <a:ln w="13970">
            <a:solidFill>
              <a:srgbClr val="DC2626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6176144" y="4953818"/>
            <a:ext cx="999565" cy="37278"/>
          </a:xfrm>
          <a:prstGeom prst="line">
            <a:avLst/>
          </a:prstGeom>
          <a:noFill/>
          <a:ln w="13970">
            <a:solidFill>
              <a:srgbClr val="DC2626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7175709" y="4991096"/>
            <a:ext cx="1999129" cy="44504"/>
          </a:xfrm>
          <a:prstGeom prst="line">
            <a:avLst/>
          </a:prstGeom>
          <a:noFill/>
          <a:ln w="13970">
            <a:solidFill>
              <a:srgbClr val="DC2626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9174839" y="2478411"/>
            <a:ext cx="1999129" cy="2557189"/>
          </a:xfrm>
          <a:prstGeom prst="line">
            <a:avLst/>
          </a:prstGeom>
          <a:noFill/>
          <a:ln w="13970">
            <a:solidFill>
              <a:srgbClr val="DC2626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946404" y="4876191"/>
            <a:ext cx="64008" cy="64008"/>
          </a:xfrm>
          <a:prstGeom prst="ellipse">
            <a:avLst/>
          </a:prstGeom>
          <a:solidFill>
            <a:srgbClr val="DC2626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1945969" y="4697424"/>
            <a:ext cx="64008" cy="64008"/>
          </a:xfrm>
          <a:prstGeom prst="ellipse">
            <a:avLst/>
          </a:prstGeom>
          <a:solidFill>
            <a:srgbClr val="DC2626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11141964" y="2446408"/>
            <a:ext cx="64008" cy="64008"/>
          </a:xfrm>
          <a:prstGeom prst="ellipse">
            <a:avLst/>
          </a:prstGeom>
          <a:solidFill>
            <a:srgbClr val="DC2626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1024128" y="5550408"/>
            <a:ext cx="109728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1170432" y="5536692"/>
            <a:ext cx="685800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90" dirty="0">
                <a:solidFill>
                  <a:srgbClr val="687384"/>
                </a:solidFill>
              </a:rPr>
              <a:t>0624A04</a:t>
            </a:r>
            <a:endParaRPr lang="en-US" sz="690" dirty="0"/>
          </a:p>
        </p:txBody>
      </p:sp>
      <p:sp>
        <p:nvSpPr>
          <p:cNvPr id="103" name="Shape 101"/>
          <p:cNvSpPr/>
          <p:nvPr/>
        </p:nvSpPr>
        <p:spPr>
          <a:xfrm>
            <a:off x="1938528" y="5550408"/>
            <a:ext cx="109728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2084832" y="5536692"/>
            <a:ext cx="685800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90" dirty="0">
                <a:solidFill>
                  <a:srgbClr val="687384"/>
                </a:solidFill>
              </a:rPr>
              <a:t>1217A05</a:t>
            </a:r>
            <a:endParaRPr lang="en-US" sz="690" dirty="0"/>
          </a:p>
        </p:txBody>
      </p:sp>
      <p:sp>
        <p:nvSpPr>
          <p:cNvPr id="105" name="Shape 103"/>
          <p:cNvSpPr/>
          <p:nvPr/>
        </p:nvSpPr>
        <p:spPr>
          <a:xfrm>
            <a:off x="2852928" y="5550408"/>
            <a:ext cx="109728" cy="640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2999232" y="5536692"/>
            <a:ext cx="685800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90" dirty="0">
                <a:solidFill>
                  <a:srgbClr val="687384"/>
                </a:solidFill>
              </a:rPr>
              <a:t>0311A04</a:t>
            </a:r>
            <a:endParaRPr lang="en-US" sz="690" dirty="0"/>
          </a:p>
        </p:txBody>
      </p:sp>
      <p:sp>
        <p:nvSpPr>
          <p:cNvPr id="107" name="Shape 105"/>
          <p:cNvSpPr/>
          <p:nvPr/>
        </p:nvSpPr>
        <p:spPr>
          <a:xfrm>
            <a:off x="3767328" y="5550408"/>
            <a:ext cx="109728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3913632" y="5536692"/>
            <a:ext cx="685800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90" dirty="0">
                <a:solidFill>
                  <a:srgbClr val="687384"/>
                </a:solidFill>
              </a:rPr>
              <a:t>0624A01</a:t>
            </a:r>
            <a:endParaRPr lang="en-US" sz="690" dirty="0"/>
          </a:p>
        </p:txBody>
      </p:sp>
      <p:sp>
        <p:nvSpPr>
          <p:cNvPr id="109" name="Shape 107"/>
          <p:cNvSpPr/>
          <p:nvPr/>
        </p:nvSpPr>
        <p:spPr>
          <a:xfrm>
            <a:off x="4681728" y="5550408"/>
            <a:ext cx="109728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4828032" y="5536692"/>
            <a:ext cx="685800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90" dirty="0">
                <a:solidFill>
                  <a:srgbClr val="687384"/>
                </a:solidFill>
              </a:rPr>
              <a:t>0624A05</a:t>
            </a:r>
            <a:endParaRPr lang="en-US" sz="690" dirty="0"/>
          </a:p>
        </p:txBody>
      </p:sp>
      <p:sp>
        <p:nvSpPr>
          <p:cNvPr id="111" name="Shape 109"/>
          <p:cNvSpPr/>
          <p:nvPr/>
        </p:nvSpPr>
        <p:spPr>
          <a:xfrm>
            <a:off x="713232" y="5715000"/>
            <a:ext cx="1097280" cy="292608"/>
          </a:xfrm>
          <a:prstGeom prst="rect">
            <a:avLst/>
          </a:prstGeom>
          <a:solidFill>
            <a:srgbClr val="2168D3"/>
          </a:solidFill>
          <a:ln w="6350">
            <a:solidFill>
              <a:srgbClr val="2168D3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749808" y="5769864"/>
            <a:ext cx="1024128" cy="21945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70" b="1" dirty="0">
                <a:solidFill>
                  <a:srgbClr val="FFFFFF"/>
                </a:solidFill>
              </a:rPr>
              <a:t>Unit</a:t>
            </a:r>
            <a:endParaRPr lang="en-US" sz="770" dirty="0"/>
          </a:p>
        </p:txBody>
      </p:sp>
      <p:sp>
        <p:nvSpPr>
          <p:cNvPr id="113" name="Shape 111"/>
          <p:cNvSpPr/>
          <p:nvPr/>
        </p:nvSpPr>
        <p:spPr>
          <a:xfrm>
            <a:off x="1810512" y="5715000"/>
            <a:ext cx="1463040" cy="292608"/>
          </a:xfrm>
          <a:prstGeom prst="rect">
            <a:avLst/>
          </a:prstGeom>
          <a:solidFill>
            <a:srgbClr val="2168D3"/>
          </a:solidFill>
          <a:ln w="6350">
            <a:solidFill>
              <a:srgbClr val="2168D3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1847088" y="5769864"/>
            <a:ext cx="1389888" cy="21945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70" b="1" dirty="0">
                <a:solidFill>
                  <a:srgbClr val="FFFFFF"/>
                </a:solidFill>
              </a:rPr>
              <a:t>Latest CV</a:t>
            </a:r>
            <a:endParaRPr lang="en-US" sz="770" dirty="0"/>
          </a:p>
        </p:txBody>
      </p:sp>
      <p:sp>
        <p:nvSpPr>
          <p:cNvPr id="115" name="Shape 113"/>
          <p:cNvSpPr/>
          <p:nvPr/>
        </p:nvSpPr>
        <p:spPr>
          <a:xfrm>
            <a:off x="3273552" y="5715000"/>
            <a:ext cx="2194560" cy="292608"/>
          </a:xfrm>
          <a:prstGeom prst="rect">
            <a:avLst/>
          </a:prstGeom>
          <a:solidFill>
            <a:srgbClr val="2168D3"/>
          </a:solidFill>
          <a:ln w="6350">
            <a:solidFill>
              <a:srgbClr val="2168D3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3310128" y="5769864"/>
            <a:ext cx="2121408" cy="21945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70" b="1" dirty="0">
                <a:solidFill>
                  <a:srgbClr val="FFFFFF"/>
                </a:solidFill>
              </a:rPr>
              <a:t>Max CV point</a:t>
            </a:r>
            <a:endParaRPr lang="en-US" sz="770" dirty="0"/>
          </a:p>
        </p:txBody>
      </p:sp>
      <p:sp>
        <p:nvSpPr>
          <p:cNvPr id="117" name="Shape 115"/>
          <p:cNvSpPr/>
          <p:nvPr/>
        </p:nvSpPr>
        <p:spPr>
          <a:xfrm>
            <a:off x="5468112" y="5715000"/>
            <a:ext cx="1188720" cy="292608"/>
          </a:xfrm>
          <a:prstGeom prst="rect">
            <a:avLst/>
          </a:prstGeom>
          <a:solidFill>
            <a:srgbClr val="2168D3"/>
          </a:solidFill>
          <a:ln w="6350">
            <a:solidFill>
              <a:srgbClr val="2168D3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5504688" y="5769864"/>
            <a:ext cx="1115568" cy="21945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70" b="1" dirty="0">
                <a:solidFill>
                  <a:srgbClr val="FFFFFF"/>
                </a:solidFill>
              </a:rPr>
              <a:t>N</a:t>
            </a:r>
            <a:endParaRPr lang="en-US" sz="770" dirty="0"/>
          </a:p>
        </p:txBody>
      </p:sp>
      <p:sp>
        <p:nvSpPr>
          <p:cNvPr id="119" name="Shape 117"/>
          <p:cNvSpPr/>
          <p:nvPr/>
        </p:nvSpPr>
        <p:spPr>
          <a:xfrm>
            <a:off x="713232" y="6007608"/>
            <a:ext cx="1097280" cy="292608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749808" y="6057900"/>
            <a:ext cx="1024128" cy="21945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2F3437"/>
                </a:solidFill>
              </a:rPr>
              <a:t>0624A04</a:t>
            </a:r>
            <a:endParaRPr lang="en-US" sz="750" dirty="0"/>
          </a:p>
        </p:txBody>
      </p:sp>
      <p:sp>
        <p:nvSpPr>
          <p:cNvPr id="121" name="Shape 119"/>
          <p:cNvSpPr/>
          <p:nvPr/>
        </p:nvSpPr>
        <p:spPr>
          <a:xfrm>
            <a:off x="1810512" y="6007608"/>
            <a:ext cx="1463040" cy="292608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1847088" y="6057900"/>
            <a:ext cx="1389888" cy="21945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2F3437"/>
                </a:solidFill>
              </a:rPr>
              <a:t>4.379</a:t>
            </a:r>
            <a:endParaRPr lang="en-US" sz="750" dirty="0"/>
          </a:p>
        </p:txBody>
      </p:sp>
      <p:sp>
        <p:nvSpPr>
          <p:cNvPr id="123" name="Shape 121"/>
          <p:cNvSpPr/>
          <p:nvPr/>
        </p:nvSpPr>
        <p:spPr>
          <a:xfrm>
            <a:off x="3273552" y="6007608"/>
            <a:ext cx="2194560" cy="292608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3310128" y="6057900"/>
            <a:ext cx="2121408" cy="21945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2F3437"/>
                </a:solidFill>
              </a:rPr>
              <a:t>520k / 5.642</a:t>
            </a:r>
            <a:endParaRPr lang="en-US" sz="750" dirty="0"/>
          </a:p>
        </p:txBody>
      </p:sp>
      <p:sp>
        <p:nvSpPr>
          <p:cNvPr id="125" name="Shape 123"/>
          <p:cNvSpPr/>
          <p:nvPr/>
        </p:nvSpPr>
        <p:spPr>
          <a:xfrm>
            <a:off x="5468112" y="6007608"/>
            <a:ext cx="1188720" cy="292608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5504688" y="6057900"/>
            <a:ext cx="1115568" cy="21945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2F3437"/>
                </a:solidFill>
              </a:rPr>
              <a:t>10</a:t>
            </a:r>
            <a:endParaRPr lang="en-US" sz="750" dirty="0"/>
          </a:p>
        </p:txBody>
      </p:sp>
      <p:sp>
        <p:nvSpPr>
          <p:cNvPr id="127" name="Shape 125"/>
          <p:cNvSpPr/>
          <p:nvPr/>
        </p:nvSpPr>
        <p:spPr>
          <a:xfrm>
            <a:off x="713232" y="6300216"/>
            <a:ext cx="1097280" cy="292608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749808" y="6350508"/>
            <a:ext cx="1024128" cy="21945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2F3437"/>
                </a:solidFill>
              </a:rPr>
              <a:t>1217A05</a:t>
            </a:r>
            <a:endParaRPr lang="en-US" sz="750" dirty="0"/>
          </a:p>
        </p:txBody>
      </p:sp>
      <p:sp>
        <p:nvSpPr>
          <p:cNvPr id="129" name="Shape 127"/>
          <p:cNvSpPr/>
          <p:nvPr/>
        </p:nvSpPr>
        <p:spPr>
          <a:xfrm>
            <a:off x="1810512" y="6300216"/>
            <a:ext cx="1463040" cy="292608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1847088" y="6350508"/>
            <a:ext cx="1389888" cy="21945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2F3437"/>
                </a:solidFill>
              </a:rPr>
              <a:t>1.487</a:t>
            </a:r>
            <a:endParaRPr lang="en-US" sz="750" dirty="0"/>
          </a:p>
        </p:txBody>
      </p:sp>
      <p:sp>
        <p:nvSpPr>
          <p:cNvPr id="131" name="Shape 129"/>
          <p:cNvSpPr/>
          <p:nvPr/>
        </p:nvSpPr>
        <p:spPr>
          <a:xfrm>
            <a:off x="3273552" y="6300216"/>
            <a:ext cx="2194560" cy="292608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3310128" y="6350508"/>
            <a:ext cx="2121408" cy="21945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2F3437"/>
                </a:solidFill>
              </a:rPr>
              <a:t>520k / 6.195</a:t>
            </a:r>
            <a:endParaRPr lang="en-US" sz="750" dirty="0"/>
          </a:p>
        </p:txBody>
      </p:sp>
      <p:sp>
        <p:nvSpPr>
          <p:cNvPr id="133" name="Shape 131"/>
          <p:cNvSpPr/>
          <p:nvPr/>
        </p:nvSpPr>
        <p:spPr>
          <a:xfrm>
            <a:off x="5468112" y="6300216"/>
            <a:ext cx="1188720" cy="292608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5504688" y="6350508"/>
            <a:ext cx="1115568" cy="21945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2F3437"/>
                </a:solidFill>
              </a:rPr>
              <a:t>10</a:t>
            </a:r>
            <a:endParaRPr lang="en-US" sz="750" dirty="0"/>
          </a:p>
        </p:txBody>
      </p:sp>
      <p:sp>
        <p:nvSpPr>
          <p:cNvPr id="135" name="Shape 133"/>
          <p:cNvSpPr/>
          <p:nvPr/>
        </p:nvSpPr>
        <p:spPr>
          <a:xfrm>
            <a:off x="713232" y="6592824"/>
            <a:ext cx="1097280" cy="292608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749808" y="6643116"/>
            <a:ext cx="1024128" cy="21945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2F3437"/>
                </a:solidFill>
              </a:rPr>
              <a:t>0311A04</a:t>
            </a:r>
            <a:endParaRPr lang="en-US" sz="750" dirty="0"/>
          </a:p>
        </p:txBody>
      </p:sp>
      <p:sp>
        <p:nvSpPr>
          <p:cNvPr id="137" name="Shape 135"/>
          <p:cNvSpPr/>
          <p:nvPr/>
        </p:nvSpPr>
        <p:spPr>
          <a:xfrm>
            <a:off x="1810512" y="6592824"/>
            <a:ext cx="1463040" cy="292608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1847088" y="6643116"/>
            <a:ext cx="1389888" cy="21945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2F3437"/>
                </a:solidFill>
              </a:rPr>
              <a:t>0.677</a:t>
            </a:r>
            <a:endParaRPr lang="en-US" sz="750" dirty="0"/>
          </a:p>
        </p:txBody>
      </p:sp>
      <p:sp>
        <p:nvSpPr>
          <p:cNvPr id="139" name="Shape 137"/>
          <p:cNvSpPr/>
          <p:nvPr/>
        </p:nvSpPr>
        <p:spPr>
          <a:xfrm>
            <a:off x="3273552" y="6592824"/>
            <a:ext cx="2194560" cy="292608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3310128" y="6643116"/>
            <a:ext cx="2121408" cy="21945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2F3437"/>
                </a:solidFill>
              </a:rPr>
              <a:t>0 / 1.957</a:t>
            </a:r>
            <a:endParaRPr lang="en-US" sz="750" dirty="0"/>
          </a:p>
        </p:txBody>
      </p:sp>
      <p:sp>
        <p:nvSpPr>
          <p:cNvPr id="141" name="Shape 139"/>
          <p:cNvSpPr/>
          <p:nvPr/>
        </p:nvSpPr>
        <p:spPr>
          <a:xfrm>
            <a:off x="5468112" y="6592824"/>
            <a:ext cx="1188720" cy="292608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5504688" y="6643116"/>
            <a:ext cx="1115568" cy="21945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2F3437"/>
                </a:solidFill>
              </a:rPr>
              <a:t>10</a:t>
            </a:r>
            <a:endParaRPr lang="en-US" sz="750" dirty="0"/>
          </a:p>
        </p:txBody>
      </p:sp>
      <p:sp>
        <p:nvSpPr>
          <p:cNvPr id="143" name="Shape 141"/>
          <p:cNvSpPr/>
          <p:nvPr/>
        </p:nvSpPr>
        <p:spPr>
          <a:xfrm>
            <a:off x="713232" y="6885432"/>
            <a:ext cx="1097280" cy="292608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749808" y="6935724"/>
            <a:ext cx="1024128" cy="21945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2F3437"/>
                </a:solidFill>
              </a:rPr>
              <a:t>0624A01</a:t>
            </a:r>
            <a:endParaRPr lang="en-US" sz="750" dirty="0"/>
          </a:p>
        </p:txBody>
      </p:sp>
      <p:sp>
        <p:nvSpPr>
          <p:cNvPr id="145" name="Shape 143"/>
          <p:cNvSpPr/>
          <p:nvPr/>
        </p:nvSpPr>
        <p:spPr>
          <a:xfrm>
            <a:off x="1810512" y="6885432"/>
            <a:ext cx="1463040" cy="292608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1847088" y="6935724"/>
            <a:ext cx="1389888" cy="21945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2F3437"/>
                </a:solidFill>
              </a:rPr>
              <a:t>1.633</a:t>
            </a:r>
            <a:endParaRPr lang="en-US" sz="750" dirty="0"/>
          </a:p>
        </p:txBody>
      </p:sp>
      <p:sp>
        <p:nvSpPr>
          <p:cNvPr id="147" name="Shape 145"/>
          <p:cNvSpPr/>
          <p:nvPr/>
        </p:nvSpPr>
        <p:spPr>
          <a:xfrm>
            <a:off x="3273552" y="6885432"/>
            <a:ext cx="2194560" cy="292608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3310128" y="6935724"/>
            <a:ext cx="2121408" cy="21945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2F3437"/>
                </a:solidFill>
              </a:rPr>
              <a:t>520k / 8.406</a:t>
            </a:r>
            <a:endParaRPr lang="en-US" sz="750" dirty="0"/>
          </a:p>
        </p:txBody>
      </p:sp>
      <p:sp>
        <p:nvSpPr>
          <p:cNvPr id="149" name="Shape 147"/>
          <p:cNvSpPr/>
          <p:nvPr/>
        </p:nvSpPr>
        <p:spPr>
          <a:xfrm>
            <a:off x="5468112" y="6885432"/>
            <a:ext cx="1188720" cy="292608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5504688" y="6935724"/>
            <a:ext cx="1115568" cy="21945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2F3437"/>
                </a:solidFill>
              </a:rPr>
              <a:t>10</a:t>
            </a:r>
            <a:endParaRPr lang="en-US" sz="750" dirty="0"/>
          </a:p>
        </p:txBody>
      </p:sp>
      <p:sp>
        <p:nvSpPr>
          <p:cNvPr id="151" name="Shape 149"/>
          <p:cNvSpPr/>
          <p:nvPr/>
        </p:nvSpPr>
        <p:spPr>
          <a:xfrm>
            <a:off x="713232" y="7178040"/>
            <a:ext cx="1097280" cy="292608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749808" y="7228332"/>
            <a:ext cx="1024128" cy="21945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2F3437"/>
                </a:solidFill>
              </a:rPr>
              <a:t>0624A05</a:t>
            </a:r>
            <a:endParaRPr lang="en-US" sz="750" dirty="0"/>
          </a:p>
        </p:txBody>
      </p:sp>
      <p:sp>
        <p:nvSpPr>
          <p:cNvPr id="153" name="Shape 151"/>
          <p:cNvSpPr/>
          <p:nvPr/>
        </p:nvSpPr>
        <p:spPr>
          <a:xfrm>
            <a:off x="1810512" y="7178040"/>
            <a:ext cx="1463040" cy="292608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1847088" y="7228332"/>
            <a:ext cx="1389888" cy="21945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2F3437"/>
                </a:solidFill>
              </a:rPr>
              <a:t>6.839</a:t>
            </a:r>
            <a:endParaRPr lang="en-US" sz="750" dirty="0"/>
          </a:p>
        </p:txBody>
      </p:sp>
      <p:sp>
        <p:nvSpPr>
          <p:cNvPr id="155" name="Shape 153"/>
          <p:cNvSpPr/>
          <p:nvPr/>
        </p:nvSpPr>
        <p:spPr>
          <a:xfrm>
            <a:off x="3273552" y="7178040"/>
            <a:ext cx="2194560" cy="292608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3310128" y="7228332"/>
            <a:ext cx="2121408" cy="21945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2F3437"/>
                </a:solidFill>
              </a:rPr>
              <a:t>1020k / 6.839</a:t>
            </a:r>
            <a:endParaRPr lang="en-US" sz="750" dirty="0"/>
          </a:p>
        </p:txBody>
      </p:sp>
      <p:sp>
        <p:nvSpPr>
          <p:cNvPr id="157" name="Shape 155"/>
          <p:cNvSpPr/>
          <p:nvPr/>
        </p:nvSpPr>
        <p:spPr>
          <a:xfrm>
            <a:off x="5468112" y="7178040"/>
            <a:ext cx="1188720" cy="292608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5504688" y="7228332"/>
            <a:ext cx="1115568" cy="21945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2F3437"/>
                </a:solidFill>
              </a:rPr>
              <a:t>10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83464"/>
            <a:ext cx="932688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50" b="1" dirty="0">
                <a:solidFill>
                  <a:srgbClr val="2168D3"/>
                </a:solidFill>
              </a:rPr>
              <a:t>4. Worst-channel CV：通道级异常峰值定位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502920" y="667512"/>
            <a:ext cx="1028700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87384"/>
                </a:solidFill>
              </a:rPr>
              <a:t>Worst-channel CV 能帮助识别局部密封/吸液不稳定，而不是只看总体 CV。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104120" y="310896"/>
            <a:ext cx="14173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2168D3"/>
                </a:solidFill>
              </a:rPr>
              <a:t>Opentrons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960120"/>
            <a:ext cx="1083564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47104"/>
            <a:ext cx="475488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87384"/>
                </a:solidFill>
              </a:rPr>
              <a:t>P1000H O-ring Data Analysis | 2026-06-04 | 5/13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566928" y="1133856"/>
            <a:ext cx="10835640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70" b="1" dirty="0">
                <a:solidFill>
                  <a:srgbClr val="2F3437"/>
                </a:solidFill>
              </a:rPr>
              <a:t>Worst-channel CV by cycle</a:t>
            </a:r>
            <a:endParaRPr lang="en-US" sz="1270" dirty="0"/>
          </a:p>
        </p:txBody>
      </p:sp>
      <p:sp>
        <p:nvSpPr>
          <p:cNvPr id="8" name="Shape 6"/>
          <p:cNvSpPr/>
          <p:nvPr/>
        </p:nvSpPr>
        <p:spPr>
          <a:xfrm>
            <a:off x="978408" y="5257800"/>
            <a:ext cx="10195560" cy="0"/>
          </a:xfrm>
          <a:prstGeom prst="line">
            <a:avLst/>
          </a:prstGeom>
          <a:noFill/>
          <a:ln w="5715">
            <a:solidFill>
              <a:srgbClr val="D9E2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5198364"/>
            <a:ext cx="228600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87384"/>
                </a:solidFill>
              </a:rPr>
              <a:t>0</a:t>
            </a:r>
            <a:endParaRPr lang="en-US" sz="650" dirty="0"/>
          </a:p>
        </p:txBody>
      </p:sp>
      <p:sp>
        <p:nvSpPr>
          <p:cNvPr id="10" name="Shape 8"/>
          <p:cNvSpPr/>
          <p:nvPr/>
        </p:nvSpPr>
        <p:spPr>
          <a:xfrm>
            <a:off x="978408" y="4735286"/>
            <a:ext cx="10195560" cy="0"/>
          </a:xfrm>
          <a:prstGeom prst="line">
            <a:avLst/>
          </a:prstGeom>
          <a:noFill/>
          <a:ln w="5715">
            <a:solidFill>
              <a:srgbClr val="D9E2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4675850"/>
            <a:ext cx="228600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87384"/>
                </a:solidFill>
              </a:rPr>
              <a:t>2</a:t>
            </a:r>
            <a:endParaRPr lang="en-US" sz="650" dirty="0"/>
          </a:p>
        </p:txBody>
      </p:sp>
      <p:sp>
        <p:nvSpPr>
          <p:cNvPr id="12" name="Shape 10"/>
          <p:cNvSpPr/>
          <p:nvPr/>
        </p:nvSpPr>
        <p:spPr>
          <a:xfrm>
            <a:off x="978408" y="4212771"/>
            <a:ext cx="10195560" cy="0"/>
          </a:xfrm>
          <a:prstGeom prst="line">
            <a:avLst/>
          </a:prstGeom>
          <a:noFill/>
          <a:ln w="5715">
            <a:solidFill>
              <a:srgbClr val="D9E2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153335"/>
            <a:ext cx="228600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87384"/>
                </a:solidFill>
              </a:rPr>
              <a:t>4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978408" y="3690257"/>
            <a:ext cx="10195560" cy="0"/>
          </a:xfrm>
          <a:prstGeom prst="line">
            <a:avLst/>
          </a:prstGeom>
          <a:noFill/>
          <a:ln w="5715">
            <a:solidFill>
              <a:srgbClr val="D9E2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630821"/>
            <a:ext cx="228600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87384"/>
                </a:solidFill>
              </a:rPr>
              <a:t>6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978408" y="3167743"/>
            <a:ext cx="10195560" cy="0"/>
          </a:xfrm>
          <a:prstGeom prst="line">
            <a:avLst/>
          </a:prstGeom>
          <a:noFill/>
          <a:ln w="5715">
            <a:solidFill>
              <a:srgbClr val="D9E2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108307"/>
            <a:ext cx="228600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87384"/>
                </a:solidFill>
              </a:rPr>
              <a:t>8</a:t>
            </a:r>
            <a:endParaRPr lang="en-US" sz="650" dirty="0"/>
          </a:p>
        </p:txBody>
      </p:sp>
      <p:sp>
        <p:nvSpPr>
          <p:cNvPr id="18" name="Shape 16"/>
          <p:cNvSpPr/>
          <p:nvPr/>
        </p:nvSpPr>
        <p:spPr>
          <a:xfrm>
            <a:off x="978408" y="2645229"/>
            <a:ext cx="10195560" cy="0"/>
          </a:xfrm>
          <a:prstGeom prst="line">
            <a:avLst/>
          </a:prstGeom>
          <a:noFill/>
          <a:ln w="5715">
            <a:solidFill>
              <a:srgbClr val="D9E2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2585793"/>
            <a:ext cx="228600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87384"/>
                </a:solidFill>
              </a:rPr>
              <a:t>10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978408" y="2122714"/>
            <a:ext cx="10195560" cy="0"/>
          </a:xfrm>
          <a:prstGeom prst="line">
            <a:avLst/>
          </a:prstGeom>
          <a:noFill/>
          <a:ln w="5715">
            <a:solidFill>
              <a:srgbClr val="D9E2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2063278"/>
            <a:ext cx="228600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87384"/>
                </a:solidFill>
              </a:rPr>
              <a:t>12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978408" y="1600200"/>
            <a:ext cx="10195560" cy="0"/>
          </a:xfrm>
          <a:prstGeom prst="line">
            <a:avLst/>
          </a:prstGeom>
          <a:noFill/>
          <a:ln w="5715">
            <a:solidFill>
              <a:srgbClr val="D9E2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1540764"/>
            <a:ext cx="228600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87384"/>
                </a:solidFill>
              </a:rPr>
              <a:t>14</a:t>
            </a:r>
            <a:endParaRPr lang="en-US" sz="650" dirty="0"/>
          </a:p>
        </p:txBody>
      </p:sp>
      <p:sp>
        <p:nvSpPr>
          <p:cNvPr id="24" name="Shape 22"/>
          <p:cNvSpPr/>
          <p:nvPr/>
        </p:nvSpPr>
        <p:spPr>
          <a:xfrm>
            <a:off x="978408" y="5257800"/>
            <a:ext cx="0" cy="45720"/>
          </a:xfrm>
          <a:prstGeom prst="line">
            <a:avLst/>
          </a:prstGeom>
          <a:noFill/>
          <a:ln w="5715">
            <a:solidFill>
              <a:srgbClr val="68738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2104" y="5340096"/>
            <a:ext cx="310896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687384"/>
                </a:solidFill>
              </a:rPr>
              <a:t>0</a:t>
            </a:r>
            <a:endParaRPr lang="en-US" sz="650" dirty="0"/>
          </a:p>
        </p:txBody>
      </p:sp>
      <p:sp>
        <p:nvSpPr>
          <p:cNvPr id="26" name="Shape 24"/>
          <p:cNvSpPr/>
          <p:nvPr/>
        </p:nvSpPr>
        <p:spPr>
          <a:xfrm>
            <a:off x="3577276" y="5257800"/>
            <a:ext cx="0" cy="45720"/>
          </a:xfrm>
          <a:prstGeom prst="line">
            <a:avLst/>
          </a:prstGeom>
          <a:noFill/>
          <a:ln w="5715">
            <a:solidFill>
              <a:srgbClr val="68738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30972" y="5340096"/>
            <a:ext cx="310896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687384"/>
                </a:solidFill>
              </a:rPr>
              <a:t>260k</a:t>
            </a: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6176144" y="5257800"/>
            <a:ext cx="0" cy="45720"/>
          </a:xfrm>
          <a:prstGeom prst="line">
            <a:avLst/>
          </a:prstGeom>
          <a:noFill/>
          <a:ln w="5715">
            <a:solidFill>
              <a:srgbClr val="68738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29840" y="5340096"/>
            <a:ext cx="310896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687384"/>
                </a:solidFill>
              </a:rPr>
              <a:t>520k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9174839" y="5257800"/>
            <a:ext cx="0" cy="45720"/>
          </a:xfrm>
          <a:prstGeom prst="line">
            <a:avLst/>
          </a:prstGeom>
          <a:noFill/>
          <a:ln w="5715">
            <a:solidFill>
              <a:srgbClr val="68738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028535" y="5340096"/>
            <a:ext cx="310896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687384"/>
                </a:solidFill>
              </a:rPr>
              <a:t>820k</a:t>
            </a:r>
            <a:endParaRPr lang="en-US" sz="650" dirty="0"/>
          </a:p>
        </p:txBody>
      </p:sp>
      <p:sp>
        <p:nvSpPr>
          <p:cNvPr id="32" name="Shape 30"/>
          <p:cNvSpPr/>
          <p:nvPr/>
        </p:nvSpPr>
        <p:spPr>
          <a:xfrm>
            <a:off x="11173968" y="5257800"/>
            <a:ext cx="0" cy="45720"/>
          </a:xfrm>
          <a:prstGeom prst="line">
            <a:avLst/>
          </a:prstGeom>
          <a:noFill/>
          <a:ln w="5715">
            <a:solidFill>
              <a:srgbClr val="68738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1027664" y="5340096"/>
            <a:ext cx="310896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687384"/>
                </a:solidFill>
              </a:rPr>
              <a:t>1020k</a:t>
            </a:r>
            <a:endParaRPr lang="en-US" sz="650" dirty="0"/>
          </a:p>
        </p:txBody>
      </p:sp>
      <p:sp>
        <p:nvSpPr>
          <p:cNvPr id="34" name="Shape 32"/>
          <p:cNvSpPr/>
          <p:nvPr/>
        </p:nvSpPr>
        <p:spPr>
          <a:xfrm>
            <a:off x="978408" y="4584607"/>
            <a:ext cx="649717" cy="352371"/>
          </a:xfrm>
          <a:prstGeom prst="line">
            <a:avLst/>
          </a:prstGeom>
          <a:noFill/>
          <a:ln w="13970">
            <a:solidFill>
              <a:srgbClr val="F59E0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628125" y="3206981"/>
            <a:ext cx="349848" cy="1377626"/>
          </a:xfrm>
          <a:prstGeom prst="line">
            <a:avLst/>
          </a:prstGeom>
          <a:noFill/>
          <a:ln w="13970">
            <a:solidFill>
              <a:srgbClr val="F59E0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977973" y="3206981"/>
            <a:ext cx="299869" cy="1698859"/>
          </a:xfrm>
          <a:prstGeom prst="line">
            <a:avLst/>
          </a:prstGeom>
          <a:noFill/>
          <a:ln w="13970">
            <a:solidFill>
              <a:srgbClr val="F59E0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277842" y="3158386"/>
            <a:ext cx="649717" cy="1747454"/>
          </a:xfrm>
          <a:prstGeom prst="line">
            <a:avLst/>
          </a:prstGeom>
          <a:noFill/>
          <a:ln w="13970">
            <a:solidFill>
              <a:srgbClr val="F59E0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927559" y="3158387"/>
            <a:ext cx="649717" cy="676113"/>
          </a:xfrm>
          <a:prstGeom prst="line">
            <a:avLst/>
          </a:prstGeom>
          <a:noFill/>
          <a:ln w="13970">
            <a:solidFill>
              <a:srgbClr val="F59E0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577276" y="2330582"/>
            <a:ext cx="2598868" cy="1503918"/>
          </a:xfrm>
          <a:prstGeom prst="line">
            <a:avLst/>
          </a:prstGeom>
          <a:noFill/>
          <a:ln w="13970">
            <a:solidFill>
              <a:srgbClr val="F59E0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176144" y="2330582"/>
            <a:ext cx="999565" cy="2514145"/>
          </a:xfrm>
          <a:prstGeom prst="line">
            <a:avLst/>
          </a:prstGeom>
          <a:noFill/>
          <a:ln w="13970">
            <a:solidFill>
              <a:srgbClr val="F59E0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175709" y="4844727"/>
            <a:ext cx="1999129" cy="122412"/>
          </a:xfrm>
          <a:prstGeom prst="line">
            <a:avLst/>
          </a:prstGeom>
          <a:noFill/>
          <a:ln w="13970">
            <a:solidFill>
              <a:srgbClr val="F59E0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174839" y="4843831"/>
            <a:ext cx="1999129" cy="123308"/>
          </a:xfrm>
          <a:prstGeom prst="line">
            <a:avLst/>
          </a:prstGeom>
          <a:noFill/>
          <a:ln w="13970">
            <a:solidFill>
              <a:srgbClr val="F59E0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46404" y="4904974"/>
            <a:ext cx="64008" cy="64008"/>
          </a:xfrm>
          <a:prstGeom prst="ellipse">
            <a:avLst/>
          </a:prstGeom>
          <a:solidFill>
            <a:srgbClr val="F59E0B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144140" y="2298578"/>
            <a:ext cx="64008" cy="64008"/>
          </a:xfrm>
          <a:prstGeom prst="ellipse">
            <a:avLst/>
          </a:prstGeom>
          <a:solidFill>
            <a:srgbClr val="F59E0B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1141964" y="4811827"/>
            <a:ext cx="64008" cy="64008"/>
          </a:xfrm>
          <a:prstGeom prst="ellipse">
            <a:avLst/>
          </a:prstGeom>
          <a:solidFill>
            <a:srgbClr val="F59E0B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78408" y="3939922"/>
            <a:ext cx="649717" cy="1075230"/>
          </a:xfrm>
          <a:prstGeom prst="line">
            <a:avLst/>
          </a:prstGeom>
          <a:noFill/>
          <a:ln w="13970">
            <a:solidFill>
              <a:srgbClr val="7C3AED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628125" y="3939922"/>
            <a:ext cx="349848" cy="819368"/>
          </a:xfrm>
          <a:prstGeom prst="line">
            <a:avLst/>
          </a:prstGeom>
          <a:noFill/>
          <a:ln w="13970">
            <a:solidFill>
              <a:srgbClr val="7C3AED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977973" y="4759290"/>
            <a:ext cx="299869" cy="155053"/>
          </a:xfrm>
          <a:prstGeom prst="line">
            <a:avLst/>
          </a:prstGeom>
          <a:noFill/>
          <a:ln w="13970">
            <a:solidFill>
              <a:srgbClr val="7C3AED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277842" y="4914343"/>
            <a:ext cx="649717" cy="57687"/>
          </a:xfrm>
          <a:prstGeom prst="line">
            <a:avLst/>
          </a:prstGeom>
          <a:noFill/>
          <a:ln w="13970">
            <a:solidFill>
              <a:srgbClr val="7C3AED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927559" y="4885735"/>
            <a:ext cx="649717" cy="86295"/>
          </a:xfrm>
          <a:prstGeom prst="line">
            <a:avLst/>
          </a:prstGeom>
          <a:noFill/>
          <a:ln w="13970">
            <a:solidFill>
              <a:srgbClr val="7C3AED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577276" y="3319477"/>
            <a:ext cx="2598868" cy="1566258"/>
          </a:xfrm>
          <a:prstGeom prst="line">
            <a:avLst/>
          </a:prstGeom>
          <a:noFill/>
          <a:ln w="13970">
            <a:solidFill>
              <a:srgbClr val="7C3AED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176144" y="3319477"/>
            <a:ext cx="999565" cy="1520434"/>
          </a:xfrm>
          <a:prstGeom prst="line">
            <a:avLst/>
          </a:prstGeom>
          <a:noFill/>
          <a:ln w="13970">
            <a:solidFill>
              <a:srgbClr val="7C3AED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175709" y="4646898"/>
            <a:ext cx="1999129" cy="193013"/>
          </a:xfrm>
          <a:prstGeom prst="line">
            <a:avLst/>
          </a:prstGeom>
          <a:noFill/>
          <a:ln w="13970">
            <a:solidFill>
              <a:srgbClr val="7C3AED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174839" y="4646897"/>
            <a:ext cx="1999129" cy="7871"/>
          </a:xfrm>
          <a:prstGeom prst="line">
            <a:avLst/>
          </a:prstGeom>
          <a:noFill/>
          <a:ln w="13970">
            <a:solidFill>
              <a:srgbClr val="7C3AED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46404" y="4983148"/>
            <a:ext cx="64008" cy="64008"/>
          </a:xfrm>
          <a:prstGeom prst="ellipse">
            <a:avLst/>
          </a:prstGeom>
          <a:solidFill>
            <a:srgbClr val="7C3AED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144140" y="3287473"/>
            <a:ext cx="64008" cy="64008"/>
          </a:xfrm>
          <a:prstGeom prst="ellipse">
            <a:avLst/>
          </a:prstGeom>
          <a:solidFill>
            <a:srgbClr val="7C3AED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1141964" y="4622764"/>
            <a:ext cx="64008" cy="64008"/>
          </a:xfrm>
          <a:prstGeom prst="ellipse">
            <a:avLst/>
          </a:prstGeom>
          <a:solidFill>
            <a:srgbClr val="7C3AED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78408" y="4604079"/>
            <a:ext cx="649717" cy="339031"/>
          </a:xfrm>
          <a:prstGeom prst="line">
            <a:avLst/>
          </a:prstGeom>
          <a:noFill/>
          <a:ln w="13970">
            <a:solidFill>
              <a:srgbClr val="16A34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628125" y="4687932"/>
            <a:ext cx="349848" cy="255178"/>
          </a:xfrm>
          <a:prstGeom prst="line">
            <a:avLst/>
          </a:prstGeom>
          <a:noFill/>
          <a:ln w="13970">
            <a:solidFill>
              <a:srgbClr val="16A34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977973" y="4687932"/>
            <a:ext cx="299869" cy="355813"/>
          </a:xfrm>
          <a:prstGeom prst="line">
            <a:avLst/>
          </a:prstGeom>
          <a:noFill/>
          <a:ln w="13970">
            <a:solidFill>
              <a:srgbClr val="16A34A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277842" y="4432765"/>
            <a:ext cx="649717" cy="610980"/>
          </a:xfrm>
          <a:prstGeom prst="line">
            <a:avLst/>
          </a:prstGeom>
          <a:noFill/>
          <a:ln w="13970">
            <a:solidFill>
              <a:srgbClr val="16A34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927559" y="4432765"/>
            <a:ext cx="649717" cy="561313"/>
          </a:xfrm>
          <a:prstGeom prst="line">
            <a:avLst/>
          </a:prstGeom>
          <a:noFill/>
          <a:ln w="13970">
            <a:solidFill>
              <a:srgbClr val="16A34A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577276" y="4900680"/>
            <a:ext cx="2598868" cy="93398"/>
          </a:xfrm>
          <a:prstGeom prst="line">
            <a:avLst/>
          </a:prstGeom>
          <a:noFill/>
          <a:ln w="13970">
            <a:solidFill>
              <a:srgbClr val="16A34A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176144" y="4866817"/>
            <a:ext cx="999565" cy="33863"/>
          </a:xfrm>
          <a:prstGeom prst="line">
            <a:avLst/>
          </a:prstGeom>
          <a:noFill/>
          <a:ln w="13970">
            <a:solidFill>
              <a:srgbClr val="16A34A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175709" y="4866817"/>
            <a:ext cx="1999129" cy="171257"/>
          </a:xfrm>
          <a:prstGeom prst="line">
            <a:avLst/>
          </a:prstGeom>
          <a:noFill/>
          <a:ln w="13970">
            <a:solidFill>
              <a:srgbClr val="16A34A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174839" y="4982917"/>
            <a:ext cx="1999129" cy="55157"/>
          </a:xfrm>
          <a:prstGeom prst="line">
            <a:avLst/>
          </a:prstGeom>
          <a:noFill/>
          <a:ln w="13970">
            <a:solidFill>
              <a:srgbClr val="16A34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946404" y="4572075"/>
            <a:ext cx="64008" cy="64008"/>
          </a:xfrm>
          <a:prstGeom prst="ellipse">
            <a:avLst/>
          </a:prstGeom>
          <a:solidFill>
            <a:srgbClr val="16A34A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895555" y="4400761"/>
            <a:ext cx="64008" cy="64008"/>
          </a:xfrm>
          <a:prstGeom prst="ellipse">
            <a:avLst/>
          </a:prstGeom>
          <a:solidFill>
            <a:srgbClr val="16A34A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1141964" y="4950913"/>
            <a:ext cx="64008" cy="64008"/>
          </a:xfrm>
          <a:prstGeom prst="ellipse">
            <a:avLst/>
          </a:prstGeom>
          <a:solidFill>
            <a:srgbClr val="16A34A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978408" y="3474877"/>
            <a:ext cx="649717" cy="1529872"/>
          </a:xfrm>
          <a:prstGeom prst="line">
            <a:avLst/>
          </a:prstGeom>
          <a:noFill/>
          <a:ln w="13970">
            <a:solidFill>
              <a:srgbClr val="0891B2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628125" y="3474877"/>
            <a:ext cx="349848" cy="560380"/>
          </a:xfrm>
          <a:prstGeom prst="line">
            <a:avLst/>
          </a:prstGeom>
          <a:noFill/>
          <a:ln w="13970">
            <a:solidFill>
              <a:srgbClr val="0891B2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977973" y="3623672"/>
            <a:ext cx="299869" cy="411585"/>
          </a:xfrm>
          <a:prstGeom prst="line">
            <a:avLst/>
          </a:prstGeom>
          <a:noFill/>
          <a:ln w="13970">
            <a:solidFill>
              <a:srgbClr val="0891B2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277842" y="1757862"/>
            <a:ext cx="649717" cy="1865810"/>
          </a:xfrm>
          <a:prstGeom prst="line">
            <a:avLst/>
          </a:prstGeom>
          <a:noFill/>
          <a:ln w="13970">
            <a:solidFill>
              <a:srgbClr val="0891B2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927559" y="1757862"/>
            <a:ext cx="649717" cy="1497821"/>
          </a:xfrm>
          <a:prstGeom prst="line">
            <a:avLst/>
          </a:prstGeom>
          <a:noFill/>
          <a:ln w="13970">
            <a:solidFill>
              <a:srgbClr val="0891B2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577276" y="2726567"/>
            <a:ext cx="2598868" cy="529116"/>
          </a:xfrm>
          <a:prstGeom prst="line">
            <a:avLst/>
          </a:prstGeom>
          <a:noFill/>
          <a:ln w="13970">
            <a:solidFill>
              <a:srgbClr val="0891B2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176144" y="2726566"/>
            <a:ext cx="999565" cy="988626"/>
          </a:xfrm>
          <a:prstGeom prst="line">
            <a:avLst/>
          </a:prstGeom>
          <a:noFill/>
          <a:ln w="13970">
            <a:solidFill>
              <a:srgbClr val="0891B2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7175709" y="3715192"/>
            <a:ext cx="1999129" cy="850691"/>
          </a:xfrm>
          <a:prstGeom prst="line">
            <a:avLst/>
          </a:prstGeom>
          <a:noFill/>
          <a:ln w="13970">
            <a:solidFill>
              <a:srgbClr val="0891B2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9174839" y="4461947"/>
            <a:ext cx="1999129" cy="103936"/>
          </a:xfrm>
          <a:prstGeom prst="line">
            <a:avLst/>
          </a:prstGeom>
          <a:noFill/>
          <a:ln w="13970">
            <a:solidFill>
              <a:srgbClr val="0891B2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946404" y="4972745"/>
            <a:ext cx="64008" cy="64008"/>
          </a:xfrm>
          <a:prstGeom prst="ellipse">
            <a:avLst/>
          </a:prstGeom>
          <a:solidFill>
            <a:srgbClr val="0891B2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895555" y="1725858"/>
            <a:ext cx="64008" cy="64008"/>
          </a:xfrm>
          <a:prstGeom prst="ellipse">
            <a:avLst/>
          </a:prstGeom>
          <a:solidFill>
            <a:srgbClr val="0891B2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144140" y="2694562"/>
            <a:ext cx="64008" cy="64008"/>
          </a:xfrm>
          <a:prstGeom prst="ellipse">
            <a:avLst/>
          </a:prstGeom>
          <a:solidFill>
            <a:srgbClr val="0891B2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1141964" y="4429943"/>
            <a:ext cx="64008" cy="64008"/>
          </a:xfrm>
          <a:prstGeom prst="ellipse">
            <a:avLst/>
          </a:prstGeom>
          <a:solidFill>
            <a:srgbClr val="0891B2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978408" y="4053757"/>
            <a:ext cx="649717" cy="887290"/>
          </a:xfrm>
          <a:prstGeom prst="line">
            <a:avLst/>
          </a:prstGeom>
          <a:noFill/>
          <a:ln w="13970">
            <a:solidFill>
              <a:srgbClr val="DC2626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628125" y="3080394"/>
            <a:ext cx="349848" cy="973363"/>
          </a:xfrm>
          <a:prstGeom prst="line">
            <a:avLst/>
          </a:prstGeom>
          <a:noFill/>
          <a:ln w="13970">
            <a:solidFill>
              <a:srgbClr val="DC2626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977973" y="3080394"/>
            <a:ext cx="299869" cy="1906358"/>
          </a:xfrm>
          <a:prstGeom prst="line">
            <a:avLst/>
          </a:prstGeom>
          <a:noFill/>
          <a:ln w="13970">
            <a:solidFill>
              <a:srgbClr val="DC2626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2277842" y="4118239"/>
            <a:ext cx="649717" cy="868513"/>
          </a:xfrm>
          <a:prstGeom prst="line">
            <a:avLst/>
          </a:prstGeom>
          <a:noFill/>
          <a:ln w="13970">
            <a:solidFill>
              <a:srgbClr val="DC2626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2927559" y="4118239"/>
            <a:ext cx="649717" cy="862492"/>
          </a:xfrm>
          <a:prstGeom prst="line">
            <a:avLst/>
          </a:prstGeom>
          <a:noFill/>
          <a:ln w="13970">
            <a:solidFill>
              <a:srgbClr val="DC2626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577276" y="4895405"/>
            <a:ext cx="2598868" cy="85326"/>
          </a:xfrm>
          <a:prstGeom prst="line">
            <a:avLst/>
          </a:prstGeom>
          <a:noFill/>
          <a:ln w="13970">
            <a:solidFill>
              <a:srgbClr val="DC2626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176144" y="4895405"/>
            <a:ext cx="999565" cy="121899"/>
          </a:xfrm>
          <a:prstGeom prst="line">
            <a:avLst/>
          </a:prstGeom>
          <a:noFill/>
          <a:ln w="13970">
            <a:solidFill>
              <a:srgbClr val="DC2626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7175709" y="4930327"/>
            <a:ext cx="1999129" cy="86977"/>
          </a:xfrm>
          <a:prstGeom prst="line">
            <a:avLst/>
          </a:prstGeom>
          <a:noFill/>
          <a:ln w="13970">
            <a:solidFill>
              <a:srgbClr val="DC2626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9174839" y="4434888"/>
            <a:ext cx="1999129" cy="495439"/>
          </a:xfrm>
          <a:prstGeom prst="line">
            <a:avLst/>
          </a:prstGeom>
          <a:noFill/>
          <a:ln w="13970">
            <a:solidFill>
              <a:srgbClr val="DC2626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946404" y="4909043"/>
            <a:ext cx="64008" cy="64008"/>
          </a:xfrm>
          <a:prstGeom prst="ellipse">
            <a:avLst/>
          </a:prstGeom>
          <a:solidFill>
            <a:srgbClr val="DC2626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945969" y="3048390"/>
            <a:ext cx="64008" cy="64008"/>
          </a:xfrm>
          <a:prstGeom prst="ellipse">
            <a:avLst/>
          </a:prstGeom>
          <a:solidFill>
            <a:srgbClr val="DC2626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11141964" y="4402883"/>
            <a:ext cx="64008" cy="64008"/>
          </a:xfrm>
          <a:prstGeom prst="ellipse">
            <a:avLst/>
          </a:prstGeom>
          <a:solidFill>
            <a:srgbClr val="DC2626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1024128" y="5550408"/>
            <a:ext cx="109728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1170432" y="5536692"/>
            <a:ext cx="685800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90" dirty="0">
                <a:solidFill>
                  <a:srgbClr val="687384"/>
                </a:solidFill>
              </a:rPr>
              <a:t>0624A04</a:t>
            </a:r>
            <a:endParaRPr lang="en-US" sz="690" dirty="0"/>
          </a:p>
        </p:txBody>
      </p:sp>
      <p:sp>
        <p:nvSpPr>
          <p:cNvPr id="97" name="Shape 95"/>
          <p:cNvSpPr/>
          <p:nvPr/>
        </p:nvSpPr>
        <p:spPr>
          <a:xfrm>
            <a:off x="1938528" y="5550408"/>
            <a:ext cx="109728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2084832" y="5536692"/>
            <a:ext cx="685800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90" dirty="0">
                <a:solidFill>
                  <a:srgbClr val="687384"/>
                </a:solidFill>
              </a:rPr>
              <a:t>1217A05</a:t>
            </a:r>
            <a:endParaRPr lang="en-US" sz="690" dirty="0"/>
          </a:p>
        </p:txBody>
      </p:sp>
      <p:sp>
        <p:nvSpPr>
          <p:cNvPr id="99" name="Shape 97"/>
          <p:cNvSpPr/>
          <p:nvPr/>
        </p:nvSpPr>
        <p:spPr>
          <a:xfrm>
            <a:off x="2852928" y="5550408"/>
            <a:ext cx="109728" cy="640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2999232" y="5536692"/>
            <a:ext cx="685800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90" dirty="0">
                <a:solidFill>
                  <a:srgbClr val="687384"/>
                </a:solidFill>
              </a:rPr>
              <a:t>0311A04</a:t>
            </a:r>
            <a:endParaRPr lang="en-US" sz="690" dirty="0"/>
          </a:p>
        </p:txBody>
      </p:sp>
      <p:sp>
        <p:nvSpPr>
          <p:cNvPr id="101" name="Shape 99"/>
          <p:cNvSpPr/>
          <p:nvPr/>
        </p:nvSpPr>
        <p:spPr>
          <a:xfrm>
            <a:off x="3767328" y="5550408"/>
            <a:ext cx="109728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3913632" y="5536692"/>
            <a:ext cx="685800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90" dirty="0">
                <a:solidFill>
                  <a:srgbClr val="687384"/>
                </a:solidFill>
              </a:rPr>
              <a:t>0624A01</a:t>
            </a:r>
            <a:endParaRPr lang="en-US" sz="690" dirty="0"/>
          </a:p>
        </p:txBody>
      </p:sp>
      <p:sp>
        <p:nvSpPr>
          <p:cNvPr id="103" name="Shape 101"/>
          <p:cNvSpPr/>
          <p:nvPr/>
        </p:nvSpPr>
        <p:spPr>
          <a:xfrm>
            <a:off x="4681728" y="5550408"/>
            <a:ext cx="109728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4828032" y="5536692"/>
            <a:ext cx="685800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90" dirty="0">
                <a:solidFill>
                  <a:srgbClr val="687384"/>
                </a:solidFill>
              </a:rPr>
              <a:t>0624A05</a:t>
            </a:r>
            <a:endParaRPr lang="en-US" sz="690" dirty="0"/>
          </a:p>
        </p:txBody>
      </p:sp>
      <p:sp>
        <p:nvSpPr>
          <p:cNvPr id="105" name="Shape 103"/>
          <p:cNvSpPr/>
          <p:nvPr/>
        </p:nvSpPr>
        <p:spPr>
          <a:xfrm>
            <a:off x="713232" y="5715000"/>
            <a:ext cx="1097280" cy="292608"/>
          </a:xfrm>
          <a:prstGeom prst="rect">
            <a:avLst/>
          </a:prstGeom>
          <a:solidFill>
            <a:srgbClr val="2168D3"/>
          </a:solidFill>
          <a:ln w="6350">
            <a:solidFill>
              <a:srgbClr val="2168D3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749808" y="5769864"/>
            <a:ext cx="1024128" cy="21945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70" b="1" dirty="0">
                <a:solidFill>
                  <a:srgbClr val="FFFFFF"/>
                </a:solidFill>
              </a:rPr>
              <a:t>Unit</a:t>
            </a:r>
            <a:endParaRPr lang="en-US" sz="770" dirty="0"/>
          </a:p>
        </p:txBody>
      </p:sp>
      <p:sp>
        <p:nvSpPr>
          <p:cNvPr id="107" name="Shape 105"/>
          <p:cNvSpPr/>
          <p:nvPr/>
        </p:nvSpPr>
        <p:spPr>
          <a:xfrm>
            <a:off x="1810512" y="5715000"/>
            <a:ext cx="2560320" cy="292608"/>
          </a:xfrm>
          <a:prstGeom prst="rect">
            <a:avLst/>
          </a:prstGeom>
          <a:solidFill>
            <a:srgbClr val="2168D3"/>
          </a:solidFill>
          <a:ln w="6350">
            <a:solidFill>
              <a:srgbClr val="2168D3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1847088" y="5769864"/>
            <a:ext cx="2487168" cy="21945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70" b="1" dirty="0">
                <a:solidFill>
                  <a:srgbClr val="FFFFFF"/>
                </a:solidFill>
              </a:rPr>
              <a:t>Max worst-channel</a:t>
            </a:r>
            <a:endParaRPr lang="en-US" sz="770" dirty="0"/>
          </a:p>
        </p:txBody>
      </p:sp>
      <p:sp>
        <p:nvSpPr>
          <p:cNvPr id="109" name="Shape 107"/>
          <p:cNvSpPr/>
          <p:nvPr/>
        </p:nvSpPr>
        <p:spPr>
          <a:xfrm>
            <a:off x="4370832" y="5715000"/>
            <a:ext cx="2560320" cy="292608"/>
          </a:xfrm>
          <a:prstGeom prst="rect">
            <a:avLst/>
          </a:prstGeom>
          <a:solidFill>
            <a:srgbClr val="2168D3"/>
          </a:solidFill>
          <a:ln w="6350">
            <a:solidFill>
              <a:srgbClr val="2168D3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4407408" y="5769864"/>
            <a:ext cx="2487168" cy="21945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70" b="1" dirty="0">
                <a:solidFill>
                  <a:srgbClr val="FFFFFF"/>
                </a:solidFill>
              </a:rPr>
              <a:t>Latest worst-channel</a:t>
            </a:r>
            <a:endParaRPr lang="en-US" sz="770" dirty="0"/>
          </a:p>
        </p:txBody>
      </p:sp>
      <p:sp>
        <p:nvSpPr>
          <p:cNvPr id="111" name="Shape 109"/>
          <p:cNvSpPr/>
          <p:nvPr/>
        </p:nvSpPr>
        <p:spPr>
          <a:xfrm>
            <a:off x="6931152" y="5715000"/>
            <a:ext cx="1188720" cy="292608"/>
          </a:xfrm>
          <a:prstGeom prst="rect">
            <a:avLst/>
          </a:prstGeom>
          <a:solidFill>
            <a:srgbClr val="2168D3"/>
          </a:solidFill>
          <a:ln w="6350">
            <a:solidFill>
              <a:srgbClr val="2168D3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6967728" y="5769864"/>
            <a:ext cx="1115568" cy="21945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70" b="1" dirty="0">
                <a:solidFill>
                  <a:srgbClr val="FFFFFF"/>
                </a:solidFill>
              </a:rPr>
              <a:t>Risk</a:t>
            </a:r>
            <a:endParaRPr lang="en-US" sz="770" dirty="0"/>
          </a:p>
        </p:txBody>
      </p:sp>
      <p:sp>
        <p:nvSpPr>
          <p:cNvPr id="113" name="Shape 111"/>
          <p:cNvSpPr/>
          <p:nvPr/>
        </p:nvSpPr>
        <p:spPr>
          <a:xfrm>
            <a:off x="713232" y="6007608"/>
            <a:ext cx="1097280" cy="292608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749808" y="6057900"/>
            <a:ext cx="1024128" cy="21945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2F3437"/>
                </a:solidFill>
              </a:rPr>
              <a:t>0624A04</a:t>
            </a:r>
            <a:endParaRPr lang="en-US" sz="750" dirty="0"/>
          </a:p>
        </p:txBody>
      </p:sp>
      <p:sp>
        <p:nvSpPr>
          <p:cNvPr id="115" name="Shape 113"/>
          <p:cNvSpPr/>
          <p:nvPr/>
        </p:nvSpPr>
        <p:spPr>
          <a:xfrm>
            <a:off x="1810512" y="6007608"/>
            <a:ext cx="2560320" cy="292608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1847088" y="6057900"/>
            <a:ext cx="2487168" cy="21945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2F3437"/>
                </a:solidFill>
              </a:rPr>
              <a:t>520k / 11.204</a:t>
            </a:r>
            <a:endParaRPr lang="en-US" sz="750" dirty="0"/>
          </a:p>
        </p:txBody>
      </p:sp>
      <p:sp>
        <p:nvSpPr>
          <p:cNvPr id="117" name="Shape 115"/>
          <p:cNvSpPr/>
          <p:nvPr/>
        </p:nvSpPr>
        <p:spPr>
          <a:xfrm>
            <a:off x="4370832" y="6007608"/>
            <a:ext cx="2560320" cy="292608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4407408" y="6057900"/>
            <a:ext cx="2487168" cy="21945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2F3437"/>
                </a:solidFill>
              </a:rPr>
              <a:t>1020k / 1.585</a:t>
            </a:r>
            <a:endParaRPr lang="en-US" sz="750" dirty="0"/>
          </a:p>
        </p:txBody>
      </p:sp>
      <p:sp>
        <p:nvSpPr>
          <p:cNvPr id="119" name="Shape 117"/>
          <p:cNvSpPr/>
          <p:nvPr/>
        </p:nvSpPr>
        <p:spPr>
          <a:xfrm>
            <a:off x="6931152" y="6007608"/>
            <a:ext cx="1188720" cy="292608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6967728" y="6057900"/>
            <a:ext cx="1115568" cy="21945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2F3437"/>
                </a:solidFill>
              </a:rPr>
              <a:t>High</a:t>
            </a:r>
            <a:endParaRPr lang="en-US" sz="750" dirty="0"/>
          </a:p>
        </p:txBody>
      </p:sp>
      <p:sp>
        <p:nvSpPr>
          <p:cNvPr id="121" name="Shape 119"/>
          <p:cNvSpPr/>
          <p:nvPr/>
        </p:nvSpPr>
        <p:spPr>
          <a:xfrm>
            <a:off x="713232" y="6300216"/>
            <a:ext cx="1097280" cy="292608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749808" y="6350508"/>
            <a:ext cx="1024128" cy="21945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2F3437"/>
                </a:solidFill>
              </a:rPr>
              <a:t>1217A05</a:t>
            </a:r>
            <a:endParaRPr lang="en-US" sz="750" dirty="0"/>
          </a:p>
        </p:txBody>
      </p:sp>
      <p:sp>
        <p:nvSpPr>
          <p:cNvPr id="123" name="Shape 121"/>
          <p:cNvSpPr/>
          <p:nvPr/>
        </p:nvSpPr>
        <p:spPr>
          <a:xfrm>
            <a:off x="1810512" y="6300216"/>
            <a:ext cx="2560320" cy="292608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1847088" y="6350508"/>
            <a:ext cx="2487168" cy="21945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2F3437"/>
                </a:solidFill>
              </a:rPr>
              <a:t>520k / 7.419</a:t>
            </a:r>
            <a:endParaRPr lang="en-US" sz="750" dirty="0"/>
          </a:p>
        </p:txBody>
      </p:sp>
      <p:sp>
        <p:nvSpPr>
          <p:cNvPr id="125" name="Shape 123"/>
          <p:cNvSpPr/>
          <p:nvPr/>
        </p:nvSpPr>
        <p:spPr>
          <a:xfrm>
            <a:off x="4370832" y="6300216"/>
            <a:ext cx="2560320" cy="292608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4407408" y="6350508"/>
            <a:ext cx="2487168" cy="21945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2F3437"/>
                </a:solidFill>
              </a:rPr>
              <a:t>1020k / 2.308</a:t>
            </a:r>
            <a:endParaRPr lang="en-US" sz="750" dirty="0"/>
          </a:p>
        </p:txBody>
      </p:sp>
      <p:sp>
        <p:nvSpPr>
          <p:cNvPr id="127" name="Shape 125"/>
          <p:cNvSpPr/>
          <p:nvPr/>
        </p:nvSpPr>
        <p:spPr>
          <a:xfrm>
            <a:off x="6931152" y="6300216"/>
            <a:ext cx="1188720" cy="292608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6967728" y="6350508"/>
            <a:ext cx="1115568" cy="21945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2F3437"/>
                </a:solidFill>
              </a:rPr>
              <a:t>High</a:t>
            </a:r>
            <a:endParaRPr lang="en-US" sz="750" dirty="0"/>
          </a:p>
        </p:txBody>
      </p:sp>
      <p:sp>
        <p:nvSpPr>
          <p:cNvPr id="129" name="Shape 127"/>
          <p:cNvSpPr/>
          <p:nvPr/>
        </p:nvSpPr>
        <p:spPr>
          <a:xfrm>
            <a:off x="713232" y="6592824"/>
            <a:ext cx="1097280" cy="292608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749808" y="6643116"/>
            <a:ext cx="1024128" cy="21945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2F3437"/>
                </a:solidFill>
              </a:rPr>
              <a:t>0311A04</a:t>
            </a:r>
            <a:endParaRPr lang="en-US" sz="750" dirty="0"/>
          </a:p>
        </p:txBody>
      </p:sp>
      <p:sp>
        <p:nvSpPr>
          <p:cNvPr id="131" name="Shape 129"/>
          <p:cNvSpPr/>
          <p:nvPr/>
        </p:nvSpPr>
        <p:spPr>
          <a:xfrm>
            <a:off x="1810512" y="6592824"/>
            <a:ext cx="2560320" cy="292608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1847088" y="6643116"/>
            <a:ext cx="2487168" cy="21945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2F3437"/>
                </a:solidFill>
              </a:rPr>
              <a:t>195k / 3.158</a:t>
            </a:r>
            <a:endParaRPr lang="en-US" sz="750" dirty="0"/>
          </a:p>
        </p:txBody>
      </p:sp>
      <p:sp>
        <p:nvSpPr>
          <p:cNvPr id="133" name="Shape 131"/>
          <p:cNvSpPr/>
          <p:nvPr/>
        </p:nvSpPr>
        <p:spPr>
          <a:xfrm>
            <a:off x="4370832" y="6592824"/>
            <a:ext cx="2560320" cy="292608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4407408" y="6643116"/>
            <a:ext cx="2487168" cy="21945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2F3437"/>
                </a:solidFill>
              </a:rPr>
              <a:t>1020k / 1.052</a:t>
            </a:r>
            <a:endParaRPr lang="en-US" sz="750" dirty="0"/>
          </a:p>
        </p:txBody>
      </p:sp>
      <p:sp>
        <p:nvSpPr>
          <p:cNvPr id="135" name="Shape 133"/>
          <p:cNvSpPr/>
          <p:nvPr/>
        </p:nvSpPr>
        <p:spPr>
          <a:xfrm>
            <a:off x="6931152" y="6592824"/>
            <a:ext cx="1188720" cy="292608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6967728" y="6643116"/>
            <a:ext cx="1115568" cy="21945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2F3437"/>
                </a:solidFill>
              </a:rPr>
              <a:t>Low</a:t>
            </a:r>
            <a:endParaRPr lang="en-US" sz="750" dirty="0"/>
          </a:p>
        </p:txBody>
      </p:sp>
      <p:sp>
        <p:nvSpPr>
          <p:cNvPr id="137" name="Shape 135"/>
          <p:cNvSpPr/>
          <p:nvPr/>
        </p:nvSpPr>
        <p:spPr>
          <a:xfrm>
            <a:off x="713232" y="6885432"/>
            <a:ext cx="1097280" cy="292608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749808" y="6935724"/>
            <a:ext cx="1024128" cy="21945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2F3437"/>
                </a:solidFill>
              </a:rPr>
              <a:t>0624A01</a:t>
            </a:r>
            <a:endParaRPr lang="en-US" sz="750" dirty="0"/>
          </a:p>
        </p:txBody>
      </p:sp>
      <p:sp>
        <p:nvSpPr>
          <p:cNvPr id="139" name="Shape 137"/>
          <p:cNvSpPr/>
          <p:nvPr/>
        </p:nvSpPr>
        <p:spPr>
          <a:xfrm>
            <a:off x="1810512" y="6885432"/>
            <a:ext cx="2560320" cy="292608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1847088" y="6935724"/>
            <a:ext cx="2487168" cy="21945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2F3437"/>
                </a:solidFill>
              </a:rPr>
              <a:t>195k / 13.397</a:t>
            </a:r>
            <a:endParaRPr lang="en-US" sz="750" dirty="0"/>
          </a:p>
        </p:txBody>
      </p:sp>
      <p:sp>
        <p:nvSpPr>
          <p:cNvPr id="141" name="Shape 139"/>
          <p:cNvSpPr/>
          <p:nvPr/>
        </p:nvSpPr>
        <p:spPr>
          <a:xfrm>
            <a:off x="4370832" y="6885432"/>
            <a:ext cx="2560320" cy="292608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4407408" y="6935724"/>
            <a:ext cx="2487168" cy="21945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2F3437"/>
                </a:solidFill>
              </a:rPr>
              <a:t>1020k / 3.046</a:t>
            </a:r>
            <a:endParaRPr lang="en-US" sz="750" dirty="0"/>
          </a:p>
        </p:txBody>
      </p:sp>
      <p:sp>
        <p:nvSpPr>
          <p:cNvPr id="143" name="Shape 141"/>
          <p:cNvSpPr/>
          <p:nvPr/>
        </p:nvSpPr>
        <p:spPr>
          <a:xfrm>
            <a:off x="6931152" y="6885432"/>
            <a:ext cx="1188720" cy="292608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6967728" y="6935724"/>
            <a:ext cx="1115568" cy="21945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2F3437"/>
                </a:solidFill>
              </a:rPr>
              <a:t>Monitor</a:t>
            </a:r>
            <a:endParaRPr lang="en-US" sz="750" dirty="0"/>
          </a:p>
        </p:txBody>
      </p:sp>
      <p:sp>
        <p:nvSpPr>
          <p:cNvPr id="145" name="Shape 143"/>
          <p:cNvSpPr/>
          <p:nvPr/>
        </p:nvSpPr>
        <p:spPr>
          <a:xfrm>
            <a:off x="713232" y="7178040"/>
            <a:ext cx="1097280" cy="292608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749808" y="7228332"/>
            <a:ext cx="1024128" cy="21945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2F3437"/>
                </a:solidFill>
              </a:rPr>
              <a:t>0624A05</a:t>
            </a:r>
            <a:endParaRPr lang="en-US" sz="750" dirty="0"/>
          </a:p>
        </p:txBody>
      </p:sp>
      <p:sp>
        <p:nvSpPr>
          <p:cNvPr id="147" name="Shape 145"/>
          <p:cNvSpPr/>
          <p:nvPr/>
        </p:nvSpPr>
        <p:spPr>
          <a:xfrm>
            <a:off x="1810512" y="7178040"/>
            <a:ext cx="2560320" cy="292608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1847088" y="7228332"/>
            <a:ext cx="2487168" cy="21945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2F3437"/>
                </a:solidFill>
              </a:rPr>
              <a:t>100k / 8.334</a:t>
            </a:r>
            <a:endParaRPr lang="en-US" sz="750" dirty="0"/>
          </a:p>
        </p:txBody>
      </p:sp>
      <p:sp>
        <p:nvSpPr>
          <p:cNvPr id="149" name="Shape 147"/>
          <p:cNvSpPr/>
          <p:nvPr/>
        </p:nvSpPr>
        <p:spPr>
          <a:xfrm>
            <a:off x="4370832" y="7178040"/>
            <a:ext cx="2560320" cy="292608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4407408" y="7228332"/>
            <a:ext cx="2487168" cy="21945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2F3437"/>
                </a:solidFill>
              </a:rPr>
              <a:t>1020k / 3.150</a:t>
            </a:r>
            <a:endParaRPr lang="en-US" sz="750" dirty="0"/>
          </a:p>
        </p:txBody>
      </p:sp>
      <p:sp>
        <p:nvSpPr>
          <p:cNvPr id="151" name="Shape 149"/>
          <p:cNvSpPr/>
          <p:nvPr/>
        </p:nvSpPr>
        <p:spPr>
          <a:xfrm>
            <a:off x="6931152" y="7178040"/>
            <a:ext cx="1188720" cy="292608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6967728" y="7228332"/>
            <a:ext cx="1115568" cy="21945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2F3437"/>
                </a:solidFill>
              </a:rPr>
              <a:t>High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83464"/>
            <a:ext cx="932688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50" b="1" dirty="0">
                <a:solidFill>
                  <a:srgbClr val="2168D3"/>
                </a:solidFill>
              </a:rPr>
              <a:t>5. Latest 1020k Plate-level 分析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502920" y="667512"/>
            <a:ext cx="1028700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87384"/>
                </a:solidFill>
              </a:rPr>
              <a:t>最新节点只包含 plate1-3；A05 的三个有效 plate 均在 6.7-6.9，表现为整体性偏高。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104120" y="310896"/>
            <a:ext cx="14173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2168D3"/>
                </a:solidFill>
              </a:rPr>
              <a:t>Opentrons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960120"/>
            <a:ext cx="1083564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47104"/>
            <a:ext cx="475488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87384"/>
                </a:solidFill>
              </a:rPr>
              <a:t>P1000H O-ring Data Analysis | 2026-06-04 | 6/13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594360" y="1207008"/>
            <a:ext cx="5212080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70" b="1" dirty="0">
                <a:solidFill>
                  <a:srgbClr val="2F3437"/>
                </a:solidFill>
              </a:rPr>
              <a:t>Latest CV comparison</a:t>
            </a:r>
            <a:endParaRPr lang="en-US" sz="1270" dirty="0"/>
          </a:p>
        </p:txBody>
      </p:sp>
      <p:sp>
        <p:nvSpPr>
          <p:cNvPr id="8" name="Shape 6"/>
          <p:cNvSpPr/>
          <p:nvPr/>
        </p:nvSpPr>
        <p:spPr>
          <a:xfrm>
            <a:off x="978408" y="4416552"/>
            <a:ext cx="4681728" cy="0"/>
          </a:xfrm>
          <a:prstGeom prst="line">
            <a:avLst/>
          </a:prstGeom>
          <a:noFill/>
          <a:ln w="5715">
            <a:solidFill>
              <a:srgbClr val="D9E2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" y="4361688"/>
            <a:ext cx="228600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40" dirty="0">
                <a:solidFill>
                  <a:srgbClr val="687384"/>
                </a:solidFill>
              </a:rPr>
              <a:t>0</a:t>
            </a:r>
            <a:endParaRPr lang="en-US" sz="640" dirty="0"/>
          </a:p>
        </p:txBody>
      </p:sp>
      <p:sp>
        <p:nvSpPr>
          <p:cNvPr id="10" name="Shape 8"/>
          <p:cNvSpPr/>
          <p:nvPr/>
        </p:nvSpPr>
        <p:spPr>
          <a:xfrm>
            <a:off x="978408" y="4070223"/>
            <a:ext cx="4681728" cy="0"/>
          </a:xfrm>
          <a:prstGeom prst="line">
            <a:avLst/>
          </a:prstGeom>
          <a:noFill/>
          <a:ln w="5715">
            <a:solidFill>
              <a:srgbClr val="D9E2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" y="4015359"/>
            <a:ext cx="228600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40" dirty="0">
                <a:solidFill>
                  <a:srgbClr val="687384"/>
                </a:solidFill>
              </a:rPr>
              <a:t>1</a:t>
            </a:r>
            <a:endParaRPr lang="en-US" sz="640" dirty="0"/>
          </a:p>
        </p:txBody>
      </p:sp>
      <p:sp>
        <p:nvSpPr>
          <p:cNvPr id="12" name="Shape 10"/>
          <p:cNvSpPr/>
          <p:nvPr/>
        </p:nvSpPr>
        <p:spPr>
          <a:xfrm>
            <a:off x="978408" y="3723894"/>
            <a:ext cx="4681728" cy="0"/>
          </a:xfrm>
          <a:prstGeom prst="line">
            <a:avLst/>
          </a:prstGeom>
          <a:noFill/>
          <a:ln w="5715">
            <a:solidFill>
              <a:srgbClr val="D9E2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" y="3669030"/>
            <a:ext cx="228600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40" dirty="0">
                <a:solidFill>
                  <a:srgbClr val="687384"/>
                </a:solidFill>
              </a:rPr>
              <a:t>2</a:t>
            </a:r>
            <a:endParaRPr lang="en-US" sz="640" dirty="0"/>
          </a:p>
        </p:txBody>
      </p:sp>
      <p:sp>
        <p:nvSpPr>
          <p:cNvPr id="14" name="Shape 12"/>
          <p:cNvSpPr/>
          <p:nvPr/>
        </p:nvSpPr>
        <p:spPr>
          <a:xfrm>
            <a:off x="978408" y="3377565"/>
            <a:ext cx="4681728" cy="0"/>
          </a:xfrm>
          <a:prstGeom prst="line">
            <a:avLst/>
          </a:prstGeom>
          <a:noFill/>
          <a:ln w="5715">
            <a:solidFill>
              <a:srgbClr val="D9E2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" y="3322701"/>
            <a:ext cx="228600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40" dirty="0">
                <a:solidFill>
                  <a:srgbClr val="687384"/>
                </a:solidFill>
              </a:rPr>
              <a:t>3</a:t>
            </a:r>
            <a:endParaRPr lang="en-US" sz="640" dirty="0"/>
          </a:p>
        </p:txBody>
      </p:sp>
      <p:sp>
        <p:nvSpPr>
          <p:cNvPr id="16" name="Shape 14"/>
          <p:cNvSpPr/>
          <p:nvPr/>
        </p:nvSpPr>
        <p:spPr>
          <a:xfrm>
            <a:off x="978408" y="3031236"/>
            <a:ext cx="4681728" cy="0"/>
          </a:xfrm>
          <a:prstGeom prst="line">
            <a:avLst/>
          </a:prstGeom>
          <a:noFill/>
          <a:ln w="5715">
            <a:solidFill>
              <a:srgbClr val="D9E2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" y="2976372"/>
            <a:ext cx="228600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40" dirty="0">
                <a:solidFill>
                  <a:srgbClr val="687384"/>
                </a:solidFill>
              </a:rPr>
              <a:t>4</a:t>
            </a:r>
            <a:endParaRPr lang="en-US" sz="640" dirty="0"/>
          </a:p>
        </p:txBody>
      </p:sp>
      <p:sp>
        <p:nvSpPr>
          <p:cNvPr id="18" name="Shape 16"/>
          <p:cNvSpPr/>
          <p:nvPr/>
        </p:nvSpPr>
        <p:spPr>
          <a:xfrm>
            <a:off x="978408" y="2684907"/>
            <a:ext cx="4681728" cy="0"/>
          </a:xfrm>
          <a:prstGeom prst="line">
            <a:avLst/>
          </a:prstGeom>
          <a:noFill/>
          <a:ln w="5715">
            <a:solidFill>
              <a:srgbClr val="D9E2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" y="2630043"/>
            <a:ext cx="228600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40" dirty="0">
                <a:solidFill>
                  <a:srgbClr val="687384"/>
                </a:solidFill>
              </a:rPr>
              <a:t>5</a:t>
            </a:r>
            <a:endParaRPr lang="en-US" sz="640" dirty="0"/>
          </a:p>
        </p:txBody>
      </p:sp>
      <p:sp>
        <p:nvSpPr>
          <p:cNvPr id="20" name="Shape 18"/>
          <p:cNvSpPr/>
          <p:nvPr/>
        </p:nvSpPr>
        <p:spPr>
          <a:xfrm>
            <a:off x="978408" y="2338578"/>
            <a:ext cx="4681728" cy="0"/>
          </a:xfrm>
          <a:prstGeom prst="line">
            <a:avLst/>
          </a:prstGeom>
          <a:noFill/>
          <a:ln w="5715">
            <a:solidFill>
              <a:srgbClr val="D9E2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" y="2283714"/>
            <a:ext cx="228600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40" dirty="0">
                <a:solidFill>
                  <a:srgbClr val="687384"/>
                </a:solidFill>
              </a:rPr>
              <a:t>6</a:t>
            </a:r>
            <a:endParaRPr lang="en-US" sz="640" dirty="0"/>
          </a:p>
        </p:txBody>
      </p:sp>
      <p:sp>
        <p:nvSpPr>
          <p:cNvPr id="22" name="Shape 20"/>
          <p:cNvSpPr/>
          <p:nvPr/>
        </p:nvSpPr>
        <p:spPr>
          <a:xfrm>
            <a:off x="978408" y="1992249"/>
            <a:ext cx="4681728" cy="0"/>
          </a:xfrm>
          <a:prstGeom prst="line">
            <a:avLst/>
          </a:prstGeom>
          <a:noFill/>
          <a:ln w="5715">
            <a:solidFill>
              <a:srgbClr val="D9E2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" y="1937385"/>
            <a:ext cx="228600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40" dirty="0">
                <a:solidFill>
                  <a:srgbClr val="687384"/>
                </a:solidFill>
              </a:rPr>
              <a:t>7</a:t>
            </a:r>
            <a:endParaRPr lang="en-US" sz="640" dirty="0"/>
          </a:p>
        </p:txBody>
      </p:sp>
      <p:sp>
        <p:nvSpPr>
          <p:cNvPr id="24" name="Shape 22"/>
          <p:cNvSpPr/>
          <p:nvPr/>
        </p:nvSpPr>
        <p:spPr>
          <a:xfrm>
            <a:off x="978408" y="1645920"/>
            <a:ext cx="4681728" cy="0"/>
          </a:xfrm>
          <a:prstGeom prst="line">
            <a:avLst/>
          </a:prstGeom>
          <a:noFill/>
          <a:ln w="5715">
            <a:solidFill>
              <a:srgbClr val="D9E2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" y="1591056"/>
            <a:ext cx="228600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40" dirty="0">
                <a:solidFill>
                  <a:srgbClr val="687384"/>
                </a:solidFill>
              </a:rPr>
              <a:t>8</a:t>
            </a:r>
            <a:endParaRPr lang="en-US" sz="640" dirty="0"/>
          </a:p>
        </p:txBody>
      </p:sp>
      <p:sp>
        <p:nvSpPr>
          <p:cNvPr id="26" name="Shape 24"/>
          <p:cNvSpPr/>
          <p:nvPr/>
        </p:nvSpPr>
        <p:spPr>
          <a:xfrm>
            <a:off x="978408" y="2684907"/>
            <a:ext cx="4681728" cy="0"/>
          </a:xfrm>
          <a:prstGeom prst="line">
            <a:avLst/>
          </a:prstGeom>
          <a:noFill/>
          <a:ln w="11430">
            <a:solidFill>
              <a:srgbClr val="DC262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75041" y="2899838"/>
            <a:ext cx="543080" cy="1516714"/>
          </a:xfrm>
          <a:prstGeom prst="roundRect">
            <a:avLst>
              <a:gd name="adj" fmla="val 589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92745" y="2735246"/>
            <a:ext cx="707672" cy="914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59E0B"/>
                </a:solidFill>
              </a:rPr>
              <a:t>4.379</a:t>
            </a:r>
            <a:endParaRPr lang="en-US" sz="680" dirty="0"/>
          </a:p>
        </p:txBody>
      </p:sp>
      <p:sp>
        <p:nvSpPr>
          <p:cNvPr id="29" name="Text 27"/>
          <p:cNvSpPr/>
          <p:nvPr/>
        </p:nvSpPr>
        <p:spPr>
          <a:xfrm>
            <a:off x="1028737" y="4507992"/>
            <a:ext cx="835688" cy="1097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2F3437"/>
                </a:solidFill>
              </a:rPr>
              <a:t>0624A04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2111386" y="3901682"/>
            <a:ext cx="543080" cy="514870"/>
          </a:xfrm>
          <a:prstGeom prst="roundRect">
            <a:avLst>
              <a:gd name="adj" fmla="val 621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029090" y="3737090"/>
            <a:ext cx="707672" cy="914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7C3AED"/>
                </a:solidFill>
              </a:rPr>
              <a:t>1.487</a:t>
            </a:r>
            <a:endParaRPr lang="en-US" sz="680" dirty="0"/>
          </a:p>
        </p:txBody>
      </p:sp>
      <p:sp>
        <p:nvSpPr>
          <p:cNvPr id="32" name="Text 30"/>
          <p:cNvSpPr/>
          <p:nvPr/>
        </p:nvSpPr>
        <p:spPr>
          <a:xfrm>
            <a:off x="1965082" y="4507992"/>
            <a:ext cx="835688" cy="1097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2F3437"/>
                </a:solidFill>
              </a:rPr>
              <a:t>1217A05</a:t>
            </a:r>
            <a:endParaRPr lang="en-US" sz="680" dirty="0"/>
          </a:p>
        </p:txBody>
      </p:sp>
      <p:sp>
        <p:nvSpPr>
          <p:cNvPr id="33" name="Shape 31"/>
          <p:cNvSpPr/>
          <p:nvPr/>
        </p:nvSpPr>
        <p:spPr>
          <a:xfrm>
            <a:off x="3047732" y="4181950"/>
            <a:ext cx="543080" cy="234602"/>
          </a:xfrm>
          <a:prstGeom prst="roundRect">
            <a:avLst>
              <a:gd name="adj" fmla="val 13642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965436" y="4017358"/>
            <a:ext cx="707672" cy="914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16A34A"/>
                </a:solidFill>
              </a:rPr>
              <a:t>0.677</a:t>
            </a:r>
            <a:endParaRPr lang="en-US" sz="680" dirty="0"/>
          </a:p>
        </p:txBody>
      </p:sp>
      <p:sp>
        <p:nvSpPr>
          <p:cNvPr id="35" name="Text 33"/>
          <p:cNvSpPr/>
          <p:nvPr/>
        </p:nvSpPr>
        <p:spPr>
          <a:xfrm>
            <a:off x="2901428" y="4507992"/>
            <a:ext cx="835688" cy="1097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2F3437"/>
                </a:solidFill>
              </a:rPr>
              <a:t>0311A04</a:t>
            </a:r>
            <a:endParaRPr lang="en-US" sz="680" dirty="0"/>
          </a:p>
        </p:txBody>
      </p:sp>
      <p:sp>
        <p:nvSpPr>
          <p:cNvPr id="36" name="Shape 34"/>
          <p:cNvSpPr/>
          <p:nvPr/>
        </p:nvSpPr>
        <p:spPr>
          <a:xfrm>
            <a:off x="3984077" y="3851100"/>
            <a:ext cx="543080" cy="565452"/>
          </a:xfrm>
          <a:prstGeom prst="roundRect">
            <a:avLst>
              <a:gd name="adj" fmla="val 5893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901781" y="3686508"/>
            <a:ext cx="707672" cy="914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0891B2"/>
                </a:solidFill>
              </a:rPr>
              <a:t>1.633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3837773" y="4507992"/>
            <a:ext cx="835688" cy="1097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2F3437"/>
                </a:solidFill>
              </a:rPr>
              <a:t>0624A01</a:t>
            </a:r>
            <a:endParaRPr lang="en-US" sz="680" dirty="0"/>
          </a:p>
        </p:txBody>
      </p:sp>
      <p:sp>
        <p:nvSpPr>
          <p:cNvPr id="39" name="Shape 37"/>
          <p:cNvSpPr/>
          <p:nvPr/>
        </p:nvSpPr>
        <p:spPr>
          <a:xfrm>
            <a:off x="4920423" y="2047992"/>
            <a:ext cx="543080" cy="2368560"/>
          </a:xfrm>
          <a:prstGeom prst="roundRect">
            <a:avLst>
              <a:gd name="adj" fmla="val 5893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38127" y="1883400"/>
            <a:ext cx="707672" cy="914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DC2626"/>
                </a:solidFill>
              </a:rPr>
              <a:t>6.839</a:t>
            </a:r>
            <a:endParaRPr lang="en-US" sz="680" dirty="0"/>
          </a:p>
        </p:txBody>
      </p:sp>
      <p:sp>
        <p:nvSpPr>
          <p:cNvPr id="41" name="Text 39"/>
          <p:cNvSpPr/>
          <p:nvPr/>
        </p:nvSpPr>
        <p:spPr>
          <a:xfrm>
            <a:off x="4774119" y="4507992"/>
            <a:ext cx="835688" cy="1097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2F3437"/>
                </a:solidFill>
              </a:rPr>
              <a:t>0624A05</a:t>
            </a:r>
            <a:endParaRPr lang="en-US" sz="680" dirty="0"/>
          </a:p>
        </p:txBody>
      </p:sp>
      <p:sp>
        <p:nvSpPr>
          <p:cNvPr id="42" name="Shape 40"/>
          <p:cNvSpPr/>
          <p:nvPr/>
        </p:nvSpPr>
        <p:spPr>
          <a:xfrm>
            <a:off x="6080760" y="1261872"/>
            <a:ext cx="868680" cy="438912"/>
          </a:xfrm>
          <a:prstGeom prst="rect">
            <a:avLst/>
          </a:prstGeom>
          <a:solidFill>
            <a:srgbClr val="2168D3"/>
          </a:solidFill>
          <a:ln w="6350">
            <a:solidFill>
              <a:srgbClr val="2168D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17336" y="1316736"/>
            <a:ext cx="795528" cy="36576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FFFFFF"/>
                </a:solidFill>
              </a:rPr>
              <a:t>Unit</a:t>
            </a:r>
            <a:endParaRPr lang="en-US" sz="720" dirty="0"/>
          </a:p>
        </p:txBody>
      </p:sp>
      <p:sp>
        <p:nvSpPr>
          <p:cNvPr id="44" name="Shape 42"/>
          <p:cNvSpPr/>
          <p:nvPr/>
        </p:nvSpPr>
        <p:spPr>
          <a:xfrm>
            <a:off x="6949440" y="1261872"/>
            <a:ext cx="914400" cy="438912"/>
          </a:xfrm>
          <a:prstGeom prst="rect">
            <a:avLst/>
          </a:prstGeom>
          <a:solidFill>
            <a:srgbClr val="2168D3"/>
          </a:solidFill>
          <a:ln w="6350">
            <a:solidFill>
              <a:srgbClr val="2168D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986016" y="1316736"/>
            <a:ext cx="841248" cy="36576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FFFFFF"/>
                </a:solidFill>
              </a:rPr>
              <a:t>Latest CV</a:t>
            </a:r>
            <a:endParaRPr lang="en-US" sz="720" dirty="0"/>
          </a:p>
        </p:txBody>
      </p:sp>
      <p:sp>
        <p:nvSpPr>
          <p:cNvPr id="46" name="Shape 44"/>
          <p:cNvSpPr/>
          <p:nvPr/>
        </p:nvSpPr>
        <p:spPr>
          <a:xfrm>
            <a:off x="7863840" y="1261872"/>
            <a:ext cx="2834640" cy="438912"/>
          </a:xfrm>
          <a:prstGeom prst="rect">
            <a:avLst/>
          </a:prstGeom>
          <a:solidFill>
            <a:srgbClr val="2168D3"/>
          </a:solidFill>
          <a:ln w="6350">
            <a:solidFill>
              <a:srgbClr val="2168D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900416" y="1316736"/>
            <a:ext cx="2761488" cy="36576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FFFFFF"/>
                </a:solidFill>
              </a:rPr>
              <a:t>Plate1 / Plate2 / Plate3 / Plate4 / Plate5</a:t>
            </a:r>
            <a:endParaRPr lang="en-US" sz="720" dirty="0"/>
          </a:p>
        </p:txBody>
      </p:sp>
      <p:sp>
        <p:nvSpPr>
          <p:cNvPr id="48" name="Shape 46"/>
          <p:cNvSpPr/>
          <p:nvPr/>
        </p:nvSpPr>
        <p:spPr>
          <a:xfrm>
            <a:off x="10698480" y="1261872"/>
            <a:ext cx="640080" cy="438912"/>
          </a:xfrm>
          <a:prstGeom prst="rect">
            <a:avLst/>
          </a:prstGeom>
          <a:solidFill>
            <a:srgbClr val="2168D3"/>
          </a:solidFill>
          <a:ln w="6350">
            <a:solidFill>
              <a:srgbClr val="2168D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735056" y="1316736"/>
            <a:ext cx="566928" cy="36576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FFFFFF"/>
                </a:solidFill>
              </a:rPr>
              <a:t>Valid</a:t>
            </a:r>
            <a:endParaRPr lang="en-US" sz="720" dirty="0"/>
          </a:p>
        </p:txBody>
      </p:sp>
      <p:sp>
        <p:nvSpPr>
          <p:cNvPr id="50" name="Shape 48"/>
          <p:cNvSpPr/>
          <p:nvPr/>
        </p:nvSpPr>
        <p:spPr>
          <a:xfrm>
            <a:off x="11338560" y="1261872"/>
            <a:ext cx="1325880" cy="438912"/>
          </a:xfrm>
          <a:prstGeom prst="rect">
            <a:avLst/>
          </a:prstGeom>
          <a:solidFill>
            <a:srgbClr val="2168D3"/>
          </a:solidFill>
          <a:ln w="6350">
            <a:solidFill>
              <a:srgbClr val="2168D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1375136" y="1316736"/>
            <a:ext cx="1252728" cy="36576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FFFFFF"/>
                </a:solidFill>
              </a:rPr>
              <a:t>Note</a:t>
            </a:r>
            <a:endParaRPr lang="en-US" sz="720" dirty="0"/>
          </a:p>
        </p:txBody>
      </p:sp>
      <p:sp>
        <p:nvSpPr>
          <p:cNvPr id="52" name="Shape 50"/>
          <p:cNvSpPr/>
          <p:nvPr/>
        </p:nvSpPr>
        <p:spPr>
          <a:xfrm>
            <a:off x="6080760" y="1700784"/>
            <a:ext cx="86868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117336" y="1751076"/>
            <a:ext cx="795528" cy="36576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2F3437"/>
                </a:solidFill>
              </a:rPr>
              <a:t>0624A04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6949440" y="1700784"/>
            <a:ext cx="91440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986016" y="1751076"/>
            <a:ext cx="841248" cy="36576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2F3437"/>
                </a:solidFill>
              </a:rPr>
              <a:t>4.379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7863840" y="1700784"/>
            <a:ext cx="283464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900416" y="1751076"/>
            <a:ext cx="2761488" cy="36576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2F3437"/>
                </a:solidFill>
              </a:rPr>
              <a:t>4.324 / 4.352 / 4.447 / #DIV/0! / #DIV/0!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10698480" y="1700784"/>
            <a:ext cx="64008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0735056" y="1751076"/>
            <a:ext cx="566928" cy="36576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2F3437"/>
                </a:solidFill>
              </a:rPr>
              <a:t>3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11338560" y="1700784"/>
            <a:ext cx="132588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1375136" y="1751076"/>
            <a:ext cx="1252728" cy="36576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2F3437"/>
                </a:solidFill>
              </a:rPr>
              <a:t>光学新测试标准，只测3盘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6080760" y="2139696"/>
            <a:ext cx="868680" cy="438912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117336" y="2189988"/>
            <a:ext cx="795528" cy="36576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2F3437"/>
                </a:solidFill>
              </a:rPr>
              <a:t>1217A05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6949440" y="2139696"/>
            <a:ext cx="914400" cy="438912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986016" y="2189988"/>
            <a:ext cx="841248" cy="36576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2F3437"/>
                </a:solidFill>
              </a:rPr>
              <a:t>1.487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7863840" y="2139696"/>
            <a:ext cx="2834640" cy="438912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900416" y="2189988"/>
            <a:ext cx="2761488" cy="36576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2F3437"/>
                </a:solidFill>
              </a:rPr>
              <a:t>0.562 / 0.544 / 0.450 / #DIV/0! / #DIV/0!</a:t>
            </a:r>
            <a:endParaRPr lang="en-US" sz="700" dirty="0"/>
          </a:p>
        </p:txBody>
      </p:sp>
      <p:sp>
        <p:nvSpPr>
          <p:cNvPr id="68" name="Shape 66"/>
          <p:cNvSpPr/>
          <p:nvPr/>
        </p:nvSpPr>
        <p:spPr>
          <a:xfrm>
            <a:off x="10698480" y="2139696"/>
            <a:ext cx="640080" cy="438912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0735056" y="2189988"/>
            <a:ext cx="566928" cy="36576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2F3437"/>
                </a:solidFill>
              </a:rPr>
              <a:t>3</a:t>
            </a:r>
            <a:endParaRPr lang="en-US" sz="700" dirty="0"/>
          </a:p>
        </p:txBody>
      </p:sp>
      <p:sp>
        <p:nvSpPr>
          <p:cNvPr id="70" name="Shape 68"/>
          <p:cNvSpPr/>
          <p:nvPr/>
        </p:nvSpPr>
        <p:spPr>
          <a:xfrm>
            <a:off x="11338560" y="2139696"/>
            <a:ext cx="1325880" cy="438912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1375136" y="2189988"/>
            <a:ext cx="1252728" cy="36576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2F3437"/>
                </a:solidFill>
              </a:rPr>
              <a:t>-</a:t>
            </a:r>
            <a:endParaRPr lang="en-US" sz="700" dirty="0"/>
          </a:p>
        </p:txBody>
      </p:sp>
      <p:sp>
        <p:nvSpPr>
          <p:cNvPr id="72" name="Shape 70"/>
          <p:cNvSpPr/>
          <p:nvPr/>
        </p:nvSpPr>
        <p:spPr>
          <a:xfrm>
            <a:off x="6080760" y="2578608"/>
            <a:ext cx="86868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117336" y="2628900"/>
            <a:ext cx="795528" cy="36576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2F3437"/>
                </a:solidFill>
              </a:rPr>
              <a:t>0311A04</a:t>
            </a:r>
            <a:endParaRPr lang="en-US" sz="700" dirty="0"/>
          </a:p>
        </p:txBody>
      </p:sp>
      <p:sp>
        <p:nvSpPr>
          <p:cNvPr id="74" name="Shape 72"/>
          <p:cNvSpPr/>
          <p:nvPr/>
        </p:nvSpPr>
        <p:spPr>
          <a:xfrm>
            <a:off x="6949440" y="2578608"/>
            <a:ext cx="91440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986016" y="2628900"/>
            <a:ext cx="841248" cy="36576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2F3437"/>
                </a:solidFill>
              </a:rPr>
              <a:t>0.677</a:t>
            </a:r>
            <a:endParaRPr lang="en-US" sz="700" dirty="0"/>
          </a:p>
        </p:txBody>
      </p:sp>
      <p:sp>
        <p:nvSpPr>
          <p:cNvPr id="76" name="Shape 74"/>
          <p:cNvSpPr/>
          <p:nvPr/>
        </p:nvSpPr>
        <p:spPr>
          <a:xfrm>
            <a:off x="7863840" y="2578608"/>
            <a:ext cx="283464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900416" y="2628900"/>
            <a:ext cx="2761488" cy="36576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2F3437"/>
                </a:solidFill>
              </a:rPr>
              <a:t>0.549 / 0.571 / 0.577 / #DIV/0! / #DIV/0!</a:t>
            </a:r>
            <a:endParaRPr lang="en-US" sz="700" dirty="0"/>
          </a:p>
        </p:txBody>
      </p:sp>
      <p:sp>
        <p:nvSpPr>
          <p:cNvPr id="78" name="Shape 76"/>
          <p:cNvSpPr/>
          <p:nvPr/>
        </p:nvSpPr>
        <p:spPr>
          <a:xfrm>
            <a:off x="10698480" y="2578608"/>
            <a:ext cx="64008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10735056" y="2628900"/>
            <a:ext cx="566928" cy="36576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2F3437"/>
                </a:solidFill>
              </a:rPr>
              <a:t>3</a:t>
            </a:r>
            <a:endParaRPr lang="en-US" sz="700" dirty="0"/>
          </a:p>
        </p:txBody>
      </p:sp>
      <p:sp>
        <p:nvSpPr>
          <p:cNvPr id="80" name="Shape 78"/>
          <p:cNvSpPr/>
          <p:nvPr/>
        </p:nvSpPr>
        <p:spPr>
          <a:xfrm>
            <a:off x="11338560" y="2578608"/>
            <a:ext cx="132588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11375136" y="2628900"/>
            <a:ext cx="1252728" cy="36576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2F3437"/>
                </a:solidFill>
              </a:rPr>
              <a:t>-</a:t>
            </a:r>
            <a:endParaRPr lang="en-US" sz="700" dirty="0"/>
          </a:p>
        </p:txBody>
      </p:sp>
      <p:sp>
        <p:nvSpPr>
          <p:cNvPr id="82" name="Shape 80"/>
          <p:cNvSpPr/>
          <p:nvPr/>
        </p:nvSpPr>
        <p:spPr>
          <a:xfrm>
            <a:off x="6080760" y="3017520"/>
            <a:ext cx="868680" cy="438912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117336" y="3067812"/>
            <a:ext cx="795528" cy="36576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2F3437"/>
                </a:solidFill>
              </a:rPr>
              <a:t>0624A01</a:t>
            </a:r>
            <a:endParaRPr lang="en-US" sz="700" dirty="0"/>
          </a:p>
        </p:txBody>
      </p:sp>
      <p:sp>
        <p:nvSpPr>
          <p:cNvPr id="84" name="Shape 82"/>
          <p:cNvSpPr/>
          <p:nvPr/>
        </p:nvSpPr>
        <p:spPr>
          <a:xfrm>
            <a:off x="6949440" y="3017520"/>
            <a:ext cx="914400" cy="438912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986016" y="3067812"/>
            <a:ext cx="841248" cy="36576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2F3437"/>
                </a:solidFill>
              </a:rPr>
              <a:t>1.633</a:t>
            </a:r>
            <a:endParaRPr lang="en-US" sz="700" dirty="0"/>
          </a:p>
        </p:txBody>
      </p:sp>
      <p:sp>
        <p:nvSpPr>
          <p:cNvPr id="86" name="Shape 84"/>
          <p:cNvSpPr/>
          <p:nvPr/>
        </p:nvSpPr>
        <p:spPr>
          <a:xfrm>
            <a:off x="7863840" y="3017520"/>
            <a:ext cx="2834640" cy="438912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900416" y="3067812"/>
            <a:ext cx="2761488" cy="36576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2F3437"/>
                </a:solidFill>
              </a:rPr>
              <a:t>0.448 / 0.860 / 0.454 / #DIV/0! / #DIV/0!</a:t>
            </a:r>
            <a:endParaRPr lang="en-US" sz="700" dirty="0"/>
          </a:p>
        </p:txBody>
      </p:sp>
      <p:sp>
        <p:nvSpPr>
          <p:cNvPr id="88" name="Shape 86"/>
          <p:cNvSpPr/>
          <p:nvPr/>
        </p:nvSpPr>
        <p:spPr>
          <a:xfrm>
            <a:off x="10698480" y="3017520"/>
            <a:ext cx="640080" cy="438912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10735056" y="3067812"/>
            <a:ext cx="566928" cy="36576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2F3437"/>
                </a:solidFill>
              </a:rPr>
              <a:t>3</a:t>
            </a:r>
            <a:endParaRPr lang="en-US" sz="700" dirty="0"/>
          </a:p>
        </p:txBody>
      </p:sp>
      <p:sp>
        <p:nvSpPr>
          <p:cNvPr id="90" name="Shape 88"/>
          <p:cNvSpPr/>
          <p:nvPr/>
        </p:nvSpPr>
        <p:spPr>
          <a:xfrm>
            <a:off x="11338560" y="3017520"/>
            <a:ext cx="1325880" cy="438912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11375136" y="3067812"/>
            <a:ext cx="1252728" cy="36576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2F3437"/>
                </a:solidFill>
              </a:rPr>
              <a:t>-</a:t>
            </a:r>
            <a:endParaRPr lang="en-US" sz="700" dirty="0"/>
          </a:p>
        </p:txBody>
      </p:sp>
      <p:sp>
        <p:nvSpPr>
          <p:cNvPr id="92" name="Shape 90"/>
          <p:cNvSpPr/>
          <p:nvPr/>
        </p:nvSpPr>
        <p:spPr>
          <a:xfrm>
            <a:off x="6080760" y="3456432"/>
            <a:ext cx="86868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6117336" y="3506724"/>
            <a:ext cx="795528" cy="36576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2F3437"/>
                </a:solidFill>
              </a:rPr>
              <a:t>0624A05</a:t>
            </a:r>
            <a:endParaRPr lang="en-US" sz="700" dirty="0"/>
          </a:p>
        </p:txBody>
      </p:sp>
      <p:sp>
        <p:nvSpPr>
          <p:cNvPr id="94" name="Shape 92"/>
          <p:cNvSpPr/>
          <p:nvPr/>
        </p:nvSpPr>
        <p:spPr>
          <a:xfrm>
            <a:off x="6949440" y="3456432"/>
            <a:ext cx="91440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6986016" y="3506724"/>
            <a:ext cx="841248" cy="36576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2F3437"/>
                </a:solidFill>
              </a:rPr>
              <a:t>6.839</a:t>
            </a:r>
            <a:endParaRPr lang="en-US" sz="700" dirty="0"/>
          </a:p>
        </p:txBody>
      </p:sp>
      <p:sp>
        <p:nvSpPr>
          <p:cNvPr id="96" name="Shape 94"/>
          <p:cNvSpPr/>
          <p:nvPr/>
        </p:nvSpPr>
        <p:spPr>
          <a:xfrm>
            <a:off x="7863840" y="3456432"/>
            <a:ext cx="283464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7900416" y="3506724"/>
            <a:ext cx="2761488" cy="36576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2F3437"/>
                </a:solidFill>
              </a:rPr>
              <a:t>6.743 / 6.944 / 6.898 / #DIV/0! / #DIV/0!</a:t>
            </a:r>
            <a:endParaRPr lang="en-US" sz="700" dirty="0"/>
          </a:p>
        </p:txBody>
      </p:sp>
      <p:sp>
        <p:nvSpPr>
          <p:cNvPr id="98" name="Shape 96"/>
          <p:cNvSpPr/>
          <p:nvPr/>
        </p:nvSpPr>
        <p:spPr>
          <a:xfrm>
            <a:off x="10698480" y="3456432"/>
            <a:ext cx="64008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10735056" y="3506724"/>
            <a:ext cx="566928" cy="36576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2F3437"/>
                </a:solidFill>
              </a:rPr>
              <a:t>3</a:t>
            </a:r>
            <a:endParaRPr lang="en-US" sz="700" dirty="0"/>
          </a:p>
        </p:txBody>
      </p:sp>
      <p:sp>
        <p:nvSpPr>
          <p:cNvPr id="100" name="Shape 98"/>
          <p:cNvSpPr/>
          <p:nvPr/>
        </p:nvSpPr>
        <p:spPr>
          <a:xfrm>
            <a:off x="11338560" y="3456432"/>
            <a:ext cx="132588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11375136" y="3506724"/>
            <a:ext cx="1252728" cy="36576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2F3437"/>
                </a:solidFill>
              </a:rPr>
              <a:t>-</a:t>
            </a:r>
            <a:endParaRPr lang="en-US" sz="700" dirty="0"/>
          </a:p>
        </p:txBody>
      </p:sp>
      <p:sp>
        <p:nvSpPr>
          <p:cNvPr id="102" name="Shape 100"/>
          <p:cNvSpPr/>
          <p:nvPr/>
        </p:nvSpPr>
        <p:spPr>
          <a:xfrm>
            <a:off x="777240" y="5166360"/>
            <a:ext cx="10149840" cy="566928"/>
          </a:xfrm>
          <a:prstGeom prst="roundRect">
            <a:avLst>
              <a:gd name="adj" fmla="val 9677"/>
            </a:avLst>
          </a:prstGeom>
          <a:solidFill>
            <a:srgbClr val="FFF7ED"/>
          </a:solidFill>
          <a:ln w="10160">
            <a:solidFill>
              <a:srgbClr val="FED7AA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960120" y="5358384"/>
            <a:ext cx="9784080" cy="14630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2F3437"/>
                </a:solidFill>
              </a:rPr>
              <a:t>数据口径风险：latest 1020k 与早期 5-plate 数据不完全可比。A05 的异常仍然成立，因为 3 个有效 plate 同时偏高；但其他样机的 latest CV 应谨慎横向比较。</a:t>
            </a:r>
            <a:endParaRPr lang="en-US" sz="107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83464"/>
            <a:ext cx="932688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50" b="1" dirty="0">
                <a:solidFill>
                  <a:srgbClr val="2168D3"/>
                </a:solidFill>
              </a:rPr>
              <a:t>6. 异常节点时间线：吸水/LOW %D 与 optical 峰值的关系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502920" y="667512"/>
            <a:ext cx="1028700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87384"/>
                </a:solidFill>
              </a:rPr>
              <a:t>异常并非只在终点出现；A04、A01、1217A05 的关键证据集中在中早期。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104120" y="310896"/>
            <a:ext cx="14173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2168D3"/>
                </a:solidFill>
              </a:rPr>
              <a:t>Opentrons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960120"/>
            <a:ext cx="1083564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47104"/>
            <a:ext cx="475488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87384"/>
                </a:solidFill>
              </a:rPr>
              <a:t>P1000H O-ring Data Analysis | 2026-06-04 | 7/13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502920" y="1143000"/>
            <a:ext cx="960120" cy="475488"/>
          </a:xfrm>
          <a:prstGeom prst="rect">
            <a:avLst/>
          </a:prstGeom>
          <a:solidFill>
            <a:srgbClr val="2168D3"/>
          </a:solidFill>
          <a:ln w="6350">
            <a:solidFill>
              <a:srgbClr val="2168D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9496" y="1197864"/>
            <a:ext cx="886968" cy="40233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60" b="1" dirty="0">
                <a:solidFill>
                  <a:srgbClr val="FFFFFF"/>
                </a:solidFill>
              </a:rPr>
              <a:t>Cycle</a:t>
            </a:r>
            <a:endParaRPr lang="en-US" sz="860" dirty="0"/>
          </a:p>
        </p:txBody>
      </p:sp>
      <p:sp>
        <p:nvSpPr>
          <p:cNvPr id="9" name="Shape 7"/>
          <p:cNvSpPr/>
          <p:nvPr/>
        </p:nvSpPr>
        <p:spPr>
          <a:xfrm>
            <a:off x="1463040" y="1143000"/>
            <a:ext cx="1005840" cy="475488"/>
          </a:xfrm>
          <a:prstGeom prst="rect">
            <a:avLst/>
          </a:prstGeom>
          <a:solidFill>
            <a:srgbClr val="2168D3"/>
          </a:solidFill>
          <a:ln w="6350">
            <a:solidFill>
              <a:srgbClr val="2168D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99616" y="1197864"/>
            <a:ext cx="932688" cy="40233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60" b="1" dirty="0">
                <a:solidFill>
                  <a:srgbClr val="FFFFFF"/>
                </a:solidFill>
              </a:rPr>
              <a:t>Unit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2468880" y="1143000"/>
            <a:ext cx="6766560" cy="475488"/>
          </a:xfrm>
          <a:prstGeom prst="rect">
            <a:avLst/>
          </a:prstGeom>
          <a:solidFill>
            <a:srgbClr val="2168D3"/>
          </a:solidFill>
          <a:ln w="6350">
            <a:solidFill>
              <a:srgbClr val="2168D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05456" y="1197864"/>
            <a:ext cx="6693408" cy="40233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60" b="1" dirty="0">
                <a:solidFill>
                  <a:srgbClr val="FFFFFF"/>
                </a:solidFill>
              </a:rPr>
              <a:t>Observed data / note</a:t>
            </a:r>
            <a:endParaRPr lang="en-US" sz="860" dirty="0"/>
          </a:p>
        </p:txBody>
      </p:sp>
      <p:sp>
        <p:nvSpPr>
          <p:cNvPr id="13" name="Shape 11"/>
          <p:cNvSpPr/>
          <p:nvPr/>
        </p:nvSpPr>
        <p:spPr>
          <a:xfrm>
            <a:off x="9235440" y="1143000"/>
            <a:ext cx="1828800" cy="475488"/>
          </a:xfrm>
          <a:prstGeom prst="rect">
            <a:avLst/>
          </a:prstGeom>
          <a:solidFill>
            <a:srgbClr val="2168D3"/>
          </a:solidFill>
          <a:ln w="6350">
            <a:solidFill>
              <a:srgbClr val="2168D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72016" y="1197864"/>
            <a:ext cx="1755648" cy="40233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60" b="1" dirty="0">
                <a:solidFill>
                  <a:srgbClr val="FFFFFF"/>
                </a:solidFill>
              </a:rPr>
              <a:t>Evidence type</a:t>
            </a:r>
            <a:endParaRPr lang="en-US" sz="860" dirty="0"/>
          </a:p>
        </p:txBody>
      </p:sp>
      <p:sp>
        <p:nvSpPr>
          <p:cNvPr id="15" name="Shape 13"/>
          <p:cNvSpPr/>
          <p:nvPr/>
        </p:nvSpPr>
        <p:spPr>
          <a:xfrm>
            <a:off x="502920" y="1618488"/>
            <a:ext cx="96012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9496" y="1668780"/>
            <a:ext cx="886968" cy="40233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2F3437"/>
                </a:solidFill>
              </a:rPr>
              <a:t>100k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1463040" y="1618488"/>
            <a:ext cx="100584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99616" y="1668780"/>
            <a:ext cx="932688" cy="40233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2F3437"/>
                </a:solidFill>
              </a:rPr>
              <a:t>0624A04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2468880" y="1618488"/>
            <a:ext cx="676656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05456" y="1668780"/>
            <a:ext cx="6693408" cy="40233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2F3437"/>
                </a:solidFill>
              </a:rPr>
              <a:t>F1 LOW %D in plate5</a:t>
            </a:r>
            <a:endParaRPr lang="en-US" sz="820" dirty="0"/>
          </a:p>
        </p:txBody>
      </p:sp>
      <p:sp>
        <p:nvSpPr>
          <p:cNvPr id="21" name="Shape 19"/>
          <p:cNvSpPr/>
          <p:nvPr/>
        </p:nvSpPr>
        <p:spPr>
          <a:xfrm>
            <a:off x="9235440" y="1618488"/>
            <a:ext cx="182880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72016" y="1668780"/>
            <a:ext cx="1755648" cy="40233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2F3437"/>
                </a:solidFill>
              </a:rPr>
              <a:t>吸水异常</a:t>
            </a:r>
            <a:endParaRPr lang="en-US" sz="820" dirty="0"/>
          </a:p>
        </p:txBody>
      </p:sp>
      <p:sp>
        <p:nvSpPr>
          <p:cNvPr id="23" name="Shape 21"/>
          <p:cNvSpPr/>
          <p:nvPr/>
        </p:nvSpPr>
        <p:spPr>
          <a:xfrm>
            <a:off x="502920" y="2093976"/>
            <a:ext cx="960120" cy="475488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9496" y="2144268"/>
            <a:ext cx="886968" cy="40233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2F3437"/>
                </a:solidFill>
              </a:rPr>
              <a:t>195k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1463040" y="2093976"/>
            <a:ext cx="1005840" cy="475488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499616" y="2144268"/>
            <a:ext cx="932688" cy="40233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2F3437"/>
                </a:solidFill>
              </a:rPr>
              <a:t>0624A01</a:t>
            </a:r>
            <a:endParaRPr lang="en-US" sz="820" dirty="0"/>
          </a:p>
        </p:txBody>
      </p:sp>
      <p:sp>
        <p:nvSpPr>
          <p:cNvPr id="27" name="Shape 25"/>
          <p:cNvSpPr/>
          <p:nvPr/>
        </p:nvSpPr>
        <p:spPr>
          <a:xfrm>
            <a:off x="2468880" y="2093976"/>
            <a:ext cx="6766560" cy="475488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05456" y="2144268"/>
            <a:ext cx="6693408" cy="40233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2F3437"/>
                </a:solidFill>
              </a:rPr>
              <a:t>H1 LOW %D plate2; G12 LOW %D plate3; worst CV 13.397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9235440" y="2093976"/>
            <a:ext cx="1828800" cy="475488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272016" y="2144268"/>
            <a:ext cx="1755648" cy="40233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2F3437"/>
                </a:solidFill>
              </a:rPr>
              <a:t>吸水 + 通道峰值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502920" y="2569464"/>
            <a:ext cx="96012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9496" y="2619756"/>
            <a:ext cx="886968" cy="40233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2F3437"/>
                </a:solidFill>
              </a:rPr>
              <a:t>260k</a:t>
            </a:r>
            <a:endParaRPr lang="en-US" sz="820" dirty="0"/>
          </a:p>
        </p:txBody>
      </p:sp>
      <p:sp>
        <p:nvSpPr>
          <p:cNvPr id="33" name="Shape 31"/>
          <p:cNvSpPr/>
          <p:nvPr/>
        </p:nvSpPr>
        <p:spPr>
          <a:xfrm>
            <a:off x="1463040" y="2569464"/>
            <a:ext cx="100584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499616" y="2619756"/>
            <a:ext cx="932688" cy="40233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2F3437"/>
                </a:solidFill>
              </a:rPr>
              <a:t>0624A04</a:t>
            </a:r>
            <a:endParaRPr lang="en-US" sz="820" dirty="0"/>
          </a:p>
        </p:txBody>
      </p:sp>
      <p:sp>
        <p:nvSpPr>
          <p:cNvPr id="35" name="Shape 33"/>
          <p:cNvSpPr/>
          <p:nvPr/>
        </p:nvSpPr>
        <p:spPr>
          <a:xfrm>
            <a:off x="2468880" y="2569464"/>
            <a:ext cx="676656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505456" y="2619756"/>
            <a:ext cx="6693408" cy="40233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2F3437"/>
                </a:solidFill>
              </a:rPr>
              <a:t>A5 LOW %D plate4; CV 4.214</a:t>
            </a:r>
            <a:endParaRPr lang="en-US" sz="820" dirty="0"/>
          </a:p>
        </p:txBody>
      </p:sp>
      <p:sp>
        <p:nvSpPr>
          <p:cNvPr id="37" name="Shape 35"/>
          <p:cNvSpPr/>
          <p:nvPr/>
        </p:nvSpPr>
        <p:spPr>
          <a:xfrm>
            <a:off x="9235440" y="2569464"/>
            <a:ext cx="182880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272016" y="2619756"/>
            <a:ext cx="1755648" cy="40233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2F3437"/>
                </a:solidFill>
              </a:rPr>
              <a:t>吸水异常</a:t>
            </a:r>
            <a:endParaRPr lang="en-US" sz="820" dirty="0"/>
          </a:p>
        </p:txBody>
      </p:sp>
      <p:sp>
        <p:nvSpPr>
          <p:cNvPr id="39" name="Shape 37"/>
          <p:cNvSpPr/>
          <p:nvPr/>
        </p:nvSpPr>
        <p:spPr>
          <a:xfrm>
            <a:off x="502920" y="3044952"/>
            <a:ext cx="960120" cy="475488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9496" y="3095244"/>
            <a:ext cx="886968" cy="40233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2F3437"/>
                </a:solidFill>
              </a:rPr>
              <a:t>455k / 175%</a:t>
            </a:r>
            <a:endParaRPr lang="en-US" sz="820" dirty="0"/>
          </a:p>
        </p:txBody>
      </p:sp>
      <p:sp>
        <p:nvSpPr>
          <p:cNvPr id="41" name="Shape 39"/>
          <p:cNvSpPr/>
          <p:nvPr/>
        </p:nvSpPr>
        <p:spPr>
          <a:xfrm>
            <a:off x="1463040" y="3044952"/>
            <a:ext cx="1005840" cy="475488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499616" y="3095244"/>
            <a:ext cx="932688" cy="40233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2F3437"/>
                </a:solidFill>
              </a:rPr>
              <a:t>1217A05</a:t>
            </a:r>
            <a:endParaRPr lang="en-US" sz="820" dirty="0"/>
          </a:p>
        </p:txBody>
      </p:sp>
      <p:sp>
        <p:nvSpPr>
          <p:cNvPr id="43" name="Shape 41"/>
          <p:cNvSpPr/>
          <p:nvPr/>
        </p:nvSpPr>
        <p:spPr>
          <a:xfrm>
            <a:off x="2468880" y="3044952"/>
            <a:ext cx="6766560" cy="475488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505456" y="3095244"/>
            <a:ext cx="6693408" cy="40233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2F3437"/>
                </a:solidFill>
              </a:rPr>
              <a:t>Explicit fail; C5/C7 aspirate less</a:t>
            </a:r>
            <a:endParaRPr lang="en-US" sz="820" dirty="0"/>
          </a:p>
        </p:txBody>
      </p:sp>
      <p:sp>
        <p:nvSpPr>
          <p:cNvPr id="45" name="Shape 43"/>
          <p:cNvSpPr/>
          <p:nvPr/>
        </p:nvSpPr>
        <p:spPr>
          <a:xfrm>
            <a:off x="9235440" y="3044952"/>
            <a:ext cx="1828800" cy="475488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272016" y="3095244"/>
            <a:ext cx="1755648" cy="40233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2F3437"/>
                </a:solidFill>
              </a:rPr>
              <a:t>明确吸水 fail</a:t>
            </a:r>
            <a:endParaRPr lang="en-US" sz="820" dirty="0"/>
          </a:p>
        </p:txBody>
      </p:sp>
      <p:sp>
        <p:nvSpPr>
          <p:cNvPr id="47" name="Shape 45"/>
          <p:cNvSpPr/>
          <p:nvPr/>
        </p:nvSpPr>
        <p:spPr>
          <a:xfrm>
            <a:off x="502920" y="3520440"/>
            <a:ext cx="96012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39496" y="3570732"/>
            <a:ext cx="886968" cy="40233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2F3437"/>
                </a:solidFill>
              </a:rPr>
              <a:t>520k</a:t>
            </a:r>
            <a:endParaRPr lang="en-US" sz="820" dirty="0"/>
          </a:p>
        </p:txBody>
      </p:sp>
      <p:sp>
        <p:nvSpPr>
          <p:cNvPr id="49" name="Shape 47"/>
          <p:cNvSpPr/>
          <p:nvPr/>
        </p:nvSpPr>
        <p:spPr>
          <a:xfrm>
            <a:off x="1463040" y="3520440"/>
            <a:ext cx="100584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499616" y="3570732"/>
            <a:ext cx="932688" cy="40233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2F3437"/>
                </a:solidFill>
              </a:rPr>
              <a:t>0624A04</a:t>
            </a:r>
            <a:endParaRPr lang="en-US" sz="820" dirty="0"/>
          </a:p>
        </p:txBody>
      </p:sp>
      <p:sp>
        <p:nvSpPr>
          <p:cNvPr id="51" name="Shape 49"/>
          <p:cNvSpPr/>
          <p:nvPr/>
        </p:nvSpPr>
        <p:spPr>
          <a:xfrm>
            <a:off x="2468880" y="3520440"/>
            <a:ext cx="676656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505456" y="3570732"/>
            <a:ext cx="6693408" cy="40233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2F3437"/>
                </a:solidFill>
              </a:rPr>
              <a:t>Oil leak / sensor error; CV 5.642; worst 11.204</a:t>
            </a:r>
            <a:endParaRPr lang="en-US" sz="820" dirty="0"/>
          </a:p>
        </p:txBody>
      </p:sp>
      <p:sp>
        <p:nvSpPr>
          <p:cNvPr id="53" name="Shape 51"/>
          <p:cNvSpPr/>
          <p:nvPr/>
        </p:nvSpPr>
        <p:spPr>
          <a:xfrm>
            <a:off x="9235440" y="3520440"/>
            <a:ext cx="182880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272016" y="3570732"/>
            <a:ext cx="1755648" cy="40233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2F3437"/>
                </a:solidFill>
              </a:rPr>
              <a:t>事件 + 光学峰值</a:t>
            </a:r>
            <a:endParaRPr lang="en-US" sz="820" dirty="0"/>
          </a:p>
        </p:txBody>
      </p:sp>
      <p:sp>
        <p:nvSpPr>
          <p:cNvPr id="55" name="Shape 53"/>
          <p:cNvSpPr/>
          <p:nvPr/>
        </p:nvSpPr>
        <p:spPr>
          <a:xfrm>
            <a:off x="502920" y="3995928"/>
            <a:ext cx="960120" cy="475488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39496" y="4046220"/>
            <a:ext cx="886968" cy="40233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2F3437"/>
                </a:solidFill>
              </a:rPr>
              <a:t>520k</a:t>
            </a:r>
            <a:endParaRPr lang="en-US" sz="820" dirty="0"/>
          </a:p>
        </p:txBody>
      </p:sp>
      <p:sp>
        <p:nvSpPr>
          <p:cNvPr id="57" name="Shape 55"/>
          <p:cNvSpPr/>
          <p:nvPr/>
        </p:nvSpPr>
        <p:spPr>
          <a:xfrm>
            <a:off x="1463040" y="3995928"/>
            <a:ext cx="1005840" cy="475488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499616" y="4046220"/>
            <a:ext cx="932688" cy="40233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2F3437"/>
                </a:solidFill>
              </a:rPr>
              <a:t>0624A01</a:t>
            </a:r>
            <a:endParaRPr lang="en-US" sz="820" dirty="0"/>
          </a:p>
        </p:txBody>
      </p:sp>
      <p:sp>
        <p:nvSpPr>
          <p:cNvPr id="59" name="Shape 57"/>
          <p:cNvSpPr/>
          <p:nvPr/>
        </p:nvSpPr>
        <p:spPr>
          <a:xfrm>
            <a:off x="2468880" y="3995928"/>
            <a:ext cx="6766560" cy="475488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505456" y="4046220"/>
            <a:ext cx="6693408" cy="40233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2F3437"/>
                </a:solidFill>
              </a:rPr>
              <a:t>Max CV 8.406</a:t>
            </a:r>
            <a:endParaRPr lang="en-US" sz="820" dirty="0"/>
          </a:p>
        </p:txBody>
      </p:sp>
      <p:sp>
        <p:nvSpPr>
          <p:cNvPr id="61" name="Shape 59"/>
          <p:cNvSpPr/>
          <p:nvPr/>
        </p:nvSpPr>
        <p:spPr>
          <a:xfrm>
            <a:off x="9235440" y="3995928"/>
            <a:ext cx="1828800" cy="475488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272016" y="4046220"/>
            <a:ext cx="1755648" cy="40233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2F3437"/>
                </a:solidFill>
              </a:rPr>
              <a:t>光学峰值</a:t>
            </a:r>
            <a:endParaRPr lang="en-US" sz="820" dirty="0"/>
          </a:p>
        </p:txBody>
      </p:sp>
      <p:sp>
        <p:nvSpPr>
          <p:cNvPr id="63" name="Shape 61"/>
          <p:cNvSpPr/>
          <p:nvPr/>
        </p:nvSpPr>
        <p:spPr>
          <a:xfrm>
            <a:off x="502920" y="4471416"/>
            <a:ext cx="96012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39496" y="4521708"/>
            <a:ext cx="886968" cy="40233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2F3437"/>
                </a:solidFill>
              </a:rPr>
              <a:t>1020k</a:t>
            </a:r>
            <a:endParaRPr lang="en-US" sz="820" dirty="0"/>
          </a:p>
        </p:txBody>
      </p:sp>
      <p:sp>
        <p:nvSpPr>
          <p:cNvPr id="65" name="Shape 63"/>
          <p:cNvSpPr/>
          <p:nvPr/>
        </p:nvSpPr>
        <p:spPr>
          <a:xfrm>
            <a:off x="1463040" y="4471416"/>
            <a:ext cx="100584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499616" y="4521708"/>
            <a:ext cx="932688" cy="40233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2F3437"/>
                </a:solidFill>
              </a:rPr>
              <a:t>0624A05</a:t>
            </a:r>
            <a:endParaRPr lang="en-US" sz="820" dirty="0"/>
          </a:p>
        </p:txBody>
      </p:sp>
      <p:sp>
        <p:nvSpPr>
          <p:cNvPr id="67" name="Shape 65"/>
          <p:cNvSpPr/>
          <p:nvPr/>
        </p:nvSpPr>
        <p:spPr>
          <a:xfrm>
            <a:off x="2468880" y="4471416"/>
            <a:ext cx="676656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505456" y="4521708"/>
            <a:ext cx="6693408" cy="40233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2F3437"/>
                </a:solidFill>
              </a:rPr>
              <a:t>Latest CV 6.839; plate1-3 all high</a:t>
            </a:r>
            <a:endParaRPr lang="en-US" sz="820" dirty="0"/>
          </a:p>
        </p:txBody>
      </p:sp>
      <p:sp>
        <p:nvSpPr>
          <p:cNvPr id="69" name="Shape 67"/>
          <p:cNvSpPr/>
          <p:nvPr/>
        </p:nvSpPr>
        <p:spPr>
          <a:xfrm>
            <a:off x="9235440" y="4471416"/>
            <a:ext cx="182880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9272016" y="4521708"/>
            <a:ext cx="1755648" cy="40233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2F3437"/>
                </a:solidFill>
              </a:rPr>
              <a:t>终点整体偏高</a:t>
            </a:r>
            <a:endParaRPr lang="en-US" sz="820" dirty="0"/>
          </a:p>
        </p:txBody>
      </p:sp>
      <p:sp>
        <p:nvSpPr>
          <p:cNvPr id="71" name="Shape 69"/>
          <p:cNvSpPr/>
          <p:nvPr/>
        </p:nvSpPr>
        <p:spPr>
          <a:xfrm>
            <a:off x="502920" y="4946904"/>
            <a:ext cx="960120" cy="475488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39496" y="4997196"/>
            <a:ext cx="886968" cy="40233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2F3437"/>
                </a:solidFill>
              </a:rPr>
              <a:t>1020k</a:t>
            </a:r>
            <a:endParaRPr lang="en-US" sz="820" dirty="0"/>
          </a:p>
        </p:txBody>
      </p:sp>
      <p:sp>
        <p:nvSpPr>
          <p:cNvPr id="73" name="Shape 71"/>
          <p:cNvSpPr/>
          <p:nvPr/>
        </p:nvSpPr>
        <p:spPr>
          <a:xfrm>
            <a:off x="1463040" y="4946904"/>
            <a:ext cx="1005840" cy="475488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499616" y="4997196"/>
            <a:ext cx="932688" cy="40233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2F3437"/>
                </a:solidFill>
              </a:rPr>
              <a:t>All</a:t>
            </a:r>
            <a:endParaRPr lang="en-US" sz="820" dirty="0"/>
          </a:p>
        </p:txBody>
      </p:sp>
      <p:sp>
        <p:nvSpPr>
          <p:cNvPr id="75" name="Shape 73"/>
          <p:cNvSpPr/>
          <p:nvPr/>
        </p:nvSpPr>
        <p:spPr>
          <a:xfrm>
            <a:off x="2468880" y="4946904"/>
            <a:ext cx="6766560" cy="475488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2505456" y="4997196"/>
            <a:ext cx="6693408" cy="40233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2F3437"/>
                </a:solidFill>
              </a:rPr>
              <a:t>Only 3 valid plates; plate4/5 #DIV/0!</a:t>
            </a:r>
            <a:endParaRPr lang="en-US" sz="820" dirty="0"/>
          </a:p>
        </p:txBody>
      </p:sp>
      <p:sp>
        <p:nvSpPr>
          <p:cNvPr id="77" name="Shape 75"/>
          <p:cNvSpPr/>
          <p:nvPr/>
        </p:nvSpPr>
        <p:spPr>
          <a:xfrm>
            <a:off x="9235440" y="4946904"/>
            <a:ext cx="1828800" cy="475488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9272016" y="4997196"/>
            <a:ext cx="1755648" cy="40233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2F3437"/>
                </a:solidFill>
              </a:rPr>
              <a:t>数据口径变化</a:t>
            </a:r>
            <a:endParaRPr lang="en-US" sz="820" dirty="0"/>
          </a:p>
        </p:txBody>
      </p:sp>
      <p:sp>
        <p:nvSpPr>
          <p:cNvPr id="79" name="Text 77"/>
          <p:cNvSpPr/>
          <p:nvPr/>
        </p:nvSpPr>
        <p:spPr>
          <a:xfrm>
            <a:off x="685800" y="5486400"/>
            <a:ext cx="10149840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2F3437"/>
                </a:solidFill>
              </a:rPr>
              <a:t>分析重点：O-ring 风险不是只由某一个 CV 数值决定，而是由“吸水异常 + 通道定位 + CV 峰值 + 事件记录”共同决定。</a:t>
            </a:r>
            <a:endParaRPr lang="en-US" sz="12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83464"/>
            <a:ext cx="932688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50" b="1" dirty="0">
                <a:solidFill>
                  <a:srgbClr val="2168D3"/>
                </a:solidFill>
              </a:rPr>
              <a:t>7. 逐台数据矩阵：latest、peak、异常记录并列比较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502920" y="667512"/>
            <a:ext cx="1028700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87384"/>
                </a:solidFill>
              </a:rPr>
              <a:t>这一页是样机级数据总表，供后续 review 和 root-cause 排查使用。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104120" y="310896"/>
            <a:ext cx="14173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2168D3"/>
                </a:solidFill>
              </a:rPr>
              <a:t>Opentrons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960120"/>
            <a:ext cx="1083564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47104"/>
            <a:ext cx="475488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87384"/>
                </a:solidFill>
              </a:rPr>
              <a:t>P1000H O-ring Data Analysis | 2026-06-04 | 8/13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411480" y="1097280"/>
            <a:ext cx="822960" cy="630936"/>
          </a:xfrm>
          <a:prstGeom prst="rect">
            <a:avLst/>
          </a:prstGeom>
          <a:solidFill>
            <a:srgbClr val="2168D3"/>
          </a:solidFill>
          <a:ln w="6350">
            <a:solidFill>
              <a:srgbClr val="2168D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056" y="1152144"/>
            <a:ext cx="749808" cy="55778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</a:rPr>
              <a:t>Unit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1234440" y="1097280"/>
            <a:ext cx="685800" cy="630936"/>
          </a:xfrm>
          <a:prstGeom prst="rect">
            <a:avLst/>
          </a:prstGeom>
          <a:solidFill>
            <a:srgbClr val="2168D3"/>
          </a:solidFill>
          <a:ln w="6350">
            <a:solidFill>
              <a:srgbClr val="2168D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71016" y="1152144"/>
            <a:ext cx="612648" cy="55778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</a:rPr>
              <a:t>Risk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1920240" y="1097280"/>
            <a:ext cx="914400" cy="630936"/>
          </a:xfrm>
          <a:prstGeom prst="rect">
            <a:avLst/>
          </a:prstGeom>
          <a:solidFill>
            <a:srgbClr val="2168D3"/>
          </a:solidFill>
          <a:ln w="6350">
            <a:solidFill>
              <a:srgbClr val="2168D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56816" y="1152144"/>
            <a:ext cx="841248" cy="55778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</a:rPr>
              <a:t>Latest CV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834640" y="1097280"/>
            <a:ext cx="1417320" cy="630936"/>
          </a:xfrm>
          <a:prstGeom prst="rect">
            <a:avLst/>
          </a:prstGeom>
          <a:solidFill>
            <a:srgbClr val="2168D3"/>
          </a:solidFill>
          <a:ln w="6350">
            <a:solidFill>
              <a:srgbClr val="2168D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71216" y="1152144"/>
            <a:ext cx="1344168" cy="55778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</a:rPr>
              <a:t>Max CV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251960" y="1097280"/>
            <a:ext cx="1691640" cy="630936"/>
          </a:xfrm>
          <a:prstGeom prst="rect">
            <a:avLst/>
          </a:prstGeom>
          <a:solidFill>
            <a:srgbClr val="2168D3"/>
          </a:solidFill>
          <a:ln w="6350">
            <a:solidFill>
              <a:srgbClr val="2168D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88536" y="1152144"/>
            <a:ext cx="1618488" cy="55778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</a:rPr>
              <a:t>Max worst CV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5943600" y="1097280"/>
            <a:ext cx="5852160" cy="630936"/>
          </a:xfrm>
          <a:prstGeom prst="rect">
            <a:avLst/>
          </a:prstGeom>
          <a:solidFill>
            <a:srgbClr val="2168D3"/>
          </a:solidFill>
          <a:ln w="6350">
            <a:solidFill>
              <a:srgbClr val="2168D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80176" y="1152144"/>
            <a:ext cx="5779008" cy="55778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</a:rPr>
              <a:t>Notes / fail evidence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411480" y="1728216"/>
            <a:ext cx="822960" cy="630936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8056" y="1778508"/>
            <a:ext cx="749808" cy="55778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2F3437"/>
                </a:solidFill>
              </a:rPr>
              <a:t>0624A04</a:t>
            </a:r>
            <a:endParaRPr lang="en-US" sz="720" dirty="0"/>
          </a:p>
        </p:txBody>
      </p:sp>
      <p:sp>
        <p:nvSpPr>
          <p:cNvPr id="21" name="Shape 19"/>
          <p:cNvSpPr/>
          <p:nvPr/>
        </p:nvSpPr>
        <p:spPr>
          <a:xfrm>
            <a:off x="1234440" y="1728216"/>
            <a:ext cx="685800" cy="630936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71016" y="1778508"/>
            <a:ext cx="612648" cy="55778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2F3437"/>
                </a:solidFill>
              </a:rPr>
              <a:t>High</a:t>
            </a:r>
            <a:endParaRPr lang="en-US" sz="720" dirty="0"/>
          </a:p>
        </p:txBody>
      </p:sp>
      <p:sp>
        <p:nvSpPr>
          <p:cNvPr id="23" name="Shape 21"/>
          <p:cNvSpPr/>
          <p:nvPr/>
        </p:nvSpPr>
        <p:spPr>
          <a:xfrm>
            <a:off x="1920240" y="1728216"/>
            <a:ext cx="914400" cy="630936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956816" y="1778508"/>
            <a:ext cx="841248" cy="55778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2F3437"/>
                </a:solidFill>
              </a:rPr>
              <a:t>4.379</a:t>
            </a:r>
            <a:endParaRPr lang="en-US" sz="720" dirty="0"/>
          </a:p>
        </p:txBody>
      </p:sp>
      <p:sp>
        <p:nvSpPr>
          <p:cNvPr id="25" name="Shape 23"/>
          <p:cNvSpPr/>
          <p:nvPr/>
        </p:nvSpPr>
        <p:spPr>
          <a:xfrm>
            <a:off x="2834640" y="1728216"/>
            <a:ext cx="1417320" cy="630936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71216" y="1778508"/>
            <a:ext cx="1344168" cy="55778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2F3437"/>
                </a:solidFill>
              </a:rPr>
              <a:t>520k / 5.642</a:t>
            </a:r>
            <a:endParaRPr lang="en-US" sz="720" dirty="0"/>
          </a:p>
        </p:txBody>
      </p:sp>
      <p:sp>
        <p:nvSpPr>
          <p:cNvPr id="27" name="Shape 25"/>
          <p:cNvSpPr/>
          <p:nvPr/>
        </p:nvSpPr>
        <p:spPr>
          <a:xfrm>
            <a:off x="4251960" y="1728216"/>
            <a:ext cx="1691640" cy="630936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88536" y="1778508"/>
            <a:ext cx="1618488" cy="55778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2F3437"/>
                </a:solidFill>
              </a:rPr>
              <a:t>520k / 11.204</a:t>
            </a:r>
            <a:endParaRPr lang="en-US" sz="720" dirty="0"/>
          </a:p>
        </p:txBody>
      </p:sp>
      <p:sp>
        <p:nvSpPr>
          <p:cNvPr id="29" name="Shape 27"/>
          <p:cNvSpPr/>
          <p:nvPr/>
        </p:nvSpPr>
        <p:spPr>
          <a:xfrm>
            <a:off x="5943600" y="1728216"/>
            <a:ext cx="5852160" cy="630936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80176" y="1778508"/>
            <a:ext cx="5779008" cy="55778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2F3437"/>
                </a:solidFill>
              </a:rPr>
              <a:t>100k F1 LOW %D in plate5; 260k A5 LOW %D plate4; 520k 取针管报错丢步或撞击：漏油，背板内都是油，造成传感器报错; 1020k 光学新测试标准，只测3盘</a:t>
            </a:r>
            <a:endParaRPr lang="en-US" sz="720" dirty="0"/>
          </a:p>
        </p:txBody>
      </p:sp>
      <p:sp>
        <p:nvSpPr>
          <p:cNvPr id="31" name="Shape 29"/>
          <p:cNvSpPr/>
          <p:nvPr/>
        </p:nvSpPr>
        <p:spPr>
          <a:xfrm>
            <a:off x="411480" y="2359152"/>
            <a:ext cx="822960" cy="630936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48056" y="2409444"/>
            <a:ext cx="749808" cy="55778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2F3437"/>
                </a:solidFill>
              </a:rPr>
              <a:t>1217A05</a:t>
            </a:r>
            <a:endParaRPr lang="en-US" sz="720" dirty="0"/>
          </a:p>
        </p:txBody>
      </p:sp>
      <p:sp>
        <p:nvSpPr>
          <p:cNvPr id="33" name="Shape 31"/>
          <p:cNvSpPr/>
          <p:nvPr/>
        </p:nvSpPr>
        <p:spPr>
          <a:xfrm>
            <a:off x="1234440" y="2359152"/>
            <a:ext cx="685800" cy="630936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271016" y="2409444"/>
            <a:ext cx="612648" cy="55778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2F3437"/>
                </a:solidFill>
              </a:rPr>
              <a:t>High</a:t>
            </a:r>
            <a:endParaRPr lang="en-US" sz="720" dirty="0"/>
          </a:p>
        </p:txBody>
      </p:sp>
      <p:sp>
        <p:nvSpPr>
          <p:cNvPr id="35" name="Shape 33"/>
          <p:cNvSpPr/>
          <p:nvPr/>
        </p:nvSpPr>
        <p:spPr>
          <a:xfrm>
            <a:off x="1920240" y="2359152"/>
            <a:ext cx="914400" cy="630936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956816" y="2409444"/>
            <a:ext cx="841248" cy="55778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2F3437"/>
                </a:solidFill>
              </a:rPr>
              <a:t>1.487</a:t>
            </a:r>
            <a:endParaRPr lang="en-US" sz="720" dirty="0"/>
          </a:p>
        </p:txBody>
      </p:sp>
      <p:sp>
        <p:nvSpPr>
          <p:cNvPr id="37" name="Shape 35"/>
          <p:cNvSpPr/>
          <p:nvPr/>
        </p:nvSpPr>
        <p:spPr>
          <a:xfrm>
            <a:off x="2834640" y="2359152"/>
            <a:ext cx="1417320" cy="630936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871216" y="2409444"/>
            <a:ext cx="1344168" cy="55778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2F3437"/>
                </a:solidFill>
              </a:rPr>
              <a:t>520k / 6.195</a:t>
            </a:r>
            <a:endParaRPr lang="en-US" sz="720" dirty="0"/>
          </a:p>
        </p:txBody>
      </p:sp>
      <p:sp>
        <p:nvSpPr>
          <p:cNvPr id="39" name="Shape 37"/>
          <p:cNvSpPr/>
          <p:nvPr/>
        </p:nvSpPr>
        <p:spPr>
          <a:xfrm>
            <a:off x="4251960" y="2359152"/>
            <a:ext cx="1691640" cy="630936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288536" y="2409444"/>
            <a:ext cx="1618488" cy="55778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2F3437"/>
                </a:solidFill>
              </a:rPr>
              <a:t>520k / 7.419</a:t>
            </a:r>
            <a:endParaRPr lang="en-US" sz="720" dirty="0"/>
          </a:p>
        </p:txBody>
      </p:sp>
      <p:sp>
        <p:nvSpPr>
          <p:cNvPr id="41" name="Shape 39"/>
          <p:cNvSpPr/>
          <p:nvPr/>
        </p:nvSpPr>
        <p:spPr>
          <a:xfrm>
            <a:off x="5943600" y="2359152"/>
            <a:ext cx="5852160" cy="630936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80176" y="2409444"/>
            <a:ext cx="5779008" cy="55778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2F3437"/>
                </a:solidFill>
              </a:rPr>
              <a:t>455k C5 C7 2个通道吸水少</a:t>
            </a:r>
            <a:endParaRPr lang="en-US" sz="720" dirty="0"/>
          </a:p>
        </p:txBody>
      </p:sp>
      <p:sp>
        <p:nvSpPr>
          <p:cNvPr id="43" name="Shape 41"/>
          <p:cNvSpPr/>
          <p:nvPr/>
        </p:nvSpPr>
        <p:spPr>
          <a:xfrm>
            <a:off x="411480" y="2990088"/>
            <a:ext cx="822960" cy="630936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48056" y="3040380"/>
            <a:ext cx="749808" cy="55778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2F3437"/>
                </a:solidFill>
              </a:rPr>
              <a:t>0311A04</a:t>
            </a:r>
            <a:endParaRPr lang="en-US" sz="720" dirty="0"/>
          </a:p>
        </p:txBody>
      </p:sp>
      <p:sp>
        <p:nvSpPr>
          <p:cNvPr id="45" name="Shape 43"/>
          <p:cNvSpPr/>
          <p:nvPr/>
        </p:nvSpPr>
        <p:spPr>
          <a:xfrm>
            <a:off x="1234440" y="2990088"/>
            <a:ext cx="685800" cy="630936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271016" y="3040380"/>
            <a:ext cx="612648" cy="55778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2F3437"/>
                </a:solidFill>
              </a:rPr>
              <a:t>Low</a:t>
            </a:r>
            <a:endParaRPr lang="en-US" sz="720" dirty="0"/>
          </a:p>
        </p:txBody>
      </p:sp>
      <p:sp>
        <p:nvSpPr>
          <p:cNvPr id="47" name="Shape 45"/>
          <p:cNvSpPr/>
          <p:nvPr/>
        </p:nvSpPr>
        <p:spPr>
          <a:xfrm>
            <a:off x="1920240" y="2990088"/>
            <a:ext cx="914400" cy="630936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956816" y="3040380"/>
            <a:ext cx="841248" cy="55778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2F3437"/>
                </a:solidFill>
              </a:rPr>
              <a:t>0.677</a:t>
            </a:r>
            <a:endParaRPr lang="en-US" sz="720" dirty="0"/>
          </a:p>
        </p:txBody>
      </p:sp>
      <p:sp>
        <p:nvSpPr>
          <p:cNvPr id="49" name="Shape 47"/>
          <p:cNvSpPr/>
          <p:nvPr/>
        </p:nvSpPr>
        <p:spPr>
          <a:xfrm>
            <a:off x="2834640" y="2990088"/>
            <a:ext cx="1417320" cy="630936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871216" y="3040380"/>
            <a:ext cx="1344168" cy="55778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2F3437"/>
                </a:solidFill>
              </a:rPr>
              <a:t>0 / 1.957</a:t>
            </a:r>
            <a:endParaRPr lang="en-US" sz="720" dirty="0"/>
          </a:p>
        </p:txBody>
      </p:sp>
      <p:sp>
        <p:nvSpPr>
          <p:cNvPr id="51" name="Shape 49"/>
          <p:cNvSpPr/>
          <p:nvPr/>
        </p:nvSpPr>
        <p:spPr>
          <a:xfrm>
            <a:off x="4251960" y="2990088"/>
            <a:ext cx="1691640" cy="630936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288536" y="3040380"/>
            <a:ext cx="1618488" cy="55778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2F3437"/>
                </a:solidFill>
              </a:rPr>
              <a:t>195k / 3.158</a:t>
            </a:r>
            <a:endParaRPr lang="en-US" sz="720" dirty="0"/>
          </a:p>
        </p:txBody>
      </p:sp>
      <p:sp>
        <p:nvSpPr>
          <p:cNvPr id="53" name="Shape 51"/>
          <p:cNvSpPr/>
          <p:nvPr/>
        </p:nvSpPr>
        <p:spPr>
          <a:xfrm>
            <a:off x="5943600" y="2990088"/>
            <a:ext cx="5852160" cy="630936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980176" y="3040380"/>
            <a:ext cx="5779008" cy="55778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2F3437"/>
                </a:solidFill>
              </a:rPr>
              <a:t>-</a:t>
            </a:r>
            <a:endParaRPr lang="en-US" sz="720" dirty="0"/>
          </a:p>
        </p:txBody>
      </p:sp>
      <p:sp>
        <p:nvSpPr>
          <p:cNvPr id="55" name="Shape 53"/>
          <p:cNvSpPr/>
          <p:nvPr/>
        </p:nvSpPr>
        <p:spPr>
          <a:xfrm>
            <a:off x="411480" y="3621024"/>
            <a:ext cx="822960" cy="630936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48056" y="3671316"/>
            <a:ext cx="749808" cy="55778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2F3437"/>
                </a:solidFill>
              </a:rPr>
              <a:t>0624A01</a:t>
            </a:r>
            <a:endParaRPr lang="en-US" sz="720" dirty="0"/>
          </a:p>
        </p:txBody>
      </p:sp>
      <p:sp>
        <p:nvSpPr>
          <p:cNvPr id="57" name="Shape 55"/>
          <p:cNvSpPr/>
          <p:nvPr/>
        </p:nvSpPr>
        <p:spPr>
          <a:xfrm>
            <a:off x="1234440" y="3621024"/>
            <a:ext cx="685800" cy="630936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271016" y="3671316"/>
            <a:ext cx="612648" cy="55778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2F3437"/>
                </a:solidFill>
              </a:rPr>
              <a:t>Monitor</a:t>
            </a:r>
            <a:endParaRPr lang="en-US" sz="720" dirty="0"/>
          </a:p>
        </p:txBody>
      </p:sp>
      <p:sp>
        <p:nvSpPr>
          <p:cNvPr id="59" name="Shape 57"/>
          <p:cNvSpPr/>
          <p:nvPr/>
        </p:nvSpPr>
        <p:spPr>
          <a:xfrm>
            <a:off x="1920240" y="3621024"/>
            <a:ext cx="914400" cy="630936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956816" y="3671316"/>
            <a:ext cx="841248" cy="55778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2F3437"/>
                </a:solidFill>
              </a:rPr>
              <a:t>1.633</a:t>
            </a:r>
            <a:endParaRPr lang="en-US" sz="720" dirty="0"/>
          </a:p>
        </p:txBody>
      </p:sp>
      <p:sp>
        <p:nvSpPr>
          <p:cNvPr id="61" name="Shape 59"/>
          <p:cNvSpPr/>
          <p:nvPr/>
        </p:nvSpPr>
        <p:spPr>
          <a:xfrm>
            <a:off x="2834640" y="3621024"/>
            <a:ext cx="1417320" cy="630936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871216" y="3671316"/>
            <a:ext cx="1344168" cy="55778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2F3437"/>
                </a:solidFill>
              </a:rPr>
              <a:t>520k / 8.406</a:t>
            </a:r>
            <a:endParaRPr lang="en-US" sz="720" dirty="0"/>
          </a:p>
        </p:txBody>
      </p:sp>
      <p:sp>
        <p:nvSpPr>
          <p:cNvPr id="63" name="Shape 61"/>
          <p:cNvSpPr/>
          <p:nvPr/>
        </p:nvSpPr>
        <p:spPr>
          <a:xfrm>
            <a:off x="4251960" y="3621024"/>
            <a:ext cx="1691640" cy="630936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288536" y="3671316"/>
            <a:ext cx="1618488" cy="55778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2F3437"/>
                </a:solidFill>
              </a:rPr>
              <a:t>195k / 13.397</a:t>
            </a:r>
            <a:endParaRPr lang="en-US" sz="720" dirty="0"/>
          </a:p>
        </p:txBody>
      </p:sp>
      <p:sp>
        <p:nvSpPr>
          <p:cNvPr id="65" name="Shape 63"/>
          <p:cNvSpPr/>
          <p:nvPr/>
        </p:nvSpPr>
        <p:spPr>
          <a:xfrm>
            <a:off x="5943600" y="3621024"/>
            <a:ext cx="5852160" cy="630936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980176" y="3671316"/>
            <a:ext cx="5779008" cy="55778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2F3437"/>
                </a:solidFill>
              </a:rPr>
              <a:t>195k H1 LOW %D in plate2 G12 LOW %D in plate3; 920k 光学; - 光学</a:t>
            </a:r>
            <a:endParaRPr lang="en-US" sz="720" dirty="0"/>
          </a:p>
        </p:txBody>
      </p:sp>
      <p:sp>
        <p:nvSpPr>
          <p:cNvPr id="67" name="Shape 65"/>
          <p:cNvSpPr/>
          <p:nvPr/>
        </p:nvSpPr>
        <p:spPr>
          <a:xfrm>
            <a:off x="411480" y="4251960"/>
            <a:ext cx="822960" cy="630936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48056" y="4302252"/>
            <a:ext cx="749808" cy="55778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2F3437"/>
                </a:solidFill>
              </a:rPr>
              <a:t>0624A05</a:t>
            </a:r>
            <a:endParaRPr lang="en-US" sz="720" dirty="0"/>
          </a:p>
        </p:txBody>
      </p:sp>
      <p:sp>
        <p:nvSpPr>
          <p:cNvPr id="69" name="Shape 67"/>
          <p:cNvSpPr/>
          <p:nvPr/>
        </p:nvSpPr>
        <p:spPr>
          <a:xfrm>
            <a:off x="1234440" y="4251960"/>
            <a:ext cx="685800" cy="630936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271016" y="4302252"/>
            <a:ext cx="612648" cy="55778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2F3437"/>
                </a:solidFill>
              </a:rPr>
              <a:t>High</a:t>
            </a:r>
            <a:endParaRPr lang="en-US" sz="720" dirty="0"/>
          </a:p>
        </p:txBody>
      </p:sp>
      <p:sp>
        <p:nvSpPr>
          <p:cNvPr id="71" name="Shape 69"/>
          <p:cNvSpPr/>
          <p:nvPr/>
        </p:nvSpPr>
        <p:spPr>
          <a:xfrm>
            <a:off x="1920240" y="4251960"/>
            <a:ext cx="914400" cy="630936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956816" y="4302252"/>
            <a:ext cx="841248" cy="55778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2F3437"/>
                </a:solidFill>
              </a:rPr>
              <a:t>6.839</a:t>
            </a:r>
            <a:endParaRPr lang="en-US" sz="720" dirty="0"/>
          </a:p>
        </p:txBody>
      </p:sp>
      <p:sp>
        <p:nvSpPr>
          <p:cNvPr id="73" name="Shape 71"/>
          <p:cNvSpPr/>
          <p:nvPr/>
        </p:nvSpPr>
        <p:spPr>
          <a:xfrm>
            <a:off x="2834640" y="4251960"/>
            <a:ext cx="1417320" cy="630936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2871216" y="4302252"/>
            <a:ext cx="1344168" cy="55778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2F3437"/>
                </a:solidFill>
              </a:rPr>
              <a:t>1020k / 6.839</a:t>
            </a:r>
            <a:endParaRPr lang="en-US" sz="720" dirty="0"/>
          </a:p>
        </p:txBody>
      </p:sp>
      <p:sp>
        <p:nvSpPr>
          <p:cNvPr id="75" name="Shape 73"/>
          <p:cNvSpPr/>
          <p:nvPr/>
        </p:nvSpPr>
        <p:spPr>
          <a:xfrm>
            <a:off x="4251960" y="4251960"/>
            <a:ext cx="1691640" cy="630936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288536" y="4302252"/>
            <a:ext cx="1618488" cy="55778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2F3437"/>
                </a:solidFill>
              </a:rPr>
              <a:t>100k / 8.334</a:t>
            </a:r>
            <a:endParaRPr lang="en-US" sz="720" dirty="0"/>
          </a:p>
        </p:txBody>
      </p:sp>
      <p:sp>
        <p:nvSpPr>
          <p:cNvPr id="77" name="Shape 75"/>
          <p:cNvSpPr/>
          <p:nvPr/>
        </p:nvSpPr>
        <p:spPr>
          <a:xfrm>
            <a:off x="5943600" y="4251960"/>
            <a:ext cx="5852160" cy="630936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980176" y="4302252"/>
            <a:ext cx="5779008" cy="55778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2F3437"/>
                </a:solidFill>
              </a:rPr>
              <a:t>-</a:t>
            </a:r>
            <a:endParaRPr lang="en-US" sz="720" dirty="0"/>
          </a:p>
        </p:txBody>
      </p:sp>
      <p:sp>
        <p:nvSpPr>
          <p:cNvPr id="79" name="Shape 77"/>
          <p:cNvSpPr/>
          <p:nvPr/>
        </p:nvSpPr>
        <p:spPr>
          <a:xfrm>
            <a:off x="1261872" y="1920240"/>
            <a:ext cx="594360" cy="228600"/>
          </a:xfrm>
          <a:prstGeom prst="roundRect">
            <a:avLst>
              <a:gd name="adj" fmla="val 18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1261872" y="1961388"/>
            <a:ext cx="594360" cy="7315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High</a:t>
            </a:r>
            <a:endParaRPr lang="en-US" sz="700" dirty="0"/>
          </a:p>
        </p:txBody>
      </p:sp>
      <p:sp>
        <p:nvSpPr>
          <p:cNvPr id="81" name="Shape 79"/>
          <p:cNvSpPr/>
          <p:nvPr/>
        </p:nvSpPr>
        <p:spPr>
          <a:xfrm>
            <a:off x="1261872" y="2551176"/>
            <a:ext cx="594360" cy="228600"/>
          </a:xfrm>
          <a:prstGeom prst="roundRect">
            <a:avLst>
              <a:gd name="adj" fmla="val 18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1261872" y="2592324"/>
            <a:ext cx="594360" cy="7315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High</a:t>
            </a:r>
            <a:endParaRPr lang="en-US" sz="700" dirty="0"/>
          </a:p>
        </p:txBody>
      </p:sp>
      <p:sp>
        <p:nvSpPr>
          <p:cNvPr id="83" name="Shape 81"/>
          <p:cNvSpPr/>
          <p:nvPr/>
        </p:nvSpPr>
        <p:spPr>
          <a:xfrm>
            <a:off x="1261872" y="3182112"/>
            <a:ext cx="594360" cy="228600"/>
          </a:xfrm>
          <a:prstGeom prst="roundRect">
            <a:avLst>
              <a:gd name="adj" fmla="val 18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1261872" y="3223260"/>
            <a:ext cx="594360" cy="7315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Low</a:t>
            </a:r>
            <a:endParaRPr lang="en-US" sz="700" dirty="0"/>
          </a:p>
        </p:txBody>
      </p:sp>
      <p:sp>
        <p:nvSpPr>
          <p:cNvPr id="85" name="Shape 83"/>
          <p:cNvSpPr/>
          <p:nvPr/>
        </p:nvSpPr>
        <p:spPr>
          <a:xfrm>
            <a:off x="1261872" y="3813048"/>
            <a:ext cx="594360" cy="228600"/>
          </a:xfrm>
          <a:prstGeom prst="roundRect">
            <a:avLst>
              <a:gd name="adj" fmla="val 18000"/>
            </a:avLst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1261872" y="3854196"/>
            <a:ext cx="594360" cy="7315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Monitor</a:t>
            </a:r>
            <a:endParaRPr lang="en-US" sz="700" dirty="0"/>
          </a:p>
        </p:txBody>
      </p:sp>
      <p:sp>
        <p:nvSpPr>
          <p:cNvPr id="87" name="Shape 85"/>
          <p:cNvSpPr/>
          <p:nvPr/>
        </p:nvSpPr>
        <p:spPr>
          <a:xfrm>
            <a:off x="1261872" y="4443984"/>
            <a:ext cx="594360" cy="228600"/>
          </a:xfrm>
          <a:prstGeom prst="roundRect">
            <a:avLst>
              <a:gd name="adj" fmla="val 18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1261872" y="4485132"/>
            <a:ext cx="594360" cy="7315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High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83464"/>
            <a:ext cx="932688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50" b="1" dirty="0">
                <a:solidFill>
                  <a:srgbClr val="2168D3"/>
                </a:solidFill>
              </a:rPr>
              <a:t>8. Case Analysis - 0624A05：late-stage optical spike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502920" y="667512"/>
            <a:ext cx="1028700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87384"/>
                </a:solidFill>
              </a:rPr>
              <a:t>A05 的关键不是历史 LOW %D，而是终点三个有效 plate 同时出现高 CV。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104120" y="310896"/>
            <a:ext cx="14173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2168D3"/>
                </a:solidFill>
              </a:rPr>
              <a:t>Opentrons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960120"/>
            <a:ext cx="1083564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47104"/>
            <a:ext cx="475488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87384"/>
                </a:solidFill>
              </a:rPr>
              <a:t>P1000H O-ring Data Analysis | 2026-06-04 | 9/13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5303520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70" b="1" dirty="0">
                <a:solidFill>
                  <a:srgbClr val="2F3437"/>
                </a:solidFill>
              </a:rPr>
              <a:t>CV trend - all units, A05 highlighted by final spike</a:t>
            </a:r>
            <a:endParaRPr lang="en-US" sz="1270" dirty="0"/>
          </a:p>
        </p:txBody>
      </p:sp>
      <p:sp>
        <p:nvSpPr>
          <p:cNvPr id="8" name="Shape 6"/>
          <p:cNvSpPr/>
          <p:nvPr/>
        </p:nvSpPr>
        <p:spPr>
          <a:xfrm>
            <a:off x="1005840" y="4389120"/>
            <a:ext cx="4663440" cy="0"/>
          </a:xfrm>
          <a:prstGeom prst="line">
            <a:avLst/>
          </a:prstGeom>
          <a:noFill/>
          <a:ln w="5715">
            <a:solidFill>
              <a:srgbClr val="D9E2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4329684"/>
            <a:ext cx="228600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87384"/>
                </a:solidFill>
              </a:rPr>
              <a:t>0</a:t>
            </a:r>
            <a:endParaRPr lang="en-US" sz="650" dirty="0"/>
          </a:p>
        </p:txBody>
      </p:sp>
      <p:sp>
        <p:nvSpPr>
          <p:cNvPr id="10" name="Shape 8"/>
          <p:cNvSpPr/>
          <p:nvPr/>
        </p:nvSpPr>
        <p:spPr>
          <a:xfrm>
            <a:off x="1005840" y="4069080"/>
            <a:ext cx="4663440" cy="0"/>
          </a:xfrm>
          <a:prstGeom prst="line">
            <a:avLst/>
          </a:prstGeom>
          <a:noFill/>
          <a:ln w="5715">
            <a:solidFill>
              <a:srgbClr val="D9E2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" y="4009644"/>
            <a:ext cx="228600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87384"/>
                </a:solidFill>
              </a:rPr>
              <a:t>1</a:t>
            </a:r>
            <a:endParaRPr lang="en-US" sz="650" dirty="0"/>
          </a:p>
        </p:txBody>
      </p:sp>
      <p:sp>
        <p:nvSpPr>
          <p:cNvPr id="12" name="Shape 10"/>
          <p:cNvSpPr/>
          <p:nvPr/>
        </p:nvSpPr>
        <p:spPr>
          <a:xfrm>
            <a:off x="1005840" y="3749040"/>
            <a:ext cx="4663440" cy="0"/>
          </a:xfrm>
          <a:prstGeom prst="line">
            <a:avLst/>
          </a:prstGeom>
          <a:noFill/>
          <a:ln w="5715">
            <a:solidFill>
              <a:srgbClr val="D9E2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" y="3689604"/>
            <a:ext cx="228600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87384"/>
                </a:solidFill>
              </a:rPr>
              <a:t>2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1005840" y="3429000"/>
            <a:ext cx="4663440" cy="0"/>
          </a:xfrm>
          <a:prstGeom prst="line">
            <a:avLst/>
          </a:prstGeom>
          <a:noFill/>
          <a:ln w="5715">
            <a:solidFill>
              <a:srgbClr val="D9E2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" y="3369564"/>
            <a:ext cx="228600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87384"/>
                </a:solidFill>
              </a:rPr>
              <a:t>3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1005840" y="3108960"/>
            <a:ext cx="4663440" cy="0"/>
          </a:xfrm>
          <a:prstGeom prst="line">
            <a:avLst/>
          </a:prstGeom>
          <a:noFill/>
          <a:ln w="5715">
            <a:solidFill>
              <a:srgbClr val="D9E2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" y="3049524"/>
            <a:ext cx="228600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87384"/>
                </a:solidFill>
              </a:rPr>
              <a:t>4</a:t>
            </a:r>
            <a:endParaRPr lang="en-US" sz="650" dirty="0"/>
          </a:p>
        </p:txBody>
      </p:sp>
      <p:sp>
        <p:nvSpPr>
          <p:cNvPr id="18" name="Shape 16"/>
          <p:cNvSpPr/>
          <p:nvPr/>
        </p:nvSpPr>
        <p:spPr>
          <a:xfrm>
            <a:off x="1005840" y="2788920"/>
            <a:ext cx="4663440" cy="0"/>
          </a:xfrm>
          <a:prstGeom prst="line">
            <a:avLst/>
          </a:prstGeom>
          <a:noFill/>
          <a:ln w="5715">
            <a:solidFill>
              <a:srgbClr val="D9E2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" y="2729484"/>
            <a:ext cx="228600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87384"/>
                </a:solidFill>
              </a:rPr>
              <a:t>5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1005840" y="2468880"/>
            <a:ext cx="4663440" cy="0"/>
          </a:xfrm>
          <a:prstGeom prst="line">
            <a:avLst/>
          </a:prstGeom>
          <a:noFill/>
          <a:ln w="5715">
            <a:solidFill>
              <a:srgbClr val="D9E2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" y="2409444"/>
            <a:ext cx="228600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87384"/>
                </a:solidFill>
              </a:rPr>
              <a:t>6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1005840" y="2148840"/>
            <a:ext cx="4663440" cy="0"/>
          </a:xfrm>
          <a:prstGeom prst="line">
            <a:avLst/>
          </a:prstGeom>
          <a:noFill/>
          <a:ln w="5715">
            <a:solidFill>
              <a:srgbClr val="D9E2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512" y="2089404"/>
            <a:ext cx="228600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87384"/>
                </a:solidFill>
              </a:rPr>
              <a:t>7</a:t>
            </a:r>
            <a:endParaRPr lang="en-US" sz="650" dirty="0"/>
          </a:p>
        </p:txBody>
      </p:sp>
      <p:sp>
        <p:nvSpPr>
          <p:cNvPr id="24" name="Shape 22"/>
          <p:cNvSpPr/>
          <p:nvPr/>
        </p:nvSpPr>
        <p:spPr>
          <a:xfrm>
            <a:off x="1005840" y="1828800"/>
            <a:ext cx="4663440" cy="0"/>
          </a:xfrm>
          <a:prstGeom prst="line">
            <a:avLst/>
          </a:prstGeom>
          <a:noFill/>
          <a:ln w="5715">
            <a:solidFill>
              <a:srgbClr val="D9E2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7512" y="1769364"/>
            <a:ext cx="228600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87384"/>
                </a:solidFill>
              </a:rPr>
              <a:t>8</a:t>
            </a:r>
            <a:endParaRPr lang="en-US" sz="650" dirty="0"/>
          </a:p>
        </p:txBody>
      </p:sp>
      <p:sp>
        <p:nvSpPr>
          <p:cNvPr id="26" name="Shape 24"/>
          <p:cNvSpPr/>
          <p:nvPr/>
        </p:nvSpPr>
        <p:spPr>
          <a:xfrm>
            <a:off x="1005840" y="1508760"/>
            <a:ext cx="4663440" cy="0"/>
          </a:xfrm>
          <a:prstGeom prst="line">
            <a:avLst/>
          </a:prstGeom>
          <a:noFill/>
          <a:ln w="5715">
            <a:solidFill>
              <a:srgbClr val="D9E2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7512" y="1449324"/>
            <a:ext cx="228600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87384"/>
                </a:solidFill>
              </a:rPr>
              <a:t>9</a:t>
            </a: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1005840" y="4389120"/>
            <a:ext cx="0" cy="45720"/>
          </a:xfrm>
          <a:prstGeom prst="line">
            <a:avLst/>
          </a:prstGeom>
          <a:noFill/>
          <a:ln w="5715">
            <a:solidFill>
              <a:srgbClr val="68738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9536" y="4471416"/>
            <a:ext cx="310896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687384"/>
                </a:solidFill>
              </a:rPr>
              <a:t>0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2194560" y="4389120"/>
            <a:ext cx="0" cy="45720"/>
          </a:xfrm>
          <a:prstGeom prst="line">
            <a:avLst/>
          </a:prstGeom>
          <a:noFill/>
          <a:ln w="5715">
            <a:solidFill>
              <a:srgbClr val="68738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048256" y="4471416"/>
            <a:ext cx="310896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687384"/>
                </a:solidFill>
              </a:rPr>
              <a:t>260k</a:t>
            </a:r>
            <a:endParaRPr lang="en-US" sz="650" dirty="0"/>
          </a:p>
        </p:txBody>
      </p:sp>
      <p:sp>
        <p:nvSpPr>
          <p:cNvPr id="32" name="Shape 30"/>
          <p:cNvSpPr/>
          <p:nvPr/>
        </p:nvSpPr>
        <p:spPr>
          <a:xfrm>
            <a:off x="3383280" y="4389120"/>
            <a:ext cx="0" cy="45720"/>
          </a:xfrm>
          <a:prstGeom prst="line">
            <a:avLst/>
          </a:prstGeom>
          <a:noFill/>
          <a:ln w="5715">
            <a:solidFill>
              <a:srgbClr val="68738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36976" y="4471416"/>
            <a:ext cx="310896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687384"/>
                </a:solidFill>
              </a:rPr>
              <a:t>520k</a:t>
            </a:r>
            <a:endParaRPr lang="en-US" sz="650" dirty="0"/>
          </a:p>
        </p:txBody>
      </p:sp>
      <p:sp>
        <p:nvSpPr>
          <p:cNvPr id="34" name="Shape 32"/>
          <p:cNvSpPr/>
          <p:nvPr/>
        </p:nvSpPr>
        <p:spPr>
          <a:xfrm>
            <a:off x="4754880" y="4389120"/>
            <a:ext cx="0" cy="45720"/>
          </a:xfrm>
          <a:prstGeom prst="line">
            <a:avLst/>
          </a:prstGeom>
          <a:noFill/>
          <a:ln w="5715">
            <a:solidFill>
              <a:srgbClr val="68738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08576" y="4471416"/>
            <a:ext cx="310896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687384"/>
                </a:solidFill>
              </a:rPr>
              <a:t>820k</a:t>
            </a:r>
            <a:endParaRPr lang="en-US" sz="650" dirty="0"/>
          </a:p>
        </p:txBody>
      </p:sp>
      <p:sp>
        <p:nvSpPr>
          <p:cNvPr id="36" name="Shape 34"/>
          <p:cNvSpPr/>
          <p:nvPr/>
        </p:nvSpPr>
        <p:spPr>
          <a:xfrm>
            <a:off x="5669280" y="4389120"/>
            <a:ext cx="0" cy="45720"/>
          </a:xfrm>
          <a:prstGeom prst="line">
            <a:avLst/>
          </a:prstGeom>
          <a:noFill/>
          <a:ln w="5715">
            <a:solidFill>
              <a:srgbClr val="68738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22976" y="4471416"/>
            <a:ext cx="310896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687384"/>
                </a:solidFill>
              </a:rPr>
              <a:t>1020k</a:t>
            </a:r>
            <a:endParaRPr lang="en-US" sz="650" dirty="0"/>
          </a:p>
        </p:txBody>
      </p:sp>
      <p:sp>
        <p:nvSpPr>
          <p:cNvPr id="38" name="Shape 36"/>
          <p:cNvSpPr/>
          <p:nvPr/>
        </p:nvSpPr>
        <p:spPr>
          <a:xfrm>
            <a:off x="1005840" y="2788920"/>
            <a:ext cx="4663440" cy="0"/>
          </a:xfrm>
          <a:prstGeom prst="line">
            <a:avLst/>
          </a:prstGeom>
          <a:noFill/>
          <a:ln w="11430">
            <a:solidFill>
              <a:srgbClr val="DC262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46320" y="2642616"/>
            <a:ext cx="822960" cy="1097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DC2626"/>
                </a:solidFill>
              </a:rPr>
              <a:t>5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1005840" y="4095896"/>
            <a:ext cx="297180" cy="67069"/>
          </a:xfrm>
          <a:prstGeom prst="line">
            <a:avLst/>
          </a:prstGeom>
          <a:noFill/>
          <a:ln w="13970">
            <a:solidFill>
              <a:srgbClr val="F59E0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303020" y="4014292"/>
            <a:ext cx="160020" cy="81604"/>
          </a:xfrm>
          <a:prstGeom prst="line">
            <a:avLst/>
          </a:prstGeom>
          <a:noFill/>
          <a:ln w="13970">
            <a:solidFill>
              <a:srgbClr val="F59E0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463040" y="4014292"/>
            <a:ext cx="137160" cy="190026"/>
          </a:xfrm>
          <a:prstGeom prst="line">
            <a:avLst/>
          </a:prstGeom>
          <a:noFill/>
          <a:ln w="13970">
            <a:solidFill>
              <a:srgbClr val="F59E0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600200" y="3057469"/>
            <a:ext cx="297180" cy="1146849"/>
          </a:xfrm>
          <a:prstGeom prst="line">
            <a:avLst/>
          </a:prstGeom>
          <a:noFill/>
          <a:ln w="13970">
            <a:solidFill>
              <a:srgbClr val="F59E0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897380" y="3040400"/>
            <a:ext cx="297180" cy="17068"/>
          </a:xfrm>
          <a:prstGeom prst="line">
            <a:avLst/>
          </a:prstGeom>
          <a:noFill/>
          <a:ln w="13970">
            <a:solidFill>
              <a:srgbClr val="F59E0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194560" y="2583484"/>
            <a:ext cx="1188720" cy="456916"/>
          </a:xfrm>
          <a:prstGeom prst="line">
            <a:avLst/>
          </a:prstGeom>
          <a:noFill/>
          <a:ln w="13970">
            <a:solidFill>
              <a:srgbClr val="F59E0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383280" y="2583484"/>
            <a:ext cx="457200" cy="1442618"/>
          </a:xfrm>
          <a:prstGeom prst="line">
            <a:avLst/>
          </a:prstGeom>
          <a:noFill/>
          <a:ln w="13970">
            <a:solidFill>
              <a:srgbClr val="F59E0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840480" y="4026103"/>
            <a:ext cx="914400" cy="123888"/>
          </a:xfrm>
          <a:prstGeom prst="line">
            <a:avLst/>
          </a:prstGeom>
          <a:noFill/>
          <a:ln w="13970">
            <a:solidFill>
              <a:srgbClr val="F59E0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754880" y="2987536"/>
            <a:ext cx="914400" cy="1162455"/>
          </a:xfrm>
          <a:prstGeom prst="line">
            <a:avLst/>
          </a:prstGeom>
          <a:noFill/>
          <a:ln w="13970">
            <a:solidFill>
              <a:srgbClr val="F59E0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73836" y="4130961"/>
            <a:ext cx="64008" cy="64008"/>
          </a:xfrm>
          <a:prstGeom prst="ellipse">
            <a:avLst/>
          </a:prstGeom>
          <a:solidFill>
            <a:srgbClr val="F59E0B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351276" y="2551480"/>
            <a:ext cx="64008" cy="64008"/>
          </a:xfrm>
          <a:prstGeom prst="ellipse">
            <a:avLst/>
          </a:prstGeom>
          <a:solidFill>
            <a:srgbClr val="F59E0B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637276" y="2955532"/>
            <a:ext cx="64008" cy="64008"/>
          </a:xfrm>
          <a:prstGeom prst="ellipse">
            <a:avLst/>
          </a:prstGeom>
          <a:solidFill>
            <a:srgbClr val="F59E0B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05840" y="4134293"/>
            <a:ext cx="297180" cy="37385"/>
          </a:xfrm>
          <a:prstGeom prst="line">
            <a:avLst/>
          </a:prstGeom>
          <a:noFill/>
          <a:ln w="13970">
            <a:solidFill>
              <a:srgbClr val="7C3AED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303020" y="4134294"/>
            <a:ext cx="160020" cy="20972"/>
          </a:xfrm>
          <a:prstGeom prst="line">
            <a:avLst/>
          </a:prstGeom>
          <a:noFill/>
          <a:ln w="13970">
            <a:solidFill>
              <a:srgbClr val="7C3AED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463040" y="4155265"/>
            <a:ext cx="137160" cy="45030"/>
          </a:xfrm>
          <a:prstGeom prst="line">
            <a:avLst/>
          </a:prstGeom>
          <a:noFill/>
          <a:ln w="13970">
            <a:solidFill>
              <a:srgbClr val="7C3AED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600200" y="4071475"/>
            <a:ext cx="297180" cy="128821"/>
          </a:xfrm>
          <a:prstGeom prst="line">
            <a:avLst/>
          </a:prstGeom>
          <a:noFill/>
          <a:ln w="13970">
            <a:solidFill>
              <a:srgbClr val="7C3AED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897380" y="4071475"/>
            <a:ext cx="297180" cy="19394"/>
          </a:xfrm>
          <a:prstGeom prst="line">
            <a:avLst/>
          </a:prstGeom>
          <a:noFill/>
          <a:ln w="13970">
            <a:solidFill>
              <a:srgbClr val="7C3AED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194560" y="2406540"/>
            <a:ext cx="1188720" cy="1684329"/>
          </a:xfrm>
          <a:prstGeom prst="line">
            <a:avLst/>
          </a:prstGeom>
          <a:noFill/>
          <a:ln w="13970">
            <a:solidFill>
              <a:srgbClr val="7C3AED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383280" y="2406540"/>
            <a:ext cx="457200" cy="1577975"/>
          </a:xfrm>
          <a:prstGeom prst="line">
            <a:avLst/>
          </a:prstGeom>
          <a:noFill/>
          <a:ln w="13970">
            <a:solidFill>
              <a:srgbClr val="7C3AED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840480" y="3791439"/>
            <a:ext cx="914400" cy="193076"/>
          </a:xfrm>
          <a:prstGeom prst="line">
            <a:avLst/>
          </a:prstGeom>
          <a:noFill/>
          <a:ln w="13970">
            <a:solidFill>
              <a:srgbClr val="7C3AED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0" y="3791439"/>
            <a:ext cx="914400" cy="121893"/>
          </a:xfrm>
          <a:prstGeom prst="line">
            <a:avLst/>
          </a:prstGeom>
          <a:noFill/>
          <a:ln w="13970">
            <a:solidFill>
              <a:srgbClr val="7C3AED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73836" y="4139674"/>
            <a:ext cx="64008" cy="64008"/>
          </a:xfrm>
          <a:prstGeom prst="ellipse">
            <a:avLst/>
          </a:prstGeom>
          <a:solidFill>
            <a:srgbClr val="7C3AED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351276" y="2374536"/>
            <a:ext cx="64008" cy="64008"/>
          </a:xfrm>
          <a:prstGeom prst="ellipse">
            <a:avLst/>
          </a:prstGeom>
          <a:solidFill>
            <a:srgbClr val="7C3AED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637276" y="3881328"/>
            <a:ext cx="64008" cy="64008"/>
          </a:xfrm>
          <a:prstGeom prst="ellipse">
            <a:avLst/>
          </a:prstGeom>
          <a:solidFill>
            <a:srgbClr val="7C3AED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005840" y="3762761"/>
            <a:ext cx="297180" cy="401918"/>
          </a:xfrm>
          <a:prstGeom prst="line">
            <a:avLst/>
          </a:prstGeom>
          <a:noFill/>
          <a:ln w="13970">
            <a:solidFill>
              <a:srgbClr val="16A34A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303020" y="4012702"/>
            <a:ext cx="160020" cy="151978"/>
          </a:xfrm>
          <a:prstGeom prst="line">
            <a:avLst/>
          </a:prstGeom>
          <a:noFill/>
          <a:ln w="13970">
            <a:solidFill>
              <a:srgbClr val="16A34A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463040" y="4012702"/>
            <a:ext cx="137160" cy="199748"/>
          </a:xfrm>
          <a:prstGeom prst="line">
            <a:avLst/>
          </a:prstGeom>
          <a:noFill/>
          <a:ln w="13970">
            <a:solidFill>
              <a:srgbClr val="16A34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600200" y="4055821"/>
            <a:ext cx="297180" cy="156629"/>
          </a:xfrm>
          <a:prstGeom prst="line">
            <a:avLst/>
          </a:prstGeom>
          <a:noFill/>
          <a:ln w="13970">
            <a:solidFill>
              <a:srgbClr val="16A34A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897380" y="4055822"/>
            <a:ext cx="297180" cy="129880"/>
          </a:xfrm>
          <a:prstGeom prst="line">
            <a:avLst/>
          </a:prstGeom>
          <a:noFill/>
          <a:ln w="13970">
            <a:solidFill>
              <a:srgbClr val="16A34A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194560" y="4055461"/>
            <a:ext cx="1188720" cy="130240"/>
          </a:xfrm>
          <a:prstGeom prst="line">
            <a:avLst/>
          </a:prstGeom>
          <a:noFill/>
          <a:ln w="13970">
            <a:solidFill>
              <a:srgbClr val="16A34A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3383280" y="4055462"/>
            <a:ext cx="457200" cy="47114"/>
          </a:xfrm>
          <a:prstGeom prst="line">
            <a:avLst/>
          </a:prstGeom>
          <a:noFill/>
          <a:ln w="13970">
            <a:solidFill>
              <a:srgbClr val="16A34A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3840480" y="4102576"/>
            <a:ext cx="914400" cy="106821"/>
          </a:xfrm>
          <a:prstGeom prst="line">
            <a:avLst/>
          </a:prstGeom>
          <a:noFill/>
          <a:ln w="13970">
            <a:solidFill>
              <a:srgbClr val="16A34A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754880" y="4172327"/>
            <a:ext cx="914400" cy="37070"/>
          </a:xfrm>
          <a:prstGeom prst="line">
            <a:avLst/>
          </a:prstGeom>
          <a:noFill/>
          <a:ln w="13970">
            <a:solidFill>
              <a:srgbClr val="16A34A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73836" y="3730757"/>
            <a:ext cx="64008" cy="64008"/>
          </a:xfrm>
          <a:prstGeom prst="ellipse">
            <a:avLst/>
          </a:prstGeom>
          <a:solidFill>
            <a:srgbClr val="16A34A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865376" y="4023818"/>
            <a:ext cx="64008" cy="64008"/>
          </a:xfrm>
          <a:prstGeom prst="ellipse">
            <a:avLst/>
          </a:prstGeom>
          <a:solidFill>
            <a:srgbClr val="16A34A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5637276" y="4140323"/>
            <a:ext cx="64008" cy="64008"/>
          </a:xfrm>
          <a:prstGeom prst="ellipse">
            <a:avLst/>
          </a:prstGeom>
          <a:solidFill>
            <a:srgbClr val="16A34A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005840" y="2866811"/>
            <a:ext cx="297180" cy="1328459"/>
          </a:xfrm>
          <a:prstGeom prst="line">
            <a:avLst/>
          </a:prstGeom>
          <a:noFill/>
          <a:ln w="13970">
            <a:solidFill>
              <a:srgbClr val="0891B2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303020" y="2866811"/>
            <a:ext cx="160020" cy="587371"/>
          </a:xfrm>
          <a:prstGeom prst="line">
            <a:avLst/>
          </a:prstGeom>
          <a:noFill/>
          <a:ln w="13970">
            <a:solidFill>
              <a:srgbClr val="0891B2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463040" y="2653248"/>
            <a:ext cx="137160" cy="800934"/>
          </a:xfrm>
          <a:prstGeom prst="line">
            <a:avLst/>
          </a:prstGeom>
          <a:noFill/>
          <a:ln w="13970">
            <a:solidFill>
              <a:srgbClr val="0891B2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600200" y="1849938"/>
            <a:ext cx="297180" cy="803310"/>
          </a:xfrm>
          <a:prstGeom prst="line">
            <a:avLst/>
          </a:prstGeom>
          <a:noFill/>
          <a:ln w="13970">
            <a:solidFill>
              <a:srgbClr val="0891B2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897380" y="1849938"/>
            <a:ext cx="297180" cy="384374"/>
          </a:xfrm>
          <a:prstGeom prst="line">
            <a:avLst/>
          </a:prstGeom>
          <a:noFill/>
          <a:ln w="13970">
            <a:solidFill>
              <a:srgbClr val="0891B2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194560" y="1699011"/>
            <a:ext cx="1188720" cy="535301"/>
          </a:xfrm>
          <a:prstGeom prst="line">
            <a:avLst/>
          </a:prstGeom>
          <a:noFill/>
          <a:ln w="13970">
            <a:solidFill>
              <a:srgbClr val="0891B2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3383280" y="1699011"/>
            <a:ext cx="457200" cy="1254578"/>
          </a:xfrm>
          <a:prstGeom prst="line">
            <a:avLst/>
          </a:prstGeom>
          <a:noFill/>
          <a:ln w="13970">
            <a:solidFill>
              <a:srgbClr val="0891B2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3840480" y="2953589"/>
            <a:ext cx="914400" cy="813371"/>
          </a:xfrm>
          <a:prstGeom prst="line">
            <a:avLst/>
          </a:prstGeom>
          <a:noFill/>
          <a:ln w="13970">
            <a:solidFill>
              <a:srgbClr val="0891B2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4754880" y="3766960"/>
            <a:ext cx="914400" cy="99631"/>
          </a:xfrm>
          <a:prstGeom prst="line">
            <a:avLst/>
          </a:prstGeom>
          <a:noFill/>
          <a:ln w="13970">
            <a:solidFill>
              <a:srgbClr val="0891B2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973836" y="4163266"/>
            <a:ext cx="64008" cy="64008"/>
          </a:xfrm>
          <a:prstGeom prst="ellipse">
            <a:avLst/>
          </a:prstGeom>
          <a:solidFill>
            <a:srgbClr val="0891B2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865376" y="1817934"/>
            <a:ext cx="64008" cy="64008"/>
          </a:xfrm>
          <a:prstGeom prst="ellipse">
            <a:avLst/>
          </a:prstGeom>
          <a:solidFill>
            <a:srgbClr val="0891B2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351276" y="1667007"/>
            <a:ext cx="64008" cy="64008"/>
          </a:xfrm>
          <a:prstGeom prst="ellipse">
            <a:avLst/>
          </a:prstGeom>
          <a:solidFill>
            <a:srgbClr val="0891B2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5637276" y="3834586"/>
            <a:ext cx="64008" cy="64008"/>
          </a:xfrm>
          <a:prstGeom prst="ellipse">
            <a:avLst/>
          </a:prstGeom>
          <a:solidFill>
            <a:srgbClr val="0891B2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005840" y="4052652"/>
            <a:ext cx="297180" cy="61154"/>
          </a:xfrm>
          <a:prstGeom prst="line">
            <a:avLst/>
          </a:prstGeom>
          <a:noFill/>
          <a:ln w="13970">
            <a:solidFill>
              <a:srgbClr val="DC2626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303020" y="3973027"/>
            <a:ext cx="160020" cy="79625"/>
          </a:xfrm>
          <a:prstGeom prst="line">
            <a:avLst/>
          </a:prstGeom>
          <a:noFill/>
          <a:ln w="13970">
            <a:solidFill>
              <a:srgbClr val="DC2626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463040" y="3973027"/>
            <a:ext cx="137160" cy="210905"/>
          </a:xfrm>
          <a:prstGeom prst="line">
            <a:avLst/>
          </a:prstGeom>
          <a:noFill/>
          <a:ln w="13970">
            <a:solidFill>
              <a:srgbClr val="DC2626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600200" y="4096335"/>
            <a:ext cx="297180" cy="87597"/>
          </a:xfrm>
          <a:prstGeom prst="line">
            <a:avLst/>
          </a:prstGeom>
          <a:noFill/>
          <a:ln w="13970">
            <a:solidFill>
              <a:srgbClr val="DC2626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897380" y="4096336"/>
            <a:ext cx="297180" cy="100037"/>
          </a:xfrm>
          <a:prstGeom prst="line">
            <a:avLst/>
          </a:prstGeom>
          <a:noFill/>
          <a:ln w="13970">
            <a:solidFill>
              <a:srgbClr val="DC2626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2194560" y="4149734"/>
            <a:ext cx="1188720" cy="46639"/>
          </a:xfrm>
          <a:prstGeom prst="line">
            <a:avLst/>
          </a:prstGeom>
          <a:noFill/>
          <a:ln w="13970">
            <a:solidFill>
              <a:srgbClr val="DC2626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383280" y="4149734"/>
            <a:ext cx="457200" cy="29356"/>
          </a:xfrm>
          <a:prstGeom prst="line">
            <a:avLst/>
          </a:prstGeom>
          <a:noFill/>
          <a:ln w="13970">
            <a:solidFill>
              <a:srgbClr val="DC2626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840480" y="4179091"/>
            <a:ext cx="914400" cy="35047"/>
          </a:xfrm>
          <a:prstGeom prst="line">
            <a:avLst/>
          </a:prstGeom>
          <a:noFill/>
          <a:ln w="13970">
            <a:solidFill>
              <a:srgbClr val="DC2626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4754880" y="2200352"/>
            <a:ext cx="914400" cy="2013786"/>
          </a:xfrm>
          <a:prstGeom prst="line">
            <a:avLst/>
          </a:prstGeom>
          <a:noFill/>
          <a:ln w="13970">
            <a:solidFill>
              <a:srgbClr val="DC2626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973836" y="4081802"/>
            <a:ext cx="64008" cy="64008"/>
          </a:xfrm>
          <a:prstGeom prst="ellipse">
            <a:avLst/>
          </a:prstGeom>
          <a:solidFill>
            <a:srgbClr val="DC2626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1431036" y="3941023"/>
            <a:ext cx="64008" cy="64008"/>
          </a:xfrm>
          <a:prstGeom prst="ellipse">
            <a:avLst/>
          </a:prstGeom>
          <a:solidFill>
            <a:srgbClr val="DC2626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5637276" y="2168348"/>
            <a:ext cx="64008" cy="64008"/>
          </a:xfrm>
          <a:prstGeom prst="ellipse">
            <a:avLst/>
          </a:prstGeom>
          <a:solidFill>
            <a:srgbClr val="DC2626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1051560" y="4681728"/>
            <a:ext cx="109728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1197864" y="4668012"/>
            <a:ext cx="685800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90" dirty="0">
                <a:solidFill>
                  <a:srgbClr val="687384"/>
                </a:solidFill>
              </a:rPr>
              <a:t>0624A04</a:t>
            </a:r>
            <a:endParaRPr lang="en-US" sz="690" dirty="0"/>
          </a:p>
        </p:txBody>
      </p:sp>
      <p:sp>
        <p:nvSpPr>
          <p:cNvPr id="103" name="Shape 101"/>
          <p:cNvSpPr/>
          <p:nvPr/>
        </p:nvSpPr>
        <p:spPr>
          <a:xfrm>
            <a:off x="1965960" y="4681728"/>
            <a:ext cx="109728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2112264" y="4668012"/>
            <a:ext cx="685800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90" dirty="0">
                <a:solidFill>
                  <a:srgbClr val="687384"/>
                </a:solidFill>
              </a:rPr>
              <a:t>1217A05</a:t>
            </a:r>
            <a:endParaRPr lang="en-US" sz="690" dirty="0"/>
          </a:p>
        </p:txBody>
      </p:sp>
      <p:sp>
        <p:nvSpPr>
          <p:cNvPr id="105" name="Shape 103"/>
          <p:cNvSpPr/>
          <p:nvPr/>
        </p:nvSpPr>
        <p:spPr>
          <a:xfrm>
            <a:off x="2880360" y="4681728"/>
            <a:ext cx="109728" cy="640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3026664" y="4668012"/>
            <a:ext cx="685800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90" dirty="0">
                <a:solidFill>
                  <a:srgbClr val="687384"/>
                </a:solidFill>
              </a:rPr>
              <a:t>0311A04</a:t>
            </a:r>
            <a:endParaRPr lang="en-US" sz="690" dirty="0"/>
          </a:p>
        </p:txBody>
      </p:sp>
      <p:sp>
        <p:nvSpPr>
          <p:cNvPr id="107" name="Shape 105"/>
          <p:cNvSpPr/>
          <p:nvPr/>
        </p:nvSpPr>
        <p:spPr>
          <a:xfrm>
            <a:off x="3794760" y="4681728"/>
            <a:ext cx="109728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3941064" y="4668012"/>
            <a:ext cx="685800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90" dirty="0">
                <a:solidFill>
                  <a:srgbClr val="687384"/>
                </a:solidFill>
              </a:rPr>
              <a:t>0624A01</a:t>
            </a:r>
            <a:endParaRPr lang="en-US" sz="690" dirty="0"/>
          </a:p>
        </p:txBody>
      </p:sp>
      <p:sp>
        <p:nvSpPr>
          <p:cNvPr id="109" name="Shape 107"/>
          <p:cNvSpPr/>
          <p:nvPr/>
        </p:nvSpPr>
        <p:spPr>
          <a:xfrm>
            <a:off x="4709160" y="4681728"/>
            <a:ext cx="109728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4855464" y="4668012"/>
            <a:ext cx="685800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90" dirty="0">
                <a:solidFill>
                  <a:srgbClr val="687384"/>
                </a:solidFill>
              </a:rPr>
              <a:t>0624A05</a:t>
            </a:r>
            <a:endParaRPr lang="en-US" sz="690" dirty="0"/>
          </a:p>
        </p:txBody>
      </p:sp>
      <p:sp>
        <p:nvSpPr>
          <p:cNvPr id="111" name="Shape 109"/>
          <p:cNvSpPr/>
          <p:nvPr/>
        </p:nvSpPr>
        <p:spPr>
          <a:xfrm>
            <a:off x="6126480" y="1143000"/>
            <a:ext cx="685800" cy="329184"/>
          </a:xfrm>
          <a:prstGeom prst="rect">
            <a:avLst/>
          </a:prstGeom>
          <a:solidFill>
            <a:srgbClr val="2168D3"/>
          </a:solidFill>
          <a:ln w="6350">
            <a:solidFill>
              <a:srgbClr val="2168D3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6163056" y="1197864"/>
            <a:ext cx="612648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670" b="1" dirty="0">
                <a:solidFill>
                  <a:srgbClr val="FFFFFF"/>
                </a:solidFill>
              </a:rPr>
              <a:t>Cycle</a:t>
            </a:r>
            <a:endParaRPr lang="en-US" sz="670" dirty="0"/>
          </a:p>
        </p:txBody>
      </p:sp>
      <p:sp>
        <p:nvSpPr>
          <p:cNvPr id="113" name="Shape 111"/>
          <p:cNvSpPr/>
          <p:nvPr/>
        </p:nvSpPr>
        <p:spPr>
          <a:xfrm>
            <a:off x="6812280" y="1143000"/>
            <a:ext cx="777240" cy="329184"/>
          </a:xfrm>
          <a:prstGeom prst="rect">
            <a:avLst/>
          </a:prstGeom>
          <a:solidFill>
            <a:srgbClr val="2168D3"/>
          </a:solidFill>
          <a:ln w="6350">
            <a:solidFill>
              <a:srgbClr val="2168D3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6848856" y="1197864"/>
            <a:ext cx="704088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670" b="1" dirty="0">
                <a:solidFill>
                  <a:srgbClr val="FFFFFF"/>
                </a:solidFill>
              </a:rPr>
              <a:t>Life</a:t>
            </a:r>
            <a:endParaRPr lang="en-US" sz="670" dirty="0"/>
          </a:p>
        </p:txBody>
      </p:sp>
      <p:sp>
        <p:nvSpPr>
          <p:cNvPr id="115" name="Shape 113"/>
          <p:cNvSpPr/>
          <p:nvPr/>
        </p:nvSpPr>
        <p:spPr>
          <a:xfrm>
            <a:off x="7589520" y="1143000"/>
            <a:ext cx="685800" cy="329184"/>
          </a:xfrm>
          <a:prstGeom prst="rect">
            <a:avLst/>
          </a:prstGeom>
          <a:solidFill>
            <a:srgbClr val="2168D3"/>
          </a:solidFill>
          <a:ln w="6350">
            <a:solidFill>
              <a:srgbClr val="2168D3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7626096" y="1197864"/>
            <a:ext cx="612648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670" b="1" dirty="0">
                <a:solidFill>
                  <a:srgbClr val="FFFFFF"/>
                </a:solidFill>
              </a:rPr>
              <a:t>CV</a:t>
            </a:r>
            <a:endParaRPr lang="en-US" sz="670" dirty="0"/>
          </a:p>
        </p:txBody>
      </p:sp>
      <p:sp>
        <p:nvSpPr>
          <p:cNvPr id="117" name="Shape 115"/>
          <p:cNvSpPr/>
          <p:nvPr/>
        </p:nvSpPr>
        <p:spPr>
          <a:xfrm>
            <a:off x="8275320" y="1143000"/>
            <a:ext cx="822960" cy="329184"/>
          </a:xfrm>
          <a:prstGeom prst="rect">
            <a:avLst/>
          </a:prstGeom>
          <a:solidFill>
            <a:srgbClr val="2168D3"/>
          </a:solidFill>
          <a:ln w="6350">
            <a:solidFill>
              <a:srgbClr val="2168D3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8311896" y="1197864"/>
            <a:ext cx="749808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670" b="1" dirty="0">
                <a:solidFill>
                  <a:srgbClr val="FFFFFF"/>
                </a:solidFill>
              </a:rPr>
              <a:t>Worst</a:t>
            </a:r>
            <a:endParaRPr lang="en-US" sz="670" dirty="0"/>
          </a:p>
        </p:txBody>
      </p:sp>
      <p:sp>
        <p:nvSpPr>
          <p:cNvPr id="119" name="Shape 117"/>
          <p:cNvSpPr/>
          <p:nvPr/>
        </p:nvSpPr>
        <p:spPr>
          <a:xfrm>
            <a:off x="9098280" y="1143000"/>
            <a:ext cx="2560320" cy="329184"/>
          </a:xfrm>
          <a:prstGeom prst="rect">
            <a:avLst/>
          </a:prstGeom>
          <a:solidFill>
            <a:srgbClr val="2168D3"/>
          </a:solidFill>
          <a:ln w="6350">
            <a:solidFill>
              <a:srgbClr val="2168D3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9134856" y="1197864"/>
            <a:ext cx="2487168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670" b="1" dirty="0">
                <a:solidFill>
                  <a:srgbClr val="FFFFFF"/>
                </a:solidFill>
              </a:rPr>
              <a:t>Note</a:t>
            </a:r>
            <a:endParaRPr lang="en-US" sz="670" dirty="0"/>
          </a:p>
        </p:txBody>
      </p:sp>
      <p:sp>
        <p:nvSpPr>
          <p:cNvPr id="121" name="Shape 119"/>
          <p:cNvSpPr/>
          <p:nvPr/>
        </p:nvSpPr>
        <p:spPr>
          <a:xfrm>
            <a:off x="6126480" y="1472184"/>
            <a:ext cx="685800" cy="329184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6163056" y="1522476"/>
            <a:ext cx="612648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640" b="1" dirty="0">
                <a:solidFill>
                  <a:srgbClr val="2F3437"/>
                </a:solidFill>
              </a:rPr>
              <a:t>0</a:t>
            </a:r>
            <a:endParaRPr lang="en-US" sz="640" dirty="0"/>
          </a:p>
        </p:txBody>
      </p:sp>
      <p:sp>
        <p:nvSpPr>
          <p:cNvPr id="123" name="Shape 121"/>
          <p:cNvSpPr/>
          <p:nvPr/>
        </p:nvSpPr>
        <p:spPr>
          <a:xfrm>
            <a:off x="6812280" y="1472184"/>
            <a:ext cx="777240" cy="329184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6848856" y="1522476"/>
            <a:ext cx="704088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640" dirty="0">
                <a:solidFill>
                  <a:srgbClr val="2F3437"/>
                </a:solidFill>
              </a:rPr>
              <a:t>0.0%</a:t>
            </a:r>
            <a:endParaRPr lang="en-US" sz="640" dirty="0"/>
          </a:p>
        </p:txBody>
      </p:sp>
      <p:sp>
        <p:nvSpPr>
          <p:cNvPr id="125" name="Shape 123"/>
          <p:cNvSpPr/>
          <p:nvPr/>
        </p:nvSpPr>
        <p:spPr>
          <a:xfrm>
            <a:off x="7589520" y="1472184"/>
            <a:ext cx="685800" cy="329184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7626096" y="1522476"/>
            <a:ext cx="612648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640" dirty="0">
                <a:solidFill>
                  <a:srgbClr val="2F3437"/>
                </a:solidFill>
              </a:rPr>
              <a:t>0.860</a:t>
            </a:r>
            <a:endParaRPr lang="en-US" sz="640" dirty="0"/>
          </a:p>
        </p:txBody>
      </p:sp>
      <p:sp>
        <p:nvSpPr>
          <p:cNvPr id="127" name="Shape 125"/>
          <p:cNvSpPr/>
          <p:nvPr/>
        </p:nvSpPr>
        <p:spPr>
          <a:xfrm>
            <a:off x="8275320" y="1472184"/>
            <a:ext cx="822960" cy="329184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8311896" y="1522476"/>
            <a:ext cx="749808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640" dirty="0">
                <a:solidFill>
                  <a:srgbClr val="2F3437"/>
                </a:solidFill>
              </a:rPr>
              <a:t>1.212</a:t>
            </a:r>
            <a:endParaRPr lang="en-US" sz="640" dirty="0"/>
          </a:p>
        </p:txBody>
      </p:sp>
      <p:sp>
        <p:nvSpPr>
          <p:cNvPr id="129" name="Shape 127"/>
          <p:cNvSpPr/>
          <p:nvPr/>
        </p:nvSpPr>
        <p:spPr>
          <a:xfrm>
            <a:off x="9098280" y="1472184"/>
            <a:ext cx="2560320" cy="329184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9134856" y="1522476"/>
            <a:ext cx="2487168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640" dirty="0">
                <a:solidFill>
                  <a:srgbClr val="2F3437"/>
                </a:solidFill>
              </a:rPr>
              <a:t>-</a:t>
            </a:r>
            <a:endParaRPr lang="en-US" sz="640" dirty="0"/>
          </a:p>
        </p:txBody>
      </p:sp>
      <p:sp>
        <p:nvSpPr>
          <p:cNvPr id="131" name="Shape 129"/>
          <p:cNvSpPr/>
          <p:nvPr/>
        </p:nvSpPr>
        <p:spPr>
          <a:xfrm>
            <a:off x="6126480" y="1801368"/>
            <a:ext cx="685800" cy="329184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6163056" y="1851660"/>
            <a:ext cx="612648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640" b="1" dirty="0">
                <a:solidFill>
                  <a:srgbClr val="2F3437"/>
                </a:solidFill>
              </a:rPr>
              <a:t>65k</a:t>
            </a:r>
            <a:endParaRPr lang="en-US" sz="640" dirty="0"/>
          </a:p>
        </p:txBody>
      </p:sp>
      <p:sp>
        <p:nvSpPr>
          <p:cNvPr id="133" name="Shape 131"/>
          <p:cNvSpPr/>
          <p:nvPr/>
        </p:nvSpPr>
        <p:spPr>
          <a:xfrm>
            <a:off x="6812280" y="1801368"/>
            <a:ext cx="777240" cy="329184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6848856" y="1851660"/>
            <a:ext cx="704088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640" dirty="0">
                <a:solidFill>
                  <a:srgbClr val="2F3437"/>
                </a:solidFill>
              </a:rPr>
              <a:t>25.0%</a:t>
            </a:r>
            <a:endParaRPr lang="en-US" sz="640" dirty="0"/>
          </a:p>
        </p:txBody>
      </p:sp>
      <p:sp>
        <p:nvSpPr>
          <p:cNvPr id="135" name="Shape 133"/>
          <p:cNvSpPr/>
          <p:nvPr/>
        </p:nvSpPr>
        <p:spPr>
          <a:xfrm>
            <a:off x="7589520" y="1801368"/>
            <a:ext cx="685800" cy="329184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7626096" y="1851660"/>
            <a:ext cx="612648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640" dirty="0">
                <a:solidFill>
                  <a:srgbClr val="2F3437"/>
                </a:solidFill>
              </a:rPr>
              <a:t>1.051</a:t>
            </a:r>
            <a:endParaRPr lang="en-US" sz="640" dirty="0"/>
          </a:p>
        </p:txBody>
      </p:sp>
      <p:sp>
        <p:nvSpPr>
          <p:cNvPr id="137" name="Shape 135"/>
          <p:cNvSpPr/>
          <p:nvPr/>
        </p:nvSpPr>
        <p:spPr>
          <a:xfrm>
            <a:off x="8275320" y="1801368"/>
            <a:ext cx="822960" cy="329184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8311896" y="1851660"/>
            <a:ext cx="749808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640" dirty="0">
                <a:solidFill>
                  <a:srgbClr val="2F3437"/>
                </a:solidFill>
              </a:rPr>
              <a:t>4.609</a:t>
            </a:r>
            <a:endParaRPr lang="en-US" sz="640" dirty="0"/>
          </a:p>
        </p:txBody>
      </p:sp>
      <p:sp>
        <p:nvSpPr>
          <p:cNvPr id="139" name="Shape 137"/>
          <p:cNvSpPr/>
          <p:nvPr/>
        </p:nvSpPr>
        <p:spPr>
          <a:xfrm>
            <a:off x="9098280" y="1801368"/>
            <a:ext cx="2560320" cy="329184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9134856" y="1851660"/>
            <a:ext cx="2487168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640" dirty="0">
                <a:solidFill>
                  <a:srgbClr val="2F3437"/>
                </a:solidFill>
              </a:rPr>
              <a:t>-</a:t>
            </a:r>
            <a:endParaRPr lang="en-US" sz="640" dirty="0"/>
          </a:p>
        </p:txBody>
      </p:sp>
      <p:sp>
        <p:nvSpPr>
          <p:cNvPr id="141" name="Shape 139"/>
          <p:cNvSpPr/>
          <p:nvPr/>
        </p:nvSpPr>
        <p:spPr>
          <a:xfrm>
            <a:off x="6126480" y="2130552"/>
            <a:ext cx="685800" cy="329184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6163056" y="2180844"/>
            <a:ext cx="612648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640" b="1" dirty="0">
                <a:solidFill>
                  <a:srgbClr val="2F3437"/>
                </a:solidFill>
              </a:rPr>
              <a:t>100k</a:t>
            </a:r>
            <a:endParaRPr lang="en-US" sz="640" dirty="0"/>
          </a:p>
        </p:txBody>
      </p:sp>
      <p:sp>
        <p:nvSpPr>
          <p:cNvPr id="143" name="Shape 141"/>
          <p:cNvSpPr/>
          <p:nvPr/>
        </p:nvSpPr>
        <p:spPr>
          <a:xfrm>
            <a:off x="6812280" y="2130552"/>
            <a:ext cx="777240" cy="329184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6848856" y="2180844"/>
            <a:ext cx="704088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640" dirty="0">
                <a:solidFill>
                  <a:srgbClr val="2F3437"/>
                </a:solidFill>
              </a:rPr>
              <a:t>Lifetest Spec</a:t>
            </a:r>
            <a:endParaRPr lang="en-US" sz="640" dirty="0"/>
          </a:p>
        </p:txBody>
      </p:sp>
      <p:sp>
        <p:nvSpPr>
          <p:cNvPr id="145" name="Shape 143"/>
          <p:cNvSpPr/>
          <p:nvPr/>
        </p:nvSpPr>
        <p:spPr>
          <a:xfrm>
            <a:off x="7589520" y="2130552"/>
            <a:ext cx="685800" cy="329184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7626096" y="2180844"/>
            <a:ext cx="612648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640" dirty="0">
                <a:solidFill>
                  <a:srgbClr val="2F3437"/>
                </a:solidFill>
              </a:rPr>
              <a:t>1.300</a:t>
            </a:r>
            <a:endParaRPr lang="en-US" sz="640" dirty="0"/>
          </a:p>
        </p:txBody>
      </p:sp>
      <p:sp>
        <p:nvSpPr>
          <p:cNvPr id="147" name="Shape 145"/>
          <p:cNvSpPr/>
          <p:nvPr/>
        </p:nvSpPr>
        <p:spPr>
          <a:xfrm>
            <a:off x="8275320" y="2130552"/>
            <a:ext cx="822960" cy="329184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8311896" y="2180844"/>
            <a:ext cx="749808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640" dirty="0">
                <a:solidFill>
                  <a:srgbClr val="2F3437"/>
                </a:solidFill>
              </a:rPr>
              <a:t>8.334</a:t>
            </a:r>
            <a:endParaRPr lang="en-US" sz="640" dirty="0"/>
          </a:p>
        </p:txBody>
      </p:sp>
      <p:sp>
        <p:nvSpPr>
          <p:cNvPr id="149" name="Shape 147"/>
          <p:cNvSpPr/>
          <p:nvPr/>
        </p:nvSpPr>
        <p:spPr>
          <a:xfrm>
            <a:off x="9098280" y="2130552"/>
            <a:ext cx="2560320" cy="329184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9134856" y="2180844"/>
            <a:ext cx="2487168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640" dirty="0">
                <a:solidFill>
                  <a:srgbClr val="2F3437"/>
                </a:solidFill>
              </a:rPr>
              <a:t>-</a:t>
            </a:r>
            <a:endParaRPr lang="en-US" sz="640" dirty="0"/>
          </a:p>
        </p:txBody>
      </p:sp>
      <p:sp>
        <p:nvSpPr>
          <p:cNvPr id="151" name="Shape 149"/>
          <p:cNvSpPr/>
          <p:nvPr/>
        </p:nvSpPr>
        <p:spPr>
          <a:xfrm>
            <a:off x="6126480" y="2459736"/>
            <a:ext cx="685800" cy="329184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6163056" y="2510028"/>
            <a:ext cx="612648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640" b="1" dirty="0">
                <a:solidFill>
                  <a:srgbClr val="2F3437"/>
                </a:solidFill>
              </a:rPr>
              <a:t>130k</a:t>
            </a:r>
            <a:endParaRPr lang="en-US" sz="640" dirty="0"/>
          </a:p>
        </p:txBody>
      </p:sp>
      <p:sp>
        <p:nvSpPr>
          <p:cNvPr id="153" name="Shape 151"/>
          <p:cNvSpPr/>
          <p:nvPr/>
        </p:nvSpPr>
        <p:spPr>
          <a:xfrm>
            <a:off x="6812280" y="2459736"/>
            <a:ext cx="777240" cy="329184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6848856" y="2510028"/>
            <a:ext cx="704088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640" dirty="0">
                <a:solidFill>
                  <a:srgbClr val="2F3437"/>
                </a:solidFill>
              </a:rPr>
              <a:t>50.0%</a:t>
            </a:r>
            <a:endParaRPr lang="en-US" sz="640" dirty="0"/>
          </a:p>
        </p:txBody>
      </p:sp>
      <p:sp>
        <p:nvSpPr>
          <p:cNvPr id="155" name="Shape 153"/>
          <p:cNvSpPr/>
          <p:nvPr/>
        </p:nvSpPr>
        <p:spPr>
          <a:xfrm>
            <a:off x="7589520" y="2459736"/>
            <a:ext cx="685800" cy="329184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7626096" y="2510028"/>
            <a:ext cx="612648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640" dirty="0">
                <a:solidFill>
                  <a:srgbClr val="2F3437"/>
                </a:solidFill>
              </a:rPr>
              <a:t>0.641</a:t>
            </a:r>
            <a:endParaRPr lang="en-US" sz="640" dirty="0"/>
          </a:p>
        </p:txBody>
      </p:sp>
      <p:sp>
        <p:nvSpPr>
          <p:cNvPr id="157" name="Shape 155"/>
          <p:cNvSpPr/>
          <p:nvPr/>
        </p:nvSpPr>
        <p:spPr>
          <a:xfrm>
            <a:off x="8275320" y="2459736"/>
            <a:ext cx="822960" cy="329184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8311896" y="2510028"/>
            <a:ext cx="749808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640" dirty="0">
                <a:solidFill>
                  <a:srgbClr val="2F3437"/>
                </a:solidFill>
              </a:rPr>
              <a:t>1.037</a:t>
            </a:r>
            <a:endParaRPr lang="en-US" sz="640" dirty="0"/>
          </a:p>
        </p:txBody>
      </p:sp>
      <p:sp>
        <p:nvSpPr>
          <p:cNvPr id="159" name="Shape 157"/>
          <p:cNvSpPr/>
          <p:nvPr/>
        </p:nvSpPr>
        <p:spPr>
          <a:xfrm>
            <a:off x="9098280" y="2459736"/>
            <a:ext cx="2560320" cy="329184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9134856" y="2510028"/>
            <a:ext cx="2487168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640" dirty="0">
                <a:solidFill>
                  <a:srgbClr val="2F3437"/>
                </a:solidFill>
              </a:rPr>
              <a:t>-</a:t>
            </a:r>
            <a:endParaRPr lang="en-US" sz="640" dirty="0"/>
          </a:p>
        </p:txBody>
      </p:sp>
      <p:sp>
        <p:nvSpPr>
          <p:cNvPr id="161" name="Shape 159"/>
          <p:cNvSpPr/>
          <p:nvPr/>
        </p:nvSpPr>
        <p:spPr>
          <a:xfrm>
            <a:off x="6126480" y="2788920"/>
            <a:ext cx="685800" cy="329184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6163056" y="2839212"/>
            <a:ext cx="612648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640" b="1" dirty="0">
                <a:solidFill>
                  <a:srgbClr val="2F3437"/>
                </a:solidFill>
              </a:rPr>
              <a:t>195k</a:t>
            </a:r>
            <a:endParaRPr lang="en-US" sz="640" dirty="0"/>
          </a:p>
        </p:txBody>
      </p:sp>
      <p:sp>
        <p:nvSpPr>
          <p:cNvPr id="163" name="Shape 161"/>
          <p:cNvSpPr/>
          <p:nvPr/>
        </p:nvSpPr>
        <p:spPr>
          <a:xfrm>
            <a:off x="6812280" y="2788920"/>
            <a:ext cx="777240" cy="329184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64" name="Text 162"/>
          <p:cNvSpPr/>
          <p:nvPr/>
        </p:nvSpPr>
        <p:spPr>
          <a:xfrm>
            <a:off x="6848856" y="2839212"/>
            <a:ext cx="704088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640" dirty="0">
                <a:solidFill>
                  <a:srgbClr val="2F3437"/>
                </a:solidFill>
              </a:rPr>
              <a:t>75.0%</a:t>
            </a:r>
            <a:endParaRPr lang="en-US" sz="640" dirty="0"/>
          </a:p>
        </p:txBody>
      </p:sp>
      <p:sp>
        <p:nvSpPr>
          <p:cNvPr id="165" name="Shape 163"/>
          <p:cNvSpPr/>
          <p:nvPr/>
        </p:nvSpPr>
        <p:spPr>
          <a:xfrm>
            <a:off x="7589520" y="2788920"/>
            <a:ext cx="685800" cy="329184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66" name="Text 164"/>
          <p:cNvSpPr/>
          <p:nvPr/>
        </p:nvSpPr>
        <p:spPr>
          <a:xfrm>
            <a:off x="7626096" y="2839212"/>
            <a:ext cx="612648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640" dirty="0">
                <a:solidFill>
                  <a:srgbClr val="2F3437"/>
                </a:solidFill>
              </a:rPr>
              <a:t>0.915</a:t>
            </a:r>
            <a:endParaRPr lang="en-US" sz="640" dirty="0"/>
          </a:p>
        </p:txBody>
      </p:sp>
      <p:sp>
        <p:nvSpPr>
          <p:cNvPr id="167" name="Shape 165"/>
          <p:cNvSpPr/>
          <p:nvPr/>
        </p:nvSpPr>
        <p:spPr>
          <a:xfrm>
            <a:off x="8275320" y="2788920"/>
            <a:ext cx="822960" cy="329184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68" name="Text 166"/>
          <p:cNvSpPr/>
          <p:nvPr/>
        </p:nvSpPr>
        <p:spPr>
          <a:xfrm>
            <a:off x="8311896" y="2839212"/>
            <a:ext cx="749808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640" dirty="0">
                <a:solidFill>
                  <a:srgbClr val="2F3437"/>
                </a:solidFill>
              </a:rPr>
              <a:t>4.362</a:t>
            </a:r>
            <a:endParaRPr lang="en-US" sz="640" dirty="0"/>
          </a:p>
        </p:txBody>
      </p:sp>
      <p:sp>
        <p:nvSpPr>
          <p:cNvPr id="169" name="Shape 167"/>
          <p:cNvSpPr/>
          <p:nvPr/>
        </p:nvSpPr>
        <p:spPr>
          <a:xfrm>
            <a:off x="9098280" y="2788920"/>
            <a:ext cx="2560320" cy="329184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70" name="Text 168"/>
          <p:cNvSpPr/>
          <p:nvPr/>
        </p:nvSpPr>
        <p:spPr>
          <a:xfrm>
            <a:off x="9134856" y="2839212"/>
            <a:ext cx="2487168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640" dirty="0">
                <a:solidFill>
                  <a:srgbClr val="2F3437"/>
                </a:solidFill>
              </a:rPr>
              <a:t>-</a:t>
            </a:r>
            <a:endParaRPr lang="en-US" sz="640" dirty="0"/>
          </a:p>
        </p:txBody>
      </p:sp>
      <p:sp>
        <p:nvSpPr>
          <p:cNvPr id="171" name="Shape 169"/>
          <p:cNvSpPr/>
          <p:nvPr/>
        </p:nvSpPr>
        <p:spPr>
          <a:xfrm>
            <a:off x="6126480" y="3118104"/>
            <a:ext cx="685800" cy="329184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72" name="Text 170"/>
          <p:cNvSpPr/>
          <p:nvPr/>
        </p:nvSpPr>
        <p:spPr>
          <a:xfrm>
            <a:off x="6163056" y="3168396"/>
            <a:ext cx="612648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640" b="1" dirty="0">
                <a:solidFill>
                  <a:srgbClr val="2F3437"/>
                </a:solidFill>
              </a:rPr>
              <a:t>260k</a:t>
            </a:r>
            <a:endParaRPr lang="en-US" sz="640" dirty="0"/>
          </a:p>
        </p:txBody>
      </p:sp>
      <p:sp>
        <p:nvSpPr>
          <p:cNvPr id="173" name="Shape 171"/>
          <p:cNvSpPr/>
          <p:nvPr/>
        </p:nvSpPr>
        <p:spPr>
          <a:xfrm>
            <a:off x="6812280" y="3118104"/>
            <a:ext cx="777240" cy="329184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74" name="Text 172"/>
          <p:cNvSpPr/>
          <p:nvPr/>
        </p:nvSpPr>
        <p:spPr>
          <a:xfrm>
            <a:off x="6848856" y="3168396"/>
            <a:ext cx="704088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640" dirty="0">
                <a:solidFill>
                  <a:srgbClr val="2F3437"/>
                </a:solidFill>
              </a:rPr>
              <a:t>100.0%</a:t>
            </a:r>
            <a:endParaRPr lang="en-US" sz="640" dirty="0"/>
          </a:p>
        </p:txBody>
      </p:sp>
      <p:sp>
        <p:nvSpPr>
          <p:cNvPr id="175" name="Shape 173"/>
          <p:cNvSpPr/>
          <p:nvPr/>
        </p:nvSpPr>
        <p:spPr>
          <a:xfrm>
            <a:off x="7589520" y="3118104"/>
            <a:ext cx="685800" cy="329184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76" name="Text 174"/>
          <p:cNvSpPr/>
          <p:nvPr/>
        </p:nvSpPr>
        <p:spPr>
          <a:xfrm>
            <a:off x="7626096" y="3168396"/>
            <a:ext cx="612648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640" dirty="0">
                <a:solidFill>
                  <a:srgbClr val="2F3437"/>
                </a:solidFill>
              </a:rPr>
              <a:t>0.602</a:t>
            </a:r>
            <a:endParaRPr lang="en-US" sz="640" dirty="0"/>
          </a:p>
        </p:txBody>
      </p:sp>
      <p:sp>
        <p:nvSpPr>
          <p:cNvPr id="177" name="Shape 175"/>
          <p:cNvSpPr/>
          <p:nvPr/>
        </p:nvSpPr>
        <p:spPr>
          <a:xfrm>
            <a:off x="8275320" y="3118104"/>
            <a:ext cx="822960" cy="329184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78" name="Text 176"/>
          <p:cNvSpPr/>
          <p:nvPr/>
        </p:nvSpPr>
        <p:spPr>
          <a:xfrm>
            <a:off x="8311896" y="3168396"/>
            <a:ext cx="749808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640" dirty="0">
                <a:solidFill>
                  <a:srgbClr val="2F3437"/>
                </a:solidFill>
              </a:rPr>
              <a:t>1.061</a:t>
            </a:r>
            <a:endParaRPr lang="en-US" sz="640" dirty="0"/>
          </a:p>
        </p:txBody>
      </p:sp>
      <p:sp>
        <p:nvSpPr>
          <p:cNvPr id="179" name="Shape 177"/>
          <p:cNvSpPr/>
          <p:nvPr/>
        </p:nvSpPr>
        <p:spPr>
          <a:xfrm>
            <a:off x="9098280" y="3118104"/>
            <a:ext cx="2560320" cy="329184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80" name="Text 178"/>
          <p:cNvSpPr/>
          <p:nvPr/>
        </p:nvSpPr>
        <p:spPr>
          <a:xfrm>
            <a:off x="9134856" y="3168396"/>
            <a:ext cx="2487168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640" dirty="0">
                <a:solidFill>
                  <a:srgbClr val="2F3437"/>
                </a:solidFill>
              </a:rPr>
              <a:t>-</a:t>
            </a:r>
            <a:endParaRPr lang="en-US" sz="640" dirty="0"/>
          </a:p>
        </p:txBody>
      </p:sp>
      <p:sp>
        <p:nvSpPr>
          <p:cNvPr id="181" name="Shape 179"/>
          <p:cNvSpPr/>
          <p:nvPr/>
        </p:nvSpPr>
        <p:spPr>
          <a:xfrm>
            <a:off x="6126480" y="3447288"/>
            <a:ext cx="685800" cy="329184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82" name="Text 180"/>
          <p:cNvSpPr/>
          <p:nvPr/>
        </p:nvSpPr>
        <p:spPr>
          <a:xfrm>
            <a:off x="6163056" y="3497580"/>
            <a:ext cx="612648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640" b="1" dirty="0">
                <a:solidFill>
                  <a:srgbClr val="2F3437"/>
                </a:solidFill>
              </a:rPr>
              <a:t>520k</a:t>
            </a:r>
            <a:endParaRPr lang="en-US" sz="640" dirty="0"/>
          </a:p>
        </p:txBody>
      </p:sp>
      <p:sp>
        <p:nvSpPr>
          <p:cNvPr id="183" name="Shape 181"/>
          <p:cNvSpPr/>
          <p:nvPr/>
        </p:nvSpPr>
        <p:spPr>
          <a:xfrm>
            <a:off x="6812280" y="3447288"/>
            <a:ext cx="777240" cy="329184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84" name="Text 182"/>
          <p:cNvSpPr/>
          <p:nvPr/>
        </p:nvSpPr>
        <p:spPr>
          <a:xfrm>
            <a:off x="6848856" y="3497580"/>
            <a:ext cx="704088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640" dirty="0">
                <a:solidFill>
                  <a:srgbClr val="2F3437"/>
                </a:solidFill>
              </a:rPr>
              <a:t>200.0%</a:t>
            </a:r>
            <a:endParaRPr lang="en-US" sz="640" dirty="0"/>
          </a:p>
        </p:txBody>
      </p:sp>
      <p:sp>
        <p:nvSpPr>
          <p:cNvPr id="185" name="Shape 183"/>
          <p:cNvSpPr/>
          <p:nvPr/>
        </p:nvSpPr>
        <p:spPr>
          <a:xfrm>
            <a:off x="7589520" y="3447288"/>
            <a:ext cx="685800" cy="329184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86" name="Text 184"/>
          <p:cNvSpPr/>
          <p:nvPr/>
        </p:nvSpPr>
        <p:spPr>
          <a:xfrm>
            <a:off x="7626096" y="3497580"/>
            <a:ext cx="612648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640" dirty="0">
                <a:solidFill>
                  <a:srgbClr val="2F3437"/>
                </a:solidFill>
              </a:rPr>
              <a:t>0.748</a:t>
            </a:r>
            <a:endParaRPr lang="en-US" sz="640" dirty="0"/>
          </a:p>
        </p:txBody>
      </p:sp>
      <p:sp>
        <p:nvSpPr>
          <p:cNvPr id="187" name="Shape 185"/>
          <p:cNvSpPr/>
          <p:nvPr/>
        </p:nvSpPr>
        <p:spPr>
          <a:xfrm>
            <a:off x="8275320" y="3447288"/>
            <a:ext cx="822960" cy="329184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88" name="Text 186"/>
          <p:cNvSpPr/>
          <p:nvPr/>
        </p:nvSpPr>
        <p:spPr>
          <a:xfrm>
            <a:off x="8311896" y="3497580"/>
            <a:ext cx="749808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640" dirty="0">
                <a:solidFill>
                  <a:srgbClr val="2F3437"/>
                </a:solidFill>
              </a:rPr>
              <a:t>1.387</a:t>
            </a:r>
            <a:endParaRPr lang="en-US" sz="640" dirty="0"/>
          </a:p>
        </p:txBody>
      </p:sp>
      <p:sp>
        <p:nvSpPr>
          <p:cNvPr id="189" name="Shape 187"/>
          <p:cNvSpPr/>
          <p:nvPr/>
        </p:nvSpPr>
        <p:spPr>
          <a:xfrm>
            <a:off x="9098280" y="3447288"/>
            <a:ext cx="2560320" cy="329184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90" name="Text 188"/>
          <p:cNvSpPr/>
          <p:nvPr/>
        </p:nvSpPr>
        <p:spPr>
          <a:xfrm>
            <a:off x="9134856" y="3497580"/>
            <a:ext cx="2487168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640" dirty="0">
                <a:solidFill>
                  <a:srgbClr val="2F3437"/>
                </a:solidFill>
              </a:rPr>
              <a:t>-</a:t>
            </a:r>
            <a:endParaRPr lang="en-US" sz="640" dirty="0"/>
          </a:p>
        </p:txBody>
      </p:sp>
      <p:sp>
        <p:nvSpPr>
          <p:cNvPr id="191" name="Shape 189"/>
          <p:cNvSpPr/>
          <p:nvPr/>
        </p:nvSpPr>
        <p:spPr>
          <a:xfrm>
            <a:off x="6126480" y="3776472"/>
            <a:ext cx="685800" cy="329184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92" name="Text 190"/>
          <p:cNvSpPr/>
          <p:nvPr/>
        </p:nvSpPr>
        <p:spPr>
          <a:xfrm>
            <a:off x="6163056" y="3826764"/>
            <a:ext cx="612648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640" b="1" dirty="0">
                <a:solidFill>
                  <a:srgbClr val="2F3437"/>
                </a:solidFill>
              </a:rPr>
              <a:t>620k</a:t>
            </a:r>
            <a:endParaRPr lang="en-US" sz="640" dirty="0"/>
          </a:p>
        </p:txBody>
      </p:sp>
      <p:sp>
        <p:nvSpPr>
          <p:cNvPr id="193" name="Shape 191"/>
          <p:cNvSpPr/>
          <p:nvPr/>
        </p:nvSpPr>
        <p:spPr>
          <a:xfrm>
            <a:off x="6812280" y="3776472"/>
            <a:ext cx="777240" cy="329184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94" name="Text 192"/>
          <p:cNvSpPr/>
          <p:nvPr/>
        </p:nvSpPr>
        <p:spPr>
          <a:xfrm>
            <a:off x="6848856" y="3826764"/>
            <a:ext cx="704088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640" dirty="0">
                <a:solidFill>
                  <a:srgbClr val="2F3437"/>
                </a:solidFill>
              </a:rPr>
              <a:t>238.5%</a:t>
            </a:r>
            <a:endParaRPr lang="en-US" sz="640" dirty="0"/>
          </a:p>
        </p:txBody>
      </p:sp>
      <p:sp>
        <p:nvSpPr>
          <p:cNvPr id="195" name="Shape 193"/>
          <p:cNvSpPr/>
          <p:nvPr/>
        </p:nvSpPr>
        <p:spPr>
          <a:xfrm>
            <a:off x="7589520" y="3776472"/>
            <a:ext cx="685800" cy="329184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96" name="Text 194"/>
          <p:cNvSpPr/>
          <p:nvPr/>
        </p:nvSpPr>
        <p:spPr>
          <a:xfrm>
            <a:off x="7626096" y="3826764"/>
            <a:ext cx="612648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640" dirty="0">
                <a:solidFill>
                  <a:srgbClr val="2F3437"/>
                </a:solidFill>
              </a:rPr>
              <a:t>0.656</a:t>
            </a:r>
            <a:endParaRPr lang="en-US" sz="640" dirty="0"/>
          </a:p>
        </p:txBody>
      </p:sp>
      <p:sp>
        <p:nvSpPr>
          <p:cNvPr id="197" name="Shape 195"/>
          <p:cNvSpPr/>
          <p:nvPr/>
        </p:nvSpPr>
        <p:spPr>
          <a:xfrm>
            <a:off x="8275320" y="3776472"/>
            <a:ext cx="822960" cy="329184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98" name="Text 196"/>
          <p:cNvSpPr/>
          <p:nvPr/>
        </p:nvSpPr>
        <p:spPr>
          <a:xfrm>
            <a:off x="8311896" y="3826764"/>
            <a:ext cx="749808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640" dirty="0">
                <a:solidFill>
                  <a:srgbClr val="2F3437"/>
                </a:solidFill>
              </a:rPr>
              <a:t>0.921</a:t>
            </a:r>
            <a:endParaRPr lang="en-US" sz="640" dirty="0"/>
          </a:p>
        </p:txBody>
      </p:sp>
      <p:sp>
        <p:nvSpPr>
          <p:cNvPr id="199" name="Shape 197"/>
          <p:cNvSpPr/>
          <p:nvPr/>
        </p:nvSpPr>
        <p:spPr>
          <a:xfrm>
            <a:off x="9098280" y="3776472"/>
            <a:ext cx="2560320" cy="329184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200" name="Text 198"/>
          <p:cNvSpPr/>
          <p:nvPr/>
        </p:nvSpPr>
        <p:spPr>
          <a:xfrm>
            <a:off x="9134856" y="3826764"/>
            <a:ext cx="2487168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640" dirty="0">
                <a:solidFill>
                  <a:srgbClr val="2F3437"/>
                </a:solidFill>
              </a:rPr>
              <a:t>-</a:t>
            </a:r>
            <a:endParaRPr lang="en-US" sz="640" dirty="0"/>
          </a:p>
        </p:txBody>
      </p:sp>
      <p:sp>
        <p:nvSpPr>
          <p:cNvPr id="201" name="Shape 199"/>
          <p:cNvSpPr/>
          <p:nvPr/>
        </p:nvSpPr>
        <p:spPr>
          <a:xfrm>
            <a:off x="6126480" y="4105656"/>
            <a:ext cx="685800" cy="329184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202" name="Text 200"/>
          <p:cNvSpPr/>
          <p:nvPr/>
        </p:nvSpPr>
        <p:spPr>
          <a:xfrm>
            <a:off x="6163056" y="4155948"/>
            <a:ext cx="612648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640" b="1" dirty="0">
                <a:solidFill>
                  <a:srgbClr val="2F3437"/>
                </a:solidFill>
              </a:rPr>
              <a:t>820k</a:t>
            </a:r>
            <a:endParaRPr lang="en-US" sz="640" dirty="0"/>
          </a:p>
        </p:txBody>
      </p:sp>
      <p:sp>
        <p:nvSpPr>
          <p:cNvPr id="203" name="Shape 201"/>
          <p:cNvSpPr/>
          <p:nvPr/>
        </p:nvSpPr>
        <p:spPr>
          <a:xfrm>
            <a:off x="6812280" y="4105656"/>
            <a:ext cx="777240" cy="329184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204" name="Text 202"/>
          <p:cNvSpPr/>
          <p:nvPr/>
        </p:nvSpPr>
        <p:spPr>
          <a:xfrm>
            <a:off x="6848856" y="4155948"/>
            <a:ext cx="704088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640" dirty="0">
                <a:solidFill>
                  <a:srgbClr val="2F3437"/>
                </a:solidFill>
              </a:rPr>
              <a:t>315.4%</a:t>
            </a:r>
            <a:endParaRPr lang="en-US" sz="640" dirty="0"/>
          </a:p>
        </p:txBody>
      </p:sp>
      <p:sp>
        <p:nvSpPr>
          <p:cNvPr id="205" name="Shape 203"/>
          <p:cNvSpPr/>
          <p:nvPr/>
        </p:nvSpPr>
        <p:spPr>
          <a:xfrm>
            <a:off x="7589520" y="4105656"/>
            <a:ext cx="685800" cy="329184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206" name="Text 204"/>
          <p:cNvSpPr/>
          <p:nvPr/>
        </p:nvSpPr>
        <p:spPr>
          <a:xfrm>
            <a:off x="7626096" y="4155948"/>
            <a:ext cx="612648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640" dirty="0">
                <a:solidFill>
                  <a:srgbClr val="2F3437"/>
                </a:solidFill>
              </a:rPr>
              <a:t>0.547</a:t>
            </a:r>
            <a:endParaRPr lang="en-US" sz="640" dirty="0"/>
          </a:p>
        </p:txBody>
      </p:sp>
      <p:sp>
        <p:nvSpPr>
          <p:cNvPr id="207" name="Shape 205"/>
          <p:cNvSpPr/>
          <p:nvPr/>
        </p:nvSpPr>
        <p:spPr>
          <a:xfrm>
            <a:off x="8275320" y="4105656"/>
            <a:ext cx="822960" cy="329184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208" name="Text 206"/>
          <p:cNvSpPr/>
          <p:nvPr/>
        </p:nvSpPr>
        <p:spPr>
          <a:xfrm>
            <a:off x="8311896" y="4155948"/>
            <a:ext cx="749808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640" dirty="0">
                <a:solidFill>
                  <a:srgbClr val="2F3437"/>
                </a:solidFill>
              </a:rPr>
              <a:t>1.253</a:t>
            </a:r>
            <a:endParaRPr lang="en-US" sz="640" dirty="0"/>
          </a:p>
        </p:txBody>
      </p:sp>
      <p:sp>
        <p:nvSpPr>
          <p:cNvPr id="209" name="Shape 207"/>
          <p:cNvSpPr/>
          <p:nvPr/>
        </p:nvSpPr>
        <p:spPr>
          <a:xfrm>
            <a:off x="9098280" y="4105656"/>
            <a:ext cx="2560320" cy="329184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210" name="Text 208"/>
          <p:cNvSpPr/>
          <p:nvPr/>
        </p:nvSpPr>
        <p:spPr>
          <a:xfrm>
            <a:off x="9134856" y="4155948"/>
            <a:ext cx="2487168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640" dirty="0">
                <a:solidFill>
                  <a:srgbClr val="2F3437"/>
                </a:solidFill>
              </a:rPr>
              <a:t>-</a:t>
            </a:r>
            <a:endParaRPr lang="en-US" sz="640" dirty="0"/>
          </a:p>
        </p:txBody>
      </p:sp>
      <p:sp>
        <p:nvSpPr>
          <p:cNvPr id="211" name="Shape 209"/>
          <p:cNvSpPr/>
          <p:nvPr/>
        </p:nvSpPr>
        <p:spPr>
          <a:xfrm>
            <a:off x="6126480" y="4434840"/>
            <a:ext cx="685800" cy="329184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212" name="Text 210"/>
          <p:cNvSpPr/>
          <p:nvPr/>
        </p:nvSpPr>
        <p:spPr>
          <a:xfrm>
            <a:off x="6163056" y="4485132"/>
            <a:ext cx="612648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640" b="1" dirty="0">
                <a:solidFill>
                  <a:srgbClr val="2F3437"/>
                </a:solidFill>
              </a:rPr>
              <a:t>1020k</a:t>
            </a:r>
            <a:endParaRPr lang="en-US" sz="640" dirty="0"/>
          </a:p>
        </p:txBody>
      </p:sp>
      <p:sp>
        <p:nvSpPr>
          <p:cNvPr id="213" name="Shape 211"/>
          <p:cNvSpPr/>
          <p:nvPr/>
        </p:nvSpPr>
        <p:spPr>
          <a:xfrm>
            <a:off x="6812280" y="4434840"/>
            <a:ext cx="777240" cy="329184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214" name="Text 212"/>
          <p:cNvSpPr/>
          <p:nvPr/>
        </p:nvSpPr>
        <p:spPr>
          <a:xfrm>
            <a:off x="6848856" y="4485132"/>
            <a:ext cx="704088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640" dirty="0">
                <a:solidFill>
                  <a:srgbClr val="2F3437"/>
                </a:solidFill>
              </a:rPr>
              <a:t>392.3%</a:t>
            </a:r>
            <a:endParaRPr lang="en-US" sz="640" dirty="0"/>
          </a:p>
        </p:txBody>
      </p:sp>
      <p:sp>
        <p:nvSpPr>
          <p:cNvPr id="215" name="Shape 213"/>
          <p:cNvSpPr/>
          <p:nvPr/>
        </p:nvSpPr>
        <p:spPr>
          <a:xfrm>
            <a:off x="7589520" y="4434840"/>
            <a:ext cx="685800" cy="329184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216" name="Text 214"/>
          <p:cNvSpPr/>
          <p:nvPr/>
        </p:nvSpPr>
        <p:spPr>
          <a:xfrm>
            <a:off x="7626096" y="4485132"/>
            <a:ext cx="612648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640" dirty="0">
                <a:solidFill>
                  <a:srgbClr val="2F3437"/>
                </a:solidFill>
              </a:rPr>
              <a:t>6.839</a:t>
            </a:r>
            <a:endParaRPr lang="en-US" sz="640" dirty="0"/>
          </a:p>
        </p:txBody>
      </p:sp>
      <p:sp>
        <p:nvSpPr>
          <p:cNvPr id="217" name="Shape 215"/>
          <p:cNvSpPr/>
          <p:nvPr/>
        </p:nvSpPr>
        <p:spPr>
          <a:xfrm>
            <a:off x="8275320" y="4434840"/>
            <a:ext cx="822960" cy="329184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218" name="Text 216"/>
          <p:cNvSpPr/>
          <p:nvPr/>
        </p:nvSpPr>
        <p:spPr>
          <a:xfrm>
            <a:off x="8311896" y="4485132"/>
            <a:ext cx="749808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640" dirty="0">
                <a:solidFill>
                  <a:srgbClr val="2F3437"/>
                </a:solidFill>
              </a:rPr>
              <a:t>3.150</a:t>
            </a:r>
            <a:endParaRPr lang="en-US" sz="640" dirty="0"/>
          </a:p>
        </p:txBody>
      </p:sp>
      <p:sp>
        <p:nvSpPr>
          <p:cNvPr id="219" name="Shape 217"/>
          <p:cNvSpPr/>
          <p:nvPr/>
        </p:nvSpPr>
        <p:spPr>
          <a:xfrm>
            <a:off x="9098280" y="4434840"/>
            <a:ext cx="2560320" cy="329184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220" name="Text 218"/>
          <p:cNvSpPr/>
          <p:nvPr/>
        </p:nvSpPr>
        <p:spPr>
          <a:xfrm>
            <a:off x="9134856" y="4485132"/>
            <a:ext cx="2487168" cy="25603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640" dirty="0">
                <a:solidFill>
                  <a:srgbClr val="2F3437"/>
                </a:solidFill>
              </a:rPr>
              <a:t>-</a:t>
            </a:r>
            <a:endParaRPr lang="en-US" sz="640" dirty="0"/>
          </a:p>
        </p:txBody>
      </p:sp>
      <p:sp>
        <p:nvSpPr>
          <p:cNvPr id="221" name="Shape 219"/>
          <p:cNvSpPr/>
          <p:nvPr/>
        </p:nvSpPr>
        <p:spPr>
          <a:xfrm>
            <a:off x="777240" y="5074920"/>
            <a:ext cx="10104120" cy="621792"/>
          </a:xfrm>
          <a:prstGeom prst="roundRect">
            <a:avLst>
              <a:gd name="adj" fmla="val 8824"/>
            </a:avLst>
          </a:prstGeom>
          <a:solidFill>
            <a:srgbClr val="FEF2F2"/>
          </a:solidFill>
          <a:ln w="10160">
            <a:solidFill>
              <a:srgbClr val="FECACA"/>
            </a:solidFill>
            <a:prstDash val="solid"/>
          </a:ln>
        </p:spPr>
      </p:sp>
      <p:sp>
        <p:nvSpPr>
          <p:cNvPr id="222" name="Text 220"/>
          <p:cNvSpPr/>
          <p:nvPr/>
        </p:nvSpPr>
        <p:spPr>
          <a:xfrm>
            <a:off x="960120" y="5285232"/>
            <a:ext cx="9738360" cy="14630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2F3437"/>
                </a:solidFill>
              </a:rPr>
              <a:t>Data read: latest CV 6.839 is also max CV, with plate1/2/3 = 6.743 / 6.944 / 6.898. This is a repeatable plate-level pattern at the latest point, not a single plate outlier.</a:t>
            </a:r>
            <a:endParaRPr lang="en-US" sz="10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83464"/>
            <a:ext cx="932688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50" b="1" dirty="0">
                <a:solidFill>
                  <a:srgbClr val="2168D3"/>
                </a:solidFill>
              </a:rPr>
              <a:t>9. Case Analysis - A04 / 1217A05：吸水异常与局部通道风险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502920" y="667512"/>
            <a:ext cx="1028700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87384"/>
                </a:solidFill>
              </a:rPr>
              <a:t>A04 有 LOW %D + oil leak event；1217A05 有明确 C5/C7 low aspiration fail。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104120" y="310896"/>
            <a:ext cx="14173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2168D3"/>
                </a:solidFill>
              </a:rPr>
              <a:t>Opentrons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960120"/>
            <a:ext cx="1083564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47104"/>
            <a:ext cx="475488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87384"/>
                </a:solidFill>
              </a:rPr>
              <a:t>P1000H O-ring Data Analysis | 2026-06-04 | 10/13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502920" y="1115568"/>
            <a:ext cx="960120" cy="457200"/>
          </a:xfrm>
          <a:prstGeom prst="rect">
            <a:avLst/>
          </a:prstGeom>
          <a:solidFill>
            <a:srgbClr val="2168D3"/>
          </a:solidFill>
          <a:ln w="6350">
            <a:solidFill>
              <a:srgbClr val="2168D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9496" y="1170432"/>
            <a:ext cx="886968" cy="38404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</a:rPr>
              <a:t>Unit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463040" y="1115568"/>
            <a:ext cx="960120" cy="457200"/>
          </a:xfrm>
          <a:prstGeom prst="rect">
            <a:avLst/>
          </a:prstGeom>
          <a:solidFill>
            <a:srgbClr val="2168D3"/>
          </a:solidFill>
          <a:ln w="6350">
            <a:solidFill>
              <a:srgbClr val="2168D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99616" y="1170432"/>
            <a:ext cx="886968" cy="38404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</a:rPr>
              <a:t>Cycle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423160" y="1115568"/>
            <a:ext cx="5989320" cy="457200"/>
          </a:xfrm>
          <a:prstGeom prst="rect">
            <a:avLst/>
          </a:prstGeom>
          <a:solidFill>
            <a:srgbClr val="2168D3"/>
          </a:solidFill>
          <a:ln w="6350">
            <a:solidFill>
              <a:srgbClr val="2168D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59736" y="1170432"/>
            <a:ext cx="5916168" cy="38404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</a:rPr>
              <a:t>Data evidence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8412480" y="1115568"/>
            <a:ext cx="2377440" cy="457200"/>
          </a:xfrm>
          <a:prstGeom prst="rect">
            <a:avLst/>
          </a:prstGeom>
          <a:solidFill>
            <a:srgbClr val="2168D3"/>
          </a:solidFill>
          <a:ln w="6350">
            <a:solidFill>
              <a:srgbClr val="2168D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49056" y="1170432"/>
            <a:ext cx="2304288" cy="38404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</a:rPr>
              <a:t>Interpretation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02920" y="1572768"/>
            <a:ext cx="96012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9496" y="1623060"/>
            <a:ext cx="886968" cy="38404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10" b="1" dirty="0">
                <a:solidFill>
                  <a:srgbClr val="2F3437"/>
                </a:solidFill>
              </a:rPr>
              <a:t>0624A04</a:t>
            </a:r>
            <a:endParaRPr lang="en-US" sz="810" dirty="0"/>
          </a:p>
        </p:txBody>
      </p:sp>
      <p:sp>
        <p:nvSpPr>
          <p:cNvPr id="17" name="Shape 15"/>
          <p:cNvSpPr/>
          <p:nvPr/>
        </p:nvSpPr>
        <p:spPr>
          <a:xfrm>
            <a:off x="1463040" y="1572768"/>
            <a:ext cx="96012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99616" y="1623060"/>
            <a:ext cx="886968" cy="38404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10" b="1" dirty="0">
                <a:solidFill>
                  <a:srgbClr val="2F3437"/>
                </a:solidFill>
              </a:rPr>
              <a:t>100k</a:t>
            </a:r>
            <a:endParaRPr lang="en-US" sz="810" dirty="0"/>
          </a:p>
        </p:txBody>
      </p:sp>
      <p:sp>
        <p:nvSpPr>
          <p:cNvPr id="19" name="Shape 17"/>
          <p:cNvSpPr/>
          <p:nvPr/>
        </p:nvSpPr>
        <p:spPr>
          <a:xfrm>
            <a:off x="2423160" y="1572768"/>
            <a:ext cx="598932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59736" y="1623060"/>
            <a:ext cx="5916168" cy="38404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10" dirty="0">
                <a:solidFill>
                  <a:srgbClr val="2F3437"/>
                </a:solidFill>
              </a:rPr>
              <a:t>F1 LOW %D in plate5</a:t>
            </a:r>
            <a:endParaRPr lang="en-US" sz="810" dirty="0"/>
          </a:p>
        </p:txBody>
      </p:sp>
      <p:sp>
        <p:nvSpPr>
          <p:cNvPr id="21" name="Shape 19"/>
          <p:cNvSpPr/>
          <p:nvPr/>
        </p:nvSpPr>
        <p:spPr>
          <a:xfrm>
            <a:off x="8412480" y="1572768"/>
            <a:ext cx="237744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49056" y="1623060"/>
            <a:ext cx="2304288" cy="38404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10" dirty="0">
                <a:solidFill>
                  <a:srgbClr val="2F3437"/>
                </a:solidFill>
              </a:rPr>
              <a:t>早期吸水异常</a:t>
            </a:r>
            <a:endParaRPr lang="en-US" sz="810" dirty="0"/>
          </a:p>
        </p:txBody>
      </p:sp>
      <p:sp>
        <p:nvSpPr>
          <p:cNvPr id="23" name="Shape 21"/>
          <p:cNvSpPr/>
          <p:nvPr/>
        </p:nvSpPr>
        <p:spPr>
          <a:xfrm>
            <a:off x="502920" y="2029968"/>
            <a:ext cx="960120" cy="457200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9496" y="2080260"/>
            <a:ext cx="886968" cy="38404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10" b="1" dirty="0">
                <a:solidFill>
                  <a:srgbClr val="2F3437"/>
                </a:solidFill>
              </a:rPr>
              <a:t>0624A04</a:t>
            </a:r>
            <a:endParaRPr lang="en-US" sz="810" dirty="0"/>
          </a:p>
        </p:txBody>
      </p:sp>
      <p:sp>
        <p:nvSpPr>
          <p:cNvPr id="25" name="Shape 23"/>
          <p:cNvSpPr/>
          <p:nvPr/>
        </p:nvSpPr>
        <p:spPr>
          <a:xfrm>
            <a:off x="1463040" y="2029968"/>
            <a:ext cx="960120" cy="457200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499616" y="2080260"/>
            <a:ext cx="886968" cy="38404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10" b="1" dirty="0">
                <a:solidFill>
                  <a:srgbClr val="2F3437"/>
                </a:solidFill>
              </a:rPr>
              <a:t>260k</a:t>
            </a:r>
            <a:endParaRPr lang="en-US" sz="810" dirty="0"/>
          </a:p>
        </p:txBody>
      </p:sp>
      <p:sp>
        <p:nvSpPr>
          <p:cNvPr id="27" name="Shape 25"/>
          <p:cNvSpPr/>
          <p:nvPr/>
        </p:nvSpPr>
        <p:spPr>
          <a:xfrm>
            <a:off x="2423160" y="2029968"/>
            <a:ext cx="5989320" cy="457200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459736" y="2080260"/>
            <a:ext cx="5916168" cy="38404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10" dirty="0">
                <a:solidFill>
                  <a:srgbClr val="2F3437"/>
                </a:solidFill>
              </a:rPr>
              <a:t>A5 LOW %D plate4</a:t>
            </a:r>
            <a:endParaRPr lang="en-US" sz="810" dirty="0"/>
          </a:p>
        </p:txBody>
      </p:sp>
      <p:sp>
        <p:nvSpPr>
          <p:cNvPr id="29" name="Shape 27"/>
          <p:cNvSpPr/>
          <p:nvPr/>
        </p:nvSpPr>
        <p:spPr>
          <a:xfrm>
            <a:off x="8412480" y="2029968"/>
            <a:ext cx="2377440" cy="457200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49056" y="2080260"/>
            <a:ext cx="2304288" cy="38404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10" dirty="0">
                <a:solidFill>
                  <a:srgbClr val="2F3437"/>
                </a:solidFill>
              </a:rPr>
              <a:t>重复 LOW %D</a:t>
            </a:r>
            <a:endParaRPr lang="en-US" sz="810" dirty="0"/>
          </a:p>
        </p:txBody>
      </p:sp>
      <p:sp>
        <p:nvSpPr>
          <p:cNvPr id="31" name="Shape 29"/>
          <p:cNvSpPr/>
          <p:nvPr/>
        </p:nvSpPr>
        <p:spPr>
          <a:xfrm>
            <a:off x="502920" y="2487168"/>
            <a:ext cx="96012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9496" y="2537460"/>
            <a:ext cx="886968" cy="38404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10" b="1" dirty="0">
                <a:solidFill>
                  <a:srgbClr val="2F3437"/>
                </a:solidFill>
              </a:rPr>
              <a:t>0624A04</a:t>
            </a:r>
            <a:endParaRPr lang="en-US" sz="810" dirty="0"/>
          </a:p>
        </p:txBody>
      </p:sp>
      <p:sp>
        <p:nvSpPr>
          <p:cNvPr id="33" name="Shape 31"/>
          <p:cNvSpPr/>
          <p:nvPr/>
        </p:nvSpPr>
        <p:spPr>
          <a:xfrm>
            <a:off x="1463040" y="2487168"/>
            <a:ext cx="96012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499616" y="2537460"/>
            <a:ext cx="886968" cy="38404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10" b="1" dirty="0">
                <a:solidFill>
                  <a:srgbClr val="2F3437"/>
                </a:solidFill>
              </a:rPr>
              <a:t>520k</a:t>
            </a:r>
            <a:endParaRPr lang="en-US" sz="810" dirty="0"/>
          </a:p>
        </p:txBody>
      </p:sp>
      <p:sp>
        <p:nvSpPr>
          <p:cNvPr id="35" name="Shape 33"/>
          <p:cNvSpPr/>
          <p:nvPr/>
        </p:nvSpPr>
        <p:spPr>
          <a:xfrm>
            <a:off x="2423160" y="2487168"/>
            <a:ext cx="598932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459736" y="2537460"/>
            <a:ext cx="5916168" cy="38404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10" dirty="0">
                <a:solidFill>
                  <a:srgbClr val="2F3437"/>
                </a:solidFill>
              </a:rPr>
              <a:t>Oil leak / sensor error; max CV 5.642; max worst 11.204</a:t>
            </a:r>
            <a:endParaRPr lang="en-US" sz="810" dirty="0"/>
          </a:p>
        </p:txBody>
      </p:sp>
      <p:sp>
        <p:nvSpPr>
          <p:cNvPr id="37" name="Shape 35"/>
          <p:cNvSpPr/>
          <p:nvPr/>
        </p:nvSpPr>
        <p:spPr>
          <a:xfrm>
            <a:off x="8412480" y="2487168"/>
            <a:ext cx="237744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449056" y="2537460"/>
            <a:ext cx="2304288" cy="38404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10" dirty="0">
                <a:solidFill>
                  <a:srgbClr val="2F3437"/>
                </a:solidFill>
              </a:rPr>
              <a:t>事件 + optical peak</a:t>
            </a:r>
            <a:endParaRPr lang="en-US" sz="810" dirty="0"/>
          </a:p>
        </p:txBody>
      </p:sp>
      <p:sp>
        <p:nvSpPr>
          <p:cNvPr id="39" name="Shape 37"/>
          <p:cNvSpPr/>
          <p:nvPr/>
        </p:nvSpPr>
        <p:spPr>
          <a:xfrm>
            <a:off x="502920" y="2944368"/>
            <a:ext cx="960120" cy="457200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9496" y="2994660"/>
            <a:ext cx="886968" cy="38404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10" b="1" dirty="0">
                <a:solidFill>
                  <a:srgbClr val="2F3437"/>
                </a:solidFill>
              </a:rPr>
              <a:t>0624A04</a:t>
            </a:r>
            <a:endParaRPr lang="en-US" sz="810" dirty="0"/>
          </a:p>
        </p:txBody>
      </p:sp>
      <p:sp>
        <p:nvSpPr>
          <p:cNvPr id="41" name="Shape 39"/>
          <p:cNvSpPr/>
          <p:nvPr/>
        </p:nvSpPr>
        <p:spPr>
          <a:xfrm>
            <a:off x="1463040" y="2944368"/>
            <a:ext cx="960120" cy="457200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499616" y="2994660"/>
            <a:ext cx="886968" cy="38404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10" b="1" dirty="0">
                <a:solidFill>
                  <a:srgbClr val="2F3437"/>
                </a:solidFill>
              </a:rPr>
              <a:t>1020k</a:t>
            </a:r>
            <a:endParaRPr lang="en-US" sz="810" dirty="0"/>
          </a:p>
        </p:txBody>
      </p:sp>
      <p:sp>
        <p:nvSpPr>
          <p:cNvPr id="43" name="Shape 41"/>
          <p:cNvSpPr/>
          <p:nvPr/>
        </p:nvSpPr>
        <p:spPr>
          <a:xfrm>
            <a:off x="2423160" y="2944368"/>
            <a:ext cx="5989320" cy="457200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459736" y="2994660"/>
            <a:ext cx="5916168" cy="38404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10" dirty="0">
                <a:solidFill>
                  <a:srgbClr val="2F3437"/>
                </a:solidFill>
              </a:rPr>
              <a:t>Latest CV 4.379; only 3 valid plates</a:t>
            </a:r>
            <a:endParaRPr lang="en-US" sz="810" dirty="0"/>
          </a:p>
        </p:txBody>
      </p:sp>
      <p:sp>
        <p:nvSpPr>
          <p:cNvPr id="45" name="Shape 43"/>
          <p:cNvSpPr/>
          <p:nvPr/>
        </p:nvSpPr>
        <p:spPr>
          <a:xfrm>
            <a:off x="8412480" y="2944368"/>
            <a:ext cx="2377440" cy="457200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449056" y="2994660"/>
            <a:ext cx="2304288" cy="38404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10" dirty="0">
                <a:solidFill>
                  <a:srgbClr val="2F3437"/>
                </a:solidFill>
              </a:rPr>
              <a:t>终点仍偏高</a:t>
            </a:r>
            <a:endParaRPr lang="en-US" sz="810" dirty="0"/>
          </a:p>
        </p:txBody>
      </p:sp>
      <p:sp>
        <p:nvSpPr>
          <p:cNvPr id="47" name="Shape 45"/>
          <p:cNvSpPr/>
          <p:nvPr/>
        </p:nvSpPr>
        <p:spPr>
          <a:xfrm>
            <a:off x="502920" y="3401568"/>
            <a:ext cx="96012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39496" y="3451860"/>
            <a:ext cx="886968" cy="38404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10" b="1" dirty="0">
                <a:solidFill>
                  <a:srgbClr val="2F3437"/>
                </a:solidFill>
              </a:rPr>
              <a:t>1217A05</a:t>
            </a:r>
            <a:endParaRPr lang="en-US" sz="810" dirty="0"/>
          </a:p>
        </p:txBody>
      </p:sp>
      <p:sp>
        <p:nvSpPr>
          <p:cNvPr id="49" name="Shape 47"/>
          <p:cNvSpPr/>
          <p:nvPr/>
        </p:nvSpPr>
        <p:spPr>
          <a:xfrm>
            <a:off x="1463040" y="3401568"/>
            <a:ext cx="96012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499616" y="3451860"/>
            <a:ext cx="886968" cy="38404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10" b="1" dirty="0">
                <a:solidFill>
                  <a:srgbClr val="2F3437"/>
                </a:solidFill>
              </a:rPr>
              <a:t>455k / 175%</a:t>
            </a:r>
            <a:endParaRPr lang="en-US" sz="810" dirty="0"/>
          </a:p>
        </p:txBody>
      </p:sp>
      <p:sp>
        <p:nvSpPr>
          <p:cNvPr id="51" name="Shape 49"/>
          <p:cNvSpPr/>
          <p:nvPr/>
        </p:nvSpPr>
        <p:spPr>
          <a:xfrm>
            <a:off x="2423160" y="3401568"/>
            <a:ext cx="598932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459736" y="3451860"/>
            <a:ext cx="5916168" cy="38404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10" dirty="0">
                <a:solidFill>
                  <a:srgbClr val="2F3437"/>
                </a:solidFill>
              </a:rPr>
              <a:t>Explicit fail; C5/C7 aspirate less</a:t>
            </a:r>
            <a:endParaRPr lang="en-US" sz="810" dirty="0"/>
          </a:p>
        </p:txBody>
      </p:sp>
      <p:sp>
        <p:nvSpPr>
          <p:cNvPr id="53" name="Shape 51"/>
          <p:cNvSpPr/>
          <p:nvPr/>
        </p:nvSpPr>
        <p:spPr>
          <a:xfrm>
            <a:off x="8412480" y="3401568"/>
            <a:ext cx="237744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449056" y="3451860"/>
            <a:ext cx="2304288" cy="38404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10" dirty="0">
                <a:solidFill>
                  <a:srgbClr val="2F3437"/>
                </a:solidFill>
              </a:rPr>
              <a:t>明确吸水 fail</a:t>
            </a:r>
            <a:endParaRPr lang="en-US" sz="810" dirty="0"/>
          </a:p>
        </p:txBody>
      </p:sp>
      <p:sp>
        <p:nvSpPr>
          <p:cNvPr id="55" name="Shape 53"/>
          <p:cNvSpPr/>
          <p:nvPr/>
        </p:nvSpPr>
        <p:spPr>
          <a:xfrm>
            <a:off x="502920" y="3858768"/>
            <a:ext cx="960120" cy="457200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39496" y="3909060"/>
            <a:ext cx="886968" cy="38404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10" b="1" dirty="0">
                <a:solidFill>
                  <a:srgbClr val="2F3437"/>
                </a:solidFill>
              </a:rPr>
              <a:t>1217A05</a:t>
            </a:r>
            <a:endParaRPr lang="en-US" sz="810" dirty="0"/>
          </a:p>
        </p:txBody>
      </p:sp>
      <p:sp>
        <p:nvSpPr>
          <p:cNvPr id="57" name="Shape 55"/>
          <p:cNvSpPr/>
          <p:nvPr/>
        </p:nvSpPr>
        <p:spPr>
          <a:xfrm>
            <a:off x="1463040" y="3858768"/>
            <a:ext cx="960120" cy="457200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499616" y="3909060"/>
            <a:ext cx="886968" cy="38404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10" b="1" dirty="0">
                <a:solidFill>
                  <a:srgbClr val="2F3437"/>
                </a:solidFill>
              </a:rPr>
              <a:t>520k</a:t>
            </a:r>
            <a:endParaRPr lang="en-US" sz="810" dirty="0"/>
          </a:p>
        </p:txBody>
      </p:sp>
      <p:sp>
        <p:nvSpPr>
          <p:cNvPr id="59" name="Shape 57"/>
          <p:cNvSpPr/>
          <p:nvPr/>
        </p:nvSpPr>
        <p:spPr>
          <a:xfrm>
            <a:off x="2423160" y="3858768"/>
            <a:ext cx="5989320" cy="457200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459736" y="3909060"/>
            <a:ext cx="5916168" cy="38404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10" dirty="0">
                <a:solidFill>
                  <a:srgbClr val="2F3437"/>
                </a:solidFill>
              </a:rPr>
              <a:t>Max CV 6.195; max worst 7.419</a:t>
            </a:r>
            <a:endParaRPr lang="en-US" sz="810" dirty="0"/>
          </a:p>
        </p:txBody>
      </p:sp>
      <p:sp>
        <p:nvSpPr>
          <p:cNvPr id="61" name="Shape 59"/>
          <p:cNvSpPr/>
          <p:nvPr/>
        </p:nvSpPr>
        <p:spPr>
          <a:xfrm>
            <a:off x="8412480" y="3858768"/>
            <a:ext cx="2377440" cy="457200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449056" y="3909060"/>
            <a:ext cx="2304288" cy="38404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10" dirty="0">
                <a:solidFill>
                  <a:srgbClr val="2F3437"/>
                </a:solidFill>
              </a:rPr>
              <a:t>optical peak</a:t>
            </a:r>
            <a:endParaRPr lang="en-US" sz="810" dirty="0"/>
          </a:p>
        </p:txBody>
      </p:sp>
      <p:sp>
        <p:nvSpPr>
          <p:cNvPr id="63" name="Shape 61"/>
          <p:cNvSpPr/>
          <p:nvPr/>
        </p:nvSpPr>
        <p:spPr>
          <a:xfrm>
            <a:off x="502920" y="4315968"/>
            <a:ext cx="96012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39496" y="4366260"/>
            <a:ext cx="886968" cy="38404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10" b="1" dirty="0">
                <a:solidFill>
                  <a:srgbClr val="2F3437"/>
                </a:solidFill>
              </a:rPr>
              <a:t>1217A05</a:t>
            </a:r>
            <a:endParaRPr lang="en-US" sz="810" dirty="0"/>
          </a:p>
        </p:txBody>
      </p:sp>
      <p:sp>
        <p:nvSpPr>
          <p:cNvPr id="65" name="Shape 63"/>
          <p:cNvSpPr/>
          <p:nvPr/>
        </p:nvSpPr>
        <p:spPr>
          <a:xfrm>
            <a:off x="1463040" y="4315968"/>
            <a:ext cx="96012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499616" y="4366260"/>
            <a:ext cx="886968" cy="38404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10" b="1" dirty="0">
                <a:solidFill>
                  <a:srgbClr val="2F3437"/>
                </a:solidFill>
              </a:rPr>
              <a:t>1020k</a:t>
            </a:r>
            <a:endParaRPr lang="en-US" sz="810" dirty="0"/>
          </a:p>
        </p:txBody>
      </p:sp>
      <p:sp>
        <p:nvSpPr>
          <p:cNvPr id="67" name="Shape 65"/>
          <p:cNvSpPr/>
          <p:nvPr/>
        </p:nvSpPr>
        <p:spPr>
          <a:xfrm>
            <a:off x="2423160" y="4315968"/>
            <a:ext cx="598932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459736" y="4366260"/>
            <a:ext cx="5916168" cy="38404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10" dirty="0">
                <a:solidFill>
                  <a:srgbClr val="2F3437"/>
                </a:solidFill>
              </a:rPr>
              <a:t>Latest CV 1.487; worst 2.308</a:t>
            </a:r>
            <a:endParaRPr lang="en-US" sz="810" dirty="0"/>
          </a:p>
        </p:txBody>
      </p:sp>
      <p:sp>
        <p:nvSpPr>
          <p:cNvPr id="69" name="Shape 67"/>
          <p:cNvSpPr/>
          <p:nvPr/>
        </p:nvSpPr>
        <p:spPr>
          <a:xfrm>
            <a:off x="8412480" y="4315968"/>
            <a:ext cx="237744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449056" y="4366260"/>
            <a:ext cx="2304288" cy="38404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10" dirty="0">
                <a:solidFill>
                  <a:srgbClr val="2F3437"/>
                </a:solidFill>
              </a:rPr>
              <a:t>终点改善但历史 fail 保留</a:t>
            </a:r>
            <a:endParaRPr lang="en-US" sz="810" dirty="0"/>
          </a:p>
        </p:txBody>
      </p:sp>
      <p:sp>
        <p:nvSpPr>
          <p:cNvPr id="71" name="Shape 69"/>
          <p:cNvSpPr/>
          <p:nvPr/>
        </p:nvSpPr>
        <p:spPr>
          <a:xfrm>
            <a:off x="1375258" y="5464572"/>
            <a:ext cx="1295705" cy="341868"/>
          </a:xfrm>
          <a:prstGeom prst="roundRect">
            <a:avLst>
              <a:gd name="adj" fmla="val 9362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375258" y="5299980"/>
            <a:ext cx="1295705" cy="1097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9E0B"/>
                </a:solidFill>
              </a:rPr>
              <a:t>4.38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1265530" y="5879592"/>
            <a:ext cx="1515161" cy="1097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687384"/>
                </a:solidFill>
              </a:rPr>
              <a:t>A04 latest CV</a:t>
            </a:r>
            <a:endParaRPr lang="en-US" sz="700" dirty="0"/>
          </a:p>
        </p:txBody>
      </p:sp>
      <p:sp>
        <p:nvSpPr>
          <p:cNvPr id="74" name="Shape 72"/>
          <p:cNvSpPr/>
          <p:nvPr/>
        </p:nvSpPr>
        <p:spPr>
          <a:xfrm>
            <a:off x="3866998" y="4931797"/>
            <a:ext cx="1295705" cy="874643"/>
          </a:xfrm>
          <a:prstGeom prst="roundRect">
            <a:avLst>
              <a:gd name="adj" fmla="val 365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866998" y="4767205"/>
            <a:ext cx="1295705" cy="1097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9E0B"/>
                </a:solidFill>
              </a:rPr>
              <a:t>11.20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3757270" y="5879592"/>
            <a:ext cx="1515161" cy="1097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687384"/>
                </a:solidFill>
              </a:rPr>
              <a:t>A04 max worst</a:t>
            </a:r>
            <a:endParaRPr lang="en-US" sz="700" dirty="0"/>
          </a:p>
        </p:txBody>
      </p:sp>
      <p:sp>
        <p:nvSpPr>
          <p:cNvPr id="77" name="Shape 75"/>
          <p:cNvSpPr/>
          <p:nvPr/>
        </p:nvSpPr>
        <p:spPr>
          <a:xfrm>
            <a:off x="6358738" y="5690388"/>
            <a:ext cx="1295705" cy="116052"/>
          </a:xfrm>
          <a:prstGeom prst="roundRect">
            <a:avLst>
              <a:gd name="adj" fmla="val 2757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358738" y="5525796"/>
            <a:ext cx="1295705" cy="1097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C3AED"/>
                </a:solidFill>
              </a:rPr>
              <a:t>1.49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6249010" y="5879592"/>
            <a:ext cx="1515161" cy="1097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687384"/>
                </a:solidFill>
              </a:rPr>
              <a:t>1217 latest CV</a:t>
            </a:r>
            <a:endParaRPr lang="en-US" sz="700" dirty="0"/>
          </a:p>
        </p:txBody>
      </p:sp>
      <p:sp>
        <p:nvSpPr>
          <p:cNvPr id="80" name="Shape 78"/>
          <p:cNvSpPr/>
          <p:nvPr/>
        </p:nvSpPr>
        <p:spPr>
          <a:xfrm>
            <a:off x="8850478" y="5227275"/>
            <a:ext cx="1295705" cy="579165"/>
          </a:xfrm>
          <a:prstGeom prst="roundRect">
            <a:avLst>
              <a:gd name="adj" fmla="val 552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8850478" y="5062683"/>
            <a:ext cx="1295705" cy="1097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C3AED"/>
                </a:solidFill>
              </a:rPr>
              <a:t>7.42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8740750" y="5879592"/>
            <a:ext cx="1515161" cy="1097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687384"/>
                </a:solidFill>
              </a:rPr>
              <a:t>1217 max worst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83464"/>
            <a:ext cx="932688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50" b="1" dirty="0">
                <a:solidFill>
                  <a:srgbClr val="2168D3"/>
                </a:solidFill>
              </a:rPr>
              <a:t>10. Case Analysis - A01 / 0311A04：恢复型与稳定型对照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502920" y="667512"/>
            <a:ext cx="1028700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87384"/>
                </a:solidFill>
              </a:rPr>
              <a:t>A01 历史波动大但 latest 改善；0311A04 的 optical 表现稳定，可作为参考样本。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104120" y="310896"/>
            <a:ext cx="14173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2168D3"/>
                </a:solidFill>
              </a:rPr>
              <a:t>Opentrons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960120"/>
            <a:ext cx="1083564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47104"/>
            <a:ext cx="475488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87384"/>
                </a:solidFill>
              </a:rPr>
              <a:t>P1000H O-ring Data Analysis | 2026-06-04 | 11/13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594360" y="1088136"/>
            <a:ext cx="5303520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70" b="1" dirty="0">
                <a:solidFill>
                  <a:srgbClr val="2F3437"/>
                </a:solidFill>
              </a:rPr>
              <a:t>CV trend: A01 recovery vs 0311A04 stable baseline</a:t>
            </a:r>
            <a:endParaRPr lang="en-US" sz="1270" dirty="0"/>
          </a:p>
        </p:txBody>
      </p:sp>
      <p:sp>
        <p:nvSpPr>
          <p:cNvPr id="8" name="Shape 6"/>
          <p:cNvSpPr/>
          <p:nvPr/>
        </p:nvSpPr>
        <p:spPr>
          <a:xfrm>
            <a:off x="1005840" y="4434840"/>
            <a:ext cx="4663440" cy="0"/>
          </a:xfrm>
          <a:prstGeom prst="line">
            <a:avLst/>
          </a:prstGeom>
          <a:noFill/>
          <a:ln w="5715">
            <a:solidFill>
              <a:srgbClr val="D9E2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4375404"/>
            <a:ext cx="228600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87384"/>
                </a:solidFill>
              </a:rPr>
              <a:t>0</a:t>
            </a:r>
            <a:endParaRPr lang="en-US" sz="650" dirty="0"/>
          </a:p>
        </p:txBody>
      </p:sp>
      <p:sp>
        <p:nvSpPr>
          <p:cNvPr id="10" name="Shape 8"/>
          <p:cNvSpPr/>
          <p:nvPr/>
        </p:nvSpPr>
        <p:spPr>
          <a:xfrm>
            <a:off x="1005840" y="4114800"/>
            <a:ext cx="4663440" cy="0"/>
          </a:xfrm>
          <a:prstGeom prst="line">
            <a:avLst/>
          </a:prstGeom>
          <a:noFill/>
          <a:ln w="5715">
            <a:solidFill>
              <a:srgbClr val="D9E2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" y="4055364"/>
            <a:ext cx="228600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87384"/>
                </a:solidFill>
              </a:rPr>
              <a:t>1</a:t>
            </a:r>
            <a:endParaRPr lang="en-US" sz="650" dirty="0"/>
          </a:p>
        </p:txBody>
      </p:sp>
      <p:sp>
        <p:nvSpPr>
          <p:cNvPr id="12" name="Shape 10"/>
          <p:cNvSpPr/>
          <p:nvPr/>
        </p:nvSpPr>
        <p:spPr>
          <a:xfrm>
            <a:off x="1005840" y="3794760"/>
            <a:ext cx="4663440" cy="0"/>
          </a:xfrm>
          <a:prstGeom prst="line">
            <a:avLst/>
          </a:prstGeom>
          <a:noFill/>
          <a:ln w="5715">
            <a:solidFill>
              <a:srgbClr val="D9E2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" y="3735324"/>
            <a:ext cx="228600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87384"/>
                </a:solidFill>
              </a:rPr>
              <a:t>2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1005840" y="3474720"/>
            <a:ext cx="4663440" cy="0"/>
          </a:xfrm>
          <a:prstGeom prst="line">
            <a:avLst/>
          </a:prstGeom>
          <a:noFill/>
          <a:ln w="5715">
            <a:solidFill>
              <a:srgbClr val="D9E2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" y="3415284"/>
            <a:ext cx="228600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87384"/>
                </a:solidFill>
              </a:rPr>
              <a:t>3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1005840" y="3154680"/>
            <a:ext cx="4663440" cy="0"/>
          </a:xfrm>
          <a:prstGeom prst="line">
            <a:avLst/>
          </a:prstGeom>
          <a:noFill/>
          <a:ln w="5715">
            <a:solidFill>
              <a:srgbClr val="D9E2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" y="3095244"/>
            <a:ext cx="228600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87384"/>
                </a:solidFill>
              </a:rPr>
              <a:t>4</a:t>
            </a:r>
            <a:endParaRPr lang="en-US" sz="650" dirty="0"/>
          </a:p>
        </p:txBody>
      </p:sp>
      <p:sp>
        <p:nvSpPr>
          <p:cNvPr id="18" name="Shape 16"/>
          <p:cNvSpPr/>
          <p:nvPr/>
        </p:nvSpPr>
        <p:spPr>
          <a:xfrm>
            <a:off x="1005840" y="2834640"/>
            <a:ext cx="4663440" cy="0"/>
          </a:xfrm>
          <a:prstGeom prst="line">
            <a:avLst/>
          </a:prstGeom>
          <a:noFill/>
          <a:ln w="5715">
            <a:solidFill>
              <a:srgbClr val="D9E2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" y="2775204"/>
            <a:ext cx="228600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87384"/>
                </a:solidFill>
              </a:rPr>
              <a:t>5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1005840" y="2514600"/>
            <a:ext cx="4663440" cy="0"/>
          </a:xfrm>
          <a:prstGeom prst="line">
            <a:avLst/>
          </a:prstGeom>
          <a:noFill/>
          <a:ln w="5715">
            <a:solidFill>
              <a:srgbClr val="D9E2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" y="2455164"/>
            <a:ext cx="228600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87384"/>
                </a:solidFill>
              </a:rPr>
              <a:t>6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1005840" y="2194560"/>
            <a:ext cx="4663440" cy="0"/>
          </a:xfrm>
          <a:prstGeom prst="line">
            <a:avLst/>
          </a:prstGeom>
          <a:noFill/>
          <a:ln w="5715">
            <a:solidFill>
              <a:srgbClr val="D9E2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512" y="2135124"/>
            <a:ext cx="228600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87384"/>
                </a:solidFill>
              </a:rPr>
              <a:t>7</a:t>
            </a:r>
            <a:endParaRPr lang="en-US" sz="650" dirty="0"/>
          </a:p>
        </p:txBody>
      </p:sp>
      <p:sp>
        <p:nvSpPr>
          <p:cNvPr id="24" name="Shape 22"/>
          <p:cNvSpPr/>
          <p:nvPr/>
        </p:nvSpPr>
        <p:spPr>
          <a:xfrm>
            <a:off x="1005840" y="1874520"/>
            <a:ext cx="4663440" cy="0"/>
          </a:xfrm>
          <a:prstGeom prst="line">
            <a:avLst/>
          </a:prstGeom>
          <a:noFill/>
          <a:ln w="5715">
            <a:solidFill>
              <a:srgbClr val="D9E2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7512" y="1815084"/>
            <a:ext cx="228600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87384"/>
                </a:solidFill>
              </a:rPr>
              <a:t>8</a:t>
            </a:r>
            <a:endParaRPr lang="en-US" sz="650" dirty="0"/>
          </a:p>
        </p:txBody>
      </p:sp>
      <p:sp>
        <p:nvSpPr>
          <p:cNvPr id="26" name="Shape 24"/>
          <p:cNvSpPr/>
          <p:nvPr/>
        </p:nvSpPr>
        <p:spPr>
          <a:xfrm>
            <a:off x="1005840" y="1554480"/>
            <a:ext cx="4663440" cy="0"/>
          </a:xfrm>
          <a:prstGeom prst="line">
            <a:avLst/>
          </a:prstGeom>
          <a:noFill/>
          <a:ln w="5715">
            <a:solidFill>
              <a:srgbClr val="D9E2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7512" y="1495044"/>
            <a:ext cx="228600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87384"/>
                </a:solidFill>
              </a:rPr>
              <a:t>9</a:t>
            </a: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1005840" y="4434840"/>
            <a:ext cx="0" cy="45720"/>
          </a:xfrm>
          <a:prstGeom prst="line">
            <a:avLst/>
          </a:prstGeom>
          <a:noFill/>
          <a:ln w="5715">
            <a:solidFill>
              <a:srgbClr val="68738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9536" y="4517136"/>
            <a:ext cx="310896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687384"/>
                </a:solidFill>
              </a:rPr>
              <a:t>0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2194560" y="4434840"/>
            <a:ext cx="0" cy="45720"/>
          </a:xfrm>
          <a:prstGeom prst="line">
            <a:avLst/>
          </a:prstGeom>
          <a:noFill/>
          <a:ln w="5715">
            <a:solidFill>
              <a:srgbClr val="68738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048256" y="4517136"/>
            <a:ext cx="310896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687384"/>
                </a:solidFill>
              </a:rPr>
              <a:t>260k</a:t>
            </a:r>
            <a:endParaRPr lang="en-US" sz="650" dirty="0"/>
          </a:p>
        </p:txBody>
      </p:sp>
      <p:sp>
        <p:nvSpPr>
          <p:cNvPr id="32" name="Shape 30"/>
          <p:cNvSpPr/>
          <p:nvPr/>
        </p:nvSpPr>
        <p:spPr>
          <a:xfrm>
            <a:off x="3383280" y="4434840"/>
            <a:ext cx="0" cy="45720"/>
          </a:xfrm>
          <a:prstGeom prst="line">
            <a:avLst/>
          </a:prstGeom>
          <a:noFill/>
          <a:ln w="5715">
            <a:solidFill>
              <a:srgbClr val="68738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36976" y="4517136"/>
            <a:ext cx="310896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687384"/>
                </a:solidFill>
              </a:rPr>
              <a:t>520k</a:t>
            </a:r>
            <a:endParaRPr lang="en-US" sz="650" dirty="0"/>
          </a:p>
        </p:txBody>
      </p:sp>
      <p:sp>
        <p:nvSpPr>
          <p:cNvPr id="34" name="Shape 32"/>
          <p:cNvSpPr/>
          <p:nvPr/>
        </p:nvSpPr>
        <p:spPr>
          <a:xfrm>
            <a:off x="4754880" y="4434840"/>
            <a:ext cx="0" cy="45720"/>
          </a:xfrm>
          <a:prstGeom prst="line">
            <a:avLst/>
          </a:prstGeom>
          <a:noFill/>
          <a:ln w="5715">
            <a:solidFill>
              <a:srgbClr val="68738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08576" y="4517136"/>
            <a:ext cx="310896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687384"/>
                </a:solidFill>
              </a:rPr>
              <a:t>820k</a:t>
            </a:r>
            <a:endParaRPr lang="en-US" sz="650" dirty="0"/>
          </a:p>
        </p:txBody>
      </p:sp>
      <p:sp>
        <p:nvSpPr>
          <p:cNvPr id="36" name="Shape 34"/>
          <p:cNvSpPr/>
          <p:nvPr/>
        </p:nvSpPr>
        <p:spPr>
          <a:xfrm>
            <a:off x="5669280" y="4434840"/>
            <a:ext cx="0" cy="45720"/>
          </a:xfrm>
          <a:prstGeom prst="line">
            <a:avLst/>
          </a:prstGeom>
          <a:noFill/>
          <a:ln w="5715">
            <a:solidFill>
              <a:srgbClr val="68738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22976" y="4517136"/>
            <a:ext cx="310896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687384"/>
                </a:solidFill>
              </a:rPr>
              <a:t>1020k</a:t>
            </a:r>
            <a:endParaRPr lang="en-US" sz="650" dirty="0"/>
          </a:p>
        </p:txBody>
      </p:sp>
      <p:sp>
        <p:nvSpPr>
          <p:cNvPr id="38" name="Shape 36"/>
          <p:cNvSpPr/>
          <p:nvPr/>
        </p:nvSpPr>
        <p:spPr>
          <a:xfrm>
            <a:off x="1005840" y="2834640"/>
            <a:ext cx="4663440" cy="0"/>
          </a:xfrm>
          <a:prstGeom prst="line">
            <a:avLst/>
          </a:prstGeom>
          <a:noFill/>
          <a:ln w="11430">
            <a:solidFill>
              <a:srgbClr val="DC262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46320" y="2688336"/>
            <a:ext cx="822960" cy="1097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DC2626"/>
                </a:solidFill>
              </a:rPr>
              <a:t>5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1005840" y="4141616"/>
            <a:ext cx="297180" cy="67069"/>
          </a:xfrm>
          <a:prstGeom prst="line">
            <a:avLst/>
          </a:prstGeom>
          <a:noFill/>
          <a:ln w="13970">
            <a:solidFill>
              <a:srgbClr val="F59E0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303020" y="4060012"/>
            <a:ext cx="160020" cy="81604"/>
          </a:xfrm>
          <a:prstGeom prst="line">
            <a:avLst/>
          </a:prstGeom>
          <a:noFill/>
          <a:ln w="13970">
            <a:solidFill>
              <a:srgbClr val="F59E0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463040" y="4060012"/>
            <a:ext cx="137160" cy="190026"/>
          </a:xfrm>
          <a:prstGeom prst="line">
            <a:avLst/>
          </a:prstGeom>
          <a:noFill/>
          <a:ln w="13970">
            <a:solidFill>
              <a:srgbClr val="F59E0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600200" y="3103189"/>
            <a:ext cx="297180" cy="1146849"/>
          </a:xfrm>
          <a:prstGeom prst="line">
            <a:avLst/>
          </a:prstGeom>
          <a:noFill/>
          <a:ln w="13970">
            <a:solidFill>
              <a:srgbClr val="F59E0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897380" y="3086120"/>
            <a:ext cx="297180" cy="17068"/>
          </a:xfrm>
          <a:prstGeom prst="line">
            <a:avLst/>
          </a:prstGeom>
          <a:noFill/>
          <a:ln w="13970">
            <a:solidFill>
              <a:srgbClr val="F59E0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194560" y="2629204"/>
            <a:ext cx="1188720" cy="456916"/>
          </a:xfrm>
          <a:prstGeom prst="line">
            <a:avLst/>
          </a:prstGeom>
          <a:noFill/>
          <a:ln w="13970">
            <a:solidFill>
              <a:srgbClr val="F59E0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383280" y="2629204"/>
            <a:ext cx="457200" cy="1442618"/>
          </a:xfrm>
          <a:prstGeom prst="line">
            <a:avLst/>
          </a:prstGeom>
          <a:noFill/>
          <a:ln w="13970">
            <a:solidFill>
              <a:srgbClr val="F59E0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840480" y="4071823"/>
            <a:ext cx="914400" cy="123888"/>
          </a:xfrm>
          <a:prstGeom prst="line">
            <a:avLst/>
          </a:prstGeom>
          <a:noFill/>
          <a:ln w="13970">
            <a:solidFill>
              <a:srgbClr val="F59E0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754880" y="3033256"/>
            <a:ext cx="914400" cy="1162455"/>
          </a:xfrm>
          <a:prstGeom prst="line">
            <a:avLst/>
          </a:prstGeom>
          <a:noFill/>
          <a:ln w="13970">
            <a:solidFill>
              <a:srgbClr val="F59E0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73836" y="4176681"/>
            <a:ext cx="64008" cy="64008"/>
          </a:xfrm>
          <a:prstGeom prst="ellipse">
            <a:avLst/>
          </a:prstGeom>
          <a:solidFill>
            <a:srgbClr val="F59E0B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351276" y="2597200"/>
            <a:ext cx="64008" cy="64008"/>
          </a:xfrm>
          <a:prstGeom prst="ellipse">
            <a:avLst/>
          </a:prstGeom>
          <a:solidFill>
            <a:srgbClr val="F59E0B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637276" y="3001252"/>
            <a:ext cx="64008" cy="64008"/>
          </a:xfrm>
          <a:prstGeom prst="ellipse">
            <a:avLst/>
          </a:prstGeom>
          <a:solidFill>
            <a:srgbClr val="F59E0B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05840" y="4180013"/>
            <a:ext cx="297180" cy="37385"/>
          </a:xfrm>
          <a:prstGeom prst="line">
            <a:avLst/>
          </a:prstGeom>
          <a:noFill/>
          <a:ln w="13970">
            <a:solidFill>
              <a:srgbClr val="7C3AED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303020" y="4180014"/>
            <a:ext cx="160020" cy="20972"/>
          </a:xfrm>
          <a:prstGeom prst="line">
            <a:avLst/>
          </a:prstGeom>
          <a:noFill/>
          <a:ln w="13970">
            <a:solidFill>
              <a:srgbClr val="7C3AED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463040" y="4200985"/>
            <a:ext cx="137160" cy="45030"/>
          </a:xfrm>
          <a:prstGeom prst="line">
            <a:avLst/>
          </a:prstGeom>
          <a:noFill/>
          <a:ln w="13970">
            <a:solidFill>
              <a:srgbClr val="7C3AED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600200" y="4117195"/>
            <a:ext cx="297180" cy="128821"/>
          </a:xfrm>
          <a:prstGeom prst="line">
            <a:avLst/>
          </a:prstGeom>
          <a:noFill/>
          <a:ln w="13970">
            <a:solidFill>
              <a:srgbClr val="7C3AED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897380" y="4117195"/>
            <a:ext cx="297180" cy="19394"/>
          </a:xfrm>
          <a:prstGeom prst="line">
            <a:avLst/>
          </a:prstGeom>
          <a:noFill/>
          <a:ln w="13970">
            <a:solidFill>
              <a:srgbClr val="7C3AED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194560" y="2452260"/>
            <a:ext cx="1188720" cy="1684329"/>
          </a:xfrm>
          <a:prstGeom prst="line">
            <a:avLst/>
          </a:prstGeom>
          <a:noFill/>
          <a:ln w="13970">
            <a:solidFill>
              <a:srgbClr val="7C3AED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383280" y="2452260"/>
            <a:ext cx="457200" cy="1577975"/>
          </a:xfrm>
          <a:prstGeom prst="line">
            <a:avLst/>
          </a:prstGeom>
          <a:noFill/>
          <a:ln w="13970">
            <a:solidFill>
              <a:srgbClr val="7C3AED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840480" y="3837159"/>
            <a:ext cx="914400" cy="193076"/>
          </a:xfrm>
          <a:prstGeom prst="line">
            <a:avLst/>
          </a:prstGeom>
          <a:noFill/>
          <a:ln w="13970">
            <a:solidFill>
              <a:srgbClr val="7C3AED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0" y="3837159"/>
            <a:ext cx="914400" cy="121893"/>
          </a:xfrm>
          <a:prstGeom prst="line">
            <a:avLst/>
          </a:prstGeom>
          <a:noFill/>
          <a:ln w="13970">
            <a:solidFill>
              <a:srgbClr val="7C3AED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73836" y="4185394"/>
            <a:ext cx="64008" cy="64008"/>
          </a:xfrm>
          <a:prstGeom prst="ellipse">
            <a:avLst/>
          </a:prstGeom>
          <a:solidFill>
            <a:srgbClr val="7C3AED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351276" y="2420256"/>
            <a:ext cx="64008" cy="64008"/>
          </a:xfrm>
          <a:prstGeom prst="ellipse">
            <a:avLst/>
          </a:prstGeom>
          <a:solidFill>
            <a:srgbClr val="7C3AED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637276" y="3927048"/>
            <a:ext cx="64008" cy="64008"/>
          </a:xfrm>
          <a:prstGeom prst="ellipse">
            <a:avLst/>
          </a:prstGeom>
          <a:solidFill>
            <a:srgbClr val="7C3AED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005840" y="3808481"/>
            <a:ext cx="297180" cy="401918"/>
          </a:xfrm>
          <a:prstGeom prst="line">
            <a:avLst/>
          </a:prstGeom>
          <a:noFill/>
          <a:ln w="13970">
            <a:solidFill>
              <a:srgbClr val="16A34A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303020" y="4058422"/>
            <a:ext cx="160020" cy="151978"/>
          </a:xfrm>
          <a:prstGeom prst="line">
            <a:avLst/>
          </a:prstGeom>
          <a:noFill/>
          <a:ln w="13970">
            <a:solidFill>
              <a:srgbClr val="16A34A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463040" y="4058422"/>
            <a:ext cx="137160" cy="199748"/>
          </a:xfrm>
          <a:prstGeom prst="line">
            <a:avLst/>
          </a:prstGeom>
          <a:noFill/>
          <a:ln w="13970">
            <a:solidFill>
              <a:srgbClr val="16A34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600200" y="4101541"/>
            <a:ext cx="297180" cy="156629"/>
          </a:xfrm>
          <a:prstGeom prst="line">
            <a:avLst/>
          </a:prstGeom>
          <a:noFill/>
          <a:ln w="13970">
            <a:solidFill>
              <a:srgbClr val="16A34A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897380" y="4101542"/>
            <a:ext cx="297180" cy="129880"/>
          </a:xfrm>
          <a:prstGeom prst="line">
            <a:avLst/>
          </a:prstGeom>
          <a:noFill/>
          <a:ln w="13970">
            <a:solidFill>
              <a:srgbClr val="16A34A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194560" y="4101181"/>
            <a:ext cx="1188720" cy="130240"/>
          </a:xfrm>
          <a:prstGeom prst="line">
            <a:avLst/>
          </a:prstGeom>
          <a:noFill/>
          <a:ln w="13970">
            <a:solidFill>
              <a:srgbClr val="16A34A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3383280" y="4101182"/>
            <a:ext cx="457200" cy="47114"/>
          </a:xfrm>
          <a:prstGeom prst="line">
            <a:avLst/>
          </a:prstGeom>
          <a:noFill/>
          <a:ln w="13970">
            <a:solidFill>
              <a:srgbClr val="16A34A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3840480" y="4148296"/>
            <a:ext cx="914400" cy="106821"/>
          </a:xfrm>
          <a:prstGeom prst="line">
            <a:avLst/>
          </a:prstGeom>
          <a:noFill/>
          <a:ln w="13970">
            <a:solidFill>
              <a:srgbClr val="16A34A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754880" y="4218047"/>
            <a:ext cx="914400" cy="37070"/>
          </a:xfrm>
          <a:prstGeom prst="line">
            <a:avLst/>
          </a:prstGeom>
          <a:noFill/>
          <a:ln w="13970">
            <a:solidFill>
              <a:srgbClr val="16A34A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73836" y="3776477"/>
            <a:ext cx="64008" cy="64008"/>
          </a:xfrm>
          <a:prstGeom prst="ellipse">
            <a:avLst/>
          </a:prstGeom>
          <a:solidFill>
            <a:srgbClr val="16A34A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865376" y="4069538"/>
            <a:ext cx="64008" cy="64008"/>
          </a:xfrm>
          <a:prstGeom prst="ellipse">
            <a:avLst/>
          </a:prstGeom>
          <a:solidFill>
            <a:srgbClr val="16A34A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5637276" y="4186043"/>
            <a:ext cx="64008" cy="64008"/>
          </a:xfrm>
          <a:prstGeom prst="ellipse">
            <a:avLst/>
          </a:prstGeom>
          <a:solidFill>
            <a:srgbClr val="16A34A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005840" y="2912531"/>
            <a:ext cx="297180" cy="1328459"/>
          </a:xfrm>
          <a:prstGeom prst="line">
            <a:avLst/>
          </a:prstGeom>
          <a:noFill/>
          <a:ln w="13970">
            <a:solidFill>
              <a:srgbClr val="0891B2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303020" y="2912531"/>
            <a:ext cx="160020" cy="587371"/>
          </a:xfrm>
          <a:prstGeom prst="line">
            <a:avLst/>
          </a:prstGeom>
          <a:noFill/>
          <a:ln w="13970">
            <a:solidFill>
              <a:srgbClr val="0891B2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463040" y="2698968"/>
            <a:ext cx="137160" cy="800934"/>
          </a:xfrm>
          <a:prstGeom prst="line">
            <a:avLst/>
          </a:prstGeom>
          <a:noFill/>
          <a:ln w="13970">
            <a:solidFill>
              <a:srgbClr val="0891B2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600200" y="1895658"/>
            <a:ext cx="297180" cy="803310"/>
          </a:xfrm>
          <a:prstGeom prst="line">
            <a:avLst/>
          </a:prstGeom>
          <a:noFill/>
          <a:ln w="13970">
            <a:solidFill>
              <a:srgbClr val="0891B2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897380" y="1895658"/>
            <a:ext cx="297180" cy="384374"/>
          </a:xfrm>
          <a:prstGeom prst="line">
            <a:avLst/>
          </a:prstGeom>
          <a:noFill/>
          <a:ln w="13970">
            <a:solidFill>
              <a:srgbClr val="0891B2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194560" y="1744731"/>
            <a:ext cx="1188720" cy="535301"/>
          </a:xfrm>
          <a:prstGeom prst="line">
            <a:avLst/>
          </a:prstGeom>
          <a:noFill/>
          <a:ln w="13970">
            <a:solidFill>
              <a:srgbClr val="0891B2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3383280" y="1744731"/>
            <a:ext cx="457200" cy="1254578"/>
          </a:xfrm>
          <a:prstGeom prst="line">
            <a:avLst/>
          </a:prstGeom>
          <a:noFill/>
          <a:ln w="13970">
            <a:solidFill>
              <a:srgbClr val="0891B2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3840480" y="2999309"/>
            <a:ext cx="914400" cy="813371"/>
          </a:xfrm>
          <a:prstGeom prst="line">
            <a:avLst/>
          </a:prstGeom>
          <a:noFill/>
          <a:ln w="13970">
            <a:solidFill>
              <a:srgbClr val="0891B2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4754880" y="3812680"/>
            <a:ext cx="914400" cy="99631"/>
          </a:xfrm>
          <a:prstGeom prst="line">
            <a:avLst/>
          </a:prstGeom>
          <a:noFill/>
          <a:ln w="13970">
            <a:solidFill>
              <a:srgbClr val="0891B2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973836" y="4208986"/>
            <a:ext cx="64008" cy="64008"/>
          </a:xfrm>
          <a:prstGeom prst="ellipse">
            <a:avLst/>
          </a:prstGeom>
          <a:solidFill>
            <a:srgbClr val="0891B2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865376" y="1863654"/>
            <a:ext cx="64008" cy="64008"/>
          </a:xfrm>
          <a:prstGeom prst="ellipse">
            <a:avLst/>
          </a:prstGeom>
          <a:solidFill>
            <a:srgbClr val="0891B2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351276" y="1712727"/>
            <a:ext cx="64008" cy="64008"/>
          </a:xfrm>
          <a:prstGeom prst="ellipse">
            <a:avLst/>
          </a:prstGeom>
          <a:solidFill>
            <a:srgbClr val="0891B2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5637276" y="3880306"/>
            <a:ext cx="64008" cy="64008"/>
          </a:xfrm>
          <a:prstGeom prst="ellipse">
            <a:avLst/>
          </a:prstGeom>
          <a:solidFill>
            <a:srgbClr val="0891B2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005840" y="4098372"/>
            <a:ext cx="297180" cy="61154"/>
          </a:xfrm>
          <a:prstGeom prst="line">
            <a:avLst/>
          </a:prstGeom>
          <a:noFill/>
          <a:ln w="13970">
            <a:solidFill>
              <a:srgbClr val="DC2626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303020" y="4018747"/>
            <a:ext cx="160020" cy="79625"/>
          </a:xfrm>
          <a:prstGeom prst="line">
            <a:avLst/>
          </a:prstGeom>
          <a:noFill/>
          <a:ln w="13970">
            <a:solidFill>
              <a:srgbClr val="DC2626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463040" y="4018747"/>
            <a:ext cx="137160" cy="210905"/>
          </a:xfrm>
          <a:prstGeom prst="line">
            <a:avLst/>
          </a:prstGeom>
          <a:noFill/>
          <a:ln w="13970">
            <a:solidFill>
              <a:srgbClr val="DC2626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600200" y="4142055"/>
            <a:ext cx="297180" cy="87597"/>
          </a:xfrm>
          <a:prstGeom prst="line">
            <a:avLst/>
          </a:prstGeom>
          <a:noFill/>
          <a:ln w="13970">
            <a:solidFill>
              <a:srgbClr val="DC2626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897380" y="4142056"/>
            <a:ext cx="297180" cy="100037"/>
          </a:xfrm>
          <a:prstGeom prst="line">
            <a:avLst/>
          </a:prstGeom>
          <a:noFill/>
          <a:ln w="13970">
            <a:solidFill>
              <a:srgbClr val="DC2626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2194560" y="4195454"/>
            <a:ext cx="1188720" cy="46639"/>
          </a:xfrm>
          <a:prstGeom prst="line">
            <a:avLst/>
          </a:prstGeom>
          <a:noFill/>
          <a:ln w="13970">
            <a:solidFill>
              <a:srgbClr val="DC2626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383280" y="4195454"/>
            <a:ext cx="457200" cy="29356"/>
          </a:xfrm>
          <a:prstGeom prst="line">
            <a:avLst/>
          </a:prstGeom>
          <a:noFill/>
          <a:ln w="13970">
            <a:solidFill>
              <a:srgbClr val="DC2626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840480" y="4224811"/>
            <a:ext cx="914400" cy="35047"/>
          </a:xfrm>
          <a:prstGeom prst="line">
            <a:avLst/>
          </a:prstGeom>
          <a:noFill/>
          <a:ln w="13970">
            <a:solidFill>
              <a:srgbClr val="DC2626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4754880" y="2246072"/>
            <a:ext cx="914400" cy="2013786"/>
          </a:xfrm>
          <a:prstGeom prst="line">
            <a:avLst/>
          </a:prstGeom>
          <a:noFill/>
          <a:ln w="13970">
            <a:solidFill>
              <a:srgbClr val="DC2626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973836" y="4127522"/>
            <a:ext cx="64008" cy="64008"/>
          </a:xfrm>
          <a:prstGeom prst="ellipse">
            <a:avLst/>
          </a:prstGeom>
          <a:solidFill>
            <a:srgbClr val="DC2626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1431036" y="3986743"/>
            <a:ext cx="64008" cy="64008"/>
          </a:xfrm>
          <a:prstGeom prst="ellipse">
            <a:avLst/>
          </a:prstGeom>
          <a:solidFill>
            <a:srgbClr val="DC2626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5637276" y="2214068"/>
            <a:ext cx="64008" cy="64008"/>
          </a:xfrm>
          <a:prstGeom prst="ellipse">
            <a:avLst/>
          </a:prstGeom>
          <a:solidFill>
            <a:srgbClr val="DC2626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1051560" y="4727448"/>
            <a:ext cx="109728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1197864" y="4713732"/>
            <a:ext cx="685800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90" dirty="0">
                <a:solidFill>
                  <a:srgbClr val="687384"/>
                </a:solidFill>
              </a:rPr>
              <a:t>0624A04</a:t>
            </a:r>
            <a:endParaRPr lang="en-US" sz="690" dirty="0"/>
          </a:p>
        </p:txBody>
      </p:sp>
      <p:sp>
        <p:nvSpPr>
          <p:cNvPr id="103" name="Shape 101"/>
          <p:cNvSpPr/>
          <p:nvPr/>
        </p:nvSpPr>
        <p:spPr>
          <a:xfrm>
            <a:off x="1965960" y="4727448"/>
            <a:ext cx="109728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2112264" y="4713732"/>
            <a:ext cx="685800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90" dirty="0">
                <a:solidFill>
                  <a:srgbClr val="687384"/>
                </a:solidFill>
              </a:rPr>
              <a:t>1217A05</a:t>
            </a:r>
            <a:endParaRPr lang="en-US" sz="690" dirty="0"/>
          </a:p>
        </p:txBody>
      </p:sp>
      <p:sp>
        <p:nvSpPr>
          <p:cNvPr id="105" name="Shape 103"/>
          <p:cNvSpPr/>
          <p:nvPr/>
        </p:nvSpPr>
        <p:spPr>
          <a:xfrm>
            <a:off x="2880360" y="4727448"/>
            <a:ext cx="109728" cy="640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3026664" y="4713732"/>
            <a:ext cx="685800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90" dirty="0">
                <a:solidFill>
                  <a:srgbClr val="687384"/>
                </a:solidFill>
              </a:rPr>
              <a:t>0311A04</a:t>
            </a:r>
            <a:endParaRPr lang="en-US" sz="690" dirty="0"/>
          </a:p>
        </p:txBody>
      </p:sp>
      <p:sp>
        <p:nvSpPr>
          <p:cNvPr id="107" name="Shape 105"/>
          <p:cNvSpPr/>
          <p:nvPr/>
        </p:nvSpPr>
        <p:spPr>
          <a:xfrm>
            <a:off x="3794760" y="4727448"/>
            <a:ext cx="109728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3941064" y="4713732"/>
            <a:ext cx="685800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90" dirty="0">
                <a:solidFill>
                  <a:srgbClr val="687384"/>
                </a:solidFill>
              </a:rPr>
              <a:t>0624A01</a:t>
            </a:r>
            <a:endParaRPr lang="en-US" sz="690" dirty="0"/>
          </a:p>
        </p:txBody>
      </p:sp>
      <p:sp>
        <p:nvSpPr>
          <p:cNvPr id="109" name="Shape 107"/>
          <p:cNvSpPr/>
          <p:nvPr/>
        </p:nvSpPr>
        <p:spPr>
          <a:xfrm>
            <a:off x="4709160" y="4727448"/>
            <a:ext cx="109728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4855464" y="4713732"/>
            <a:ext cx="685800" cy="82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90" dirty="0">
                <a:solidFill>
                  <a:srgbClr val="687384"/>
                </a:solidFill>
              </a:rPr>
              <a:t>0624A05</a:t>
            </a:r>
            <a:endParaRPr lang="en-US" sz="690" dirty="0"/>
          </a:p>
        </p:txBody>
      </p:sp>
      <p:sp>
        <p:nvSpPr>
          <p:cNvPr id="111" name="Shape 109"/>
          <p:cNvSpPr/>
          <p:nvPr/>
        </p:nvSpPr>
        <p:spPr>
          <a:xfrm>
            <a:off x="6172200" y="1234440"/>
            <a:ext cx="914400" cy="493776"/>
          </a:xfrm>
          <a:prstGeom prst="rect">
            <a:avLst/>
          </a:prstGeom>
          <a:solidFill>
            <a:srgbClr val="2168D3"/>
          </a:solidFill>
          <a:ln w="6350">
            <a:solidFill>
              <a:srgbClr val="2168D3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6208776" y="1289304"/>
            <a:ext cx="841248" cy="42062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30" b="1" dirty="0">
                <a:solidFill>
                  <a:srgbClr val="FFFFFF"/>
                </a:solidFill>
              </a:rPr>
              <a:t>Unit</a:t>
            </a:r>
            <a:endParaRPr lang="en-US" sz="830" dirty="0"/>
          </a:p>
        </p:txBody>
      </p:sp>
      <p:sp>
        <p:nvSpPr>
          <p:cNvPr id="113" name="Shape 111"/>
          <p:cNvSpPr/>
          <p:nvPr/>
        </p:nvSpPr>
        <p:spPr>
          <a:xfrm>
            <a:off x="7086600" y="1234440"/>
            <a:ext cx="1005840" cy="493776"/>
          </a:xfrm>
          <a:prstGeom prst="rect">
            <a:avLst/>
          </a:prstGeom>
          <a:solidFill>
            <a:srgbClr val="2168D3"/>
          </a:solidFill>
          <a:ln w="6350">
            <a:solidFill>
              <a:srgbClr val="2168D3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7123176" y="1289304"/>
            <a:ext cx="932688" cy="42062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30" b="1" dirty="0">
                <a:solidFill>
                  <a:srgbClr val="FFFFFF"/>
                </a:solidFill>
              </a:rPr>
              <a:t>Cycle</a:t>
            </a:r>
            <a:endParaRPr lang="en-US" sz="830" dirty="0"/>
          </a:p>
        </p:txBody>
      </p:sp>
      <p:sp>
        <p:nvSpPr>
          <p:cNvPr id="115" name="Shape 113"/>
          <p:cNvSpPr/>
          <p:nvPr/>
        </p:nvSpPr>
        <p:spPr>
          <a:xfrm>
            <a:off x="8092440" y="1234440"/>
            <a:ext cx="3566160" cy="493776"/>
          </a:xfrm>
          <a:prstGeom prst="rect">
            <a:avLst/>
          </a:prstGeom>
          <a:solidFill>
            <a:srgbClr val="2168D3"/>
          </a:solidFill>
          <a:ln w="6350">
            <a:solidFill>
              <a:srgbClr val="2168D3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8129016" y="1289304"/>
            <a:ext cx="3493008" cy="42062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30" b="1" dirty="0">
                <a:solidFill>
                  <a:srgbClr val="FFFFFF"/>
                </a:solidFill>
              </a:rPr>
              <a:t>Data</a:t>
            </a:r>
            <a:endParaRPr lang="en-US" sz="830" dirty="0"/>
          </a:p>
        </p:txBody>
      </p:sp>
      <p:sp>
        <p:nvSpPr>
          <p:cNvPr id="117" name="Shape 115"/>
          <p:cNvSpPr/>
          <p:nvPr/>
        </p:nvSpPr>
        <p:spPr>
          <a:xfrm>
            <a:off x="11658600" y="1234440"/>
            <a:ext cx="1828800" cy="493776"/>
          </a:xfrm>
          <a:prstGeom prst="rect">
            <a:avLst/>
          </a:prstGeom>
          <a:solidFill>
            <a:srgbClr val="2168D3"/>
          </a:solidFill>
          <a:ln w="6350">
            <a:solidFill>
              <a:srgbClr val="2168D3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11695176" y="1289304"/>
            <a:ext cx="1755648" cy="42062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30" b="1" dirty="0">
                <a:solidFill>
                  <a:srgbClr val="FFFFFF"/>
                </a:solidFill>
              </a:rPr>
              <a:t>Read</a:t>
            </a:r>
            <a:endParaRPr lang="en-US" sz="830" dirty="0"/>
          </a:p>
        </p:txBody>
      </p:sp>
      <p:sp>
        <p:nvSpPr>
          <p:cNvPr id="119" name="Shape 117"/>
          <p:cNvSpPr/>
          <p:nvPr/>
        </p:nvSpPr>
        <p:spPr>
          <a:xfrm>
            <a:off x="6172200" y="1728216"/>
            <a:ext cx="914400" cy="493776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6208776" y="1778508"/>
            <a:ext cx="841248" cy="42062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F3437"/>
                </a:solidFill>
              </a:rPr>
              <a:t>0624A01</a:t>
            </a:r>
            <a:endParaRPr lang="en-US" sz="800" dirty="0"/>
          </a:p>
        </p:txBody>
      </p:sp>
      <p:sp>
        <p:nvSpPr>
          <p:cNvPr id="121" name="Shape 119"/>
          <p:cNvSpPr/>
          <p:nvPr/>
        </p:nvSpPr>
        <p:spPr>
          <a:xfrm>
            <a:off x="7086600" y="1728216"/>
            <a:ext cx="1005840" cy="493776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7123176" y="1778508"/>
            <a:ext cx="932688" cy="42062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F3437"/>
                </a:solidFill>
              </a:rPr>
              <a:t>65k-520k</a:t>
            </a:r>
            <a:endParaRPr lang="en-US" sz="800" dirty="0"/>
          </a:p>
        </p:txBody>
      </p:sp>
      <p:sp>
        <p:nvSpPr>
          <p:cNvPr id="123" name="Shape 121"/>
          <p:cNvSpPr/>
          <p:nvPr/>
        </p:nvSpPr>
        <p:spPr>
          <a:xfrm>
            <a:off x="8092440" y="1728216"/>
            <a:ext cx="3566160" cy="493776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8129016" y="1778508"/>
            <a:ext cx="3493008" cy="42062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2F3437"/>
                </a:solidFill>
              </a:rPr>
              <a:t>CV 4.757 → 8.406 high band</a:t>
            </a:r>
            <a:endParaRPr lang="en-US" sz="800" dirty="0"/>
          </a:p>
        </p:txBody>
      </p:sp>
      <p:sp>
        <p:nvSpPr>
          <p:cNvPr id="125" name="Shape 123"/>
          <p:cNvSpPr/>
          <p:nvPr/>
        </p:nvSpPr>
        <p:spPr>
          <a:xfrm>
            <a:off x="11658600" y="1728216"/>
            <a:ext cx="1828800" cy="493776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11695176" y="1778508"/>
            <a:ext cx="1755648" cy="42062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2F3437"/>
                </a:solidFill>
              </a:rPr>
              <a:t>历史波动明显</a:t>
            </a:r>
            <a:endParaRPr lang="en-US" sz="800" dirty="0"/>
          </a:p>
        </p:txBody>
      </p:sp>
      <p:sp>
        <p:nvSpPr>
          <p:cNvPr id="127" name="Shape 125"/>
          <p:cNvSpPr/>
          <p:nvPr/>
        </p:nvSpPr>
        <p:spPr>
          <a:xfrm>
            <a:off x="6172200" y="2221992"/>
            <a:ext cx="914400" cy="493776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6208776" y="2272284"/>
            <a:ext cx="841248" cy="42062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F3437"/>
                </a:solidFill>
              </a:rPr>
              <a:t>0624A01</a:t>
            </a:r>
            <a:endParaRPr lang="en-US" sz="800" dirty="0"/>
          </a:p>
        </p:txBody>
      </p:sp>
      <p:sp>
        <p:nvSpPr>
          <p:cNvPr id="129" name="Shape 127"/>
          <p:cNvSpPr/>
          <p:nvPr/>
        </p:nvSpPr>
        <p:spPr>
          <a:xfrm>
            <a:off x="7086600" y="2221992"/>
            <a:ext cx="1005840" cy="493776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7123176" y="2272284"/>
            <a:ext cx="932688" cy="42062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F3437"/>
                </a:solidFill>
              </a:rPr>
              <a:t>195k</a:t>
            </a:r>
            <a:endParaRPr lang="en-US" sz="800" dirty="0"/>
          </a:p>
        </p:txBody>
      </p:sp>
      <p:sp>
        <p:nvSpPr>
          <p:cNvPr id="131" name="Shape 129"/>
          <p:cNvSpPr/>
          <p:nvPr/>
        </p:nvSpPr>
        <p:spPr>
          <a:xfrm>
            <a:off x="8092440" y="2221992"/>
            <a:ext cx="3566160" cy="493776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8129016" y="2272284"/>
            <a:ext cx="3493008" cy="42062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2F3437"/>
                </a:solidFill>
              </a:rPr>
              <a:t>H1 LOW %D; G12 LOW %D; worst 13.397</a:t>
            </a:r>
            <a:endParaRPr lang="en-US" sz="800" dirty="0"/>
          </a:p>
        </p:txBody>
      </p:sp>
      <p:sp>
        <p:nvSpPr>
          <p:cNvPr id="133" name="Shape 131"/>
          <p:cNvSpPr/>
          <p:nvPr/>
        </p:nvSpPr>
        <p:spPr>
          <a:xfrm>
            <a:off x="11658600" y="2221992"/>
            <a:ext cx="1828800" cy="493776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11695176" y="2272284"/>
            <a:ext cx="1755648" cy="42062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2F3437"/>
                </a:solidFill>
              </a:rPr>
              <a:t>吸水异常 + 通道峰值</a:t>
            </a:r>
            <a:endParaRPr lang="en-US" sz="800" dirty="0"/>
          </a:p>
        </p:txBody>
      </p:sp>
      <p:sp>
        <p:nvSpPr>
          <p:cNvPr id="135" name="Shape 133"/>
          <p:cNvSpPr/>
          <p:nvPr/>
        </p:nvSpPr>
        <p:spPr>
          <a:xfrm>
            <a:off x="6172200" y="2715768"/>
            <a:ext cx="914400" cy="493776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6208776" y="2766060"/>
            <a:ext cx="841248" cy="42062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F3437"/>
                </a:solidFill>
              </a:rPr>
              <a:t>0624A01</a:t>
            </a:r>
            <a:endParaRPr lang="en-US" sz="800" dirty="0"/>
          </a:p>
        </p:txBody>
      </p:sp>
      <p:sp>
        <p:nvSpPr>
          <p:cNvPr id="137" name="Shape 135"/>
          <p:cNvSpPr/>
          <p:nvPr/>
        </p:nvSpPr>
        <p:spPr>
          <a:xfrm>
            <a:off x="7086600" y="2715768"/>
            <a:ext cx="1005840" cy="493776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7123176" y="2766060"/>
            <a:ext cx="932688" cy="42062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F3437"/>
                </a:solidFill>
              </a:rPr>
              <a:t>1020k</a:t>
            </a:r>
            <a:endParaRPr lang="en-US" sz="800" dirty="0"/>
          </a:p>
        </p:txBody>
      </p:sp>
      <p:sp>
        <p:nvSpPr>
          <p:cNvPr id="139" name="Shape 137"/>
          <p:cNvSpPr/>
          <p:nvPr/>
        </p:nvSpPr>
        <p:spPr>
          <a:xfrm>
            <a:off x="8092440" y="2715768"/>
            <a:ext cx="3566160" cy="493776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8129016" y="2766060"/>
            <a:ext cx="3493008" cy="42062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2F3437"/>
                </a:solidFill>
              </a:rPr>
              <a:t>Latest CV 1.633; worst 3.046</a:t>
            </a:r>
            <a:endParaRPr lang="en-US" sz="800" dirty="0"/>
          </a:p>
        </p:txBody>
      </p:sp>
      <p:sp>
        <p:nvSpPr>
          <p:cNvPr id="141" name="Shape 139"/>
          <p:cNvSpPr/>
          <p:nvPr/>
        </p:nvSpPr>
        <p:spPr>
          <a:xfrm>
            <a:off x="11658600" y="2715768"/>
            <a:ext cx="1828800" cy="493776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11695176" y="2766060"/>
            <a:ext cx="1755648" cy="42062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2F3437"/>
                </a:solidFill>
              </a:rPr>
              <a:t>已改善但需确认可重复</a:t>
            </a:r>
            <a:endParaRPr lang="en-US" sz="800" dirty="0"/>
          </a:p>
        </p:txBody>
      </p:sp>
      <p:sp>
        <p:nvSpPr>
          <p:cNvPr id="143" name="Shape 141"/>
          <p:cNvSpPr/>
          <p:nvPr/>
        </p:nvSpPr>
        <p:spPr>
          <a:xfrm>
            <a:off x="6172200" y="3209544"/>
            <a:ext cx="914400" cy="493776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6208776" y="3259836"/>
            <a:ext cx="841248" cy="42062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F3437"/>
                </a:solidFill>
              </a:rPr>
              <a:t>0311A04</a:t>
            </a:r>
            <a:endParaRPr lang="en-US" sz="800" dirty="0"/>
          </a:p>
        </p:txBody>
      </p:sp>
      <p:sp>
        <p:nvSpPr>
          <p:cNvPr id="145" name="Shape 143"/>
          <p:cNvSpPr/>
          <p:nvPr/>
        </p:nvSpPr>
        <p:spPr>
          <a:xfrm>
            <a:off x="7086600" y="3209544"/>
            <a:ext cx="1005840" cy="493776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7123176" y="3259836"/>
            <a:ext cx="932688" cy="42062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F3437"/>
                </a:solidFill>
              </a:rPr>
              <a:t>0-1020k</a:t>
            </a:r>
            <a:endParaRPr lang="en-US" sz="800" dirty="0"/>
          </a:p>
        </p:txBody>
      </p:sp>
      <p:sp>
        <p:nvSpPr>
          <p:cNvPr id="147" name="Shape 145"/>
          <p:cNvSpPr/>
          <p:nvPr/>
        </p:nvSpPr>
        <p:spPr>
          <a:xfrm>
            <a:off x="8092440" y="3209544"/>
            <a:ext cx="3566160" cy="493776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8129016" y="3259836"/>
            <a:ext cx="3493008" cy="42062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2F3437"/>
                </a:solidFill>
              </a:rPr>
              <a:t>Latest CV 0.677; max CV 1.957</a:t>
            </a:r>
            <a:endParaRPr lang="en-US" sz="800" dirty="0"/>
          </a:p>
        </p:txBody>
      </p:sp>
      <p:sp>
        <p:nvSpPr>
          <p:cNvPr id="149" name="Shape 147"/>
          <p:cNvSpPr/>
          <p:nvPr/>
        </p:nvSpPr>
        <p:spPr>
          <a:xfrm>
            <a:off x="11658600" y="3209544"/>
            <a:ext cx="1828800" cy="493776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11695176" y="3259836"/>
            <a:ext cx="1755648" cy="42062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2F3437"/>
                </a:solidFill>
              </a:rPr>
              <a:t>整体稳定</a:t>
            </a:r>
            <a:endParaRPr lang="en-US" sz="800" dirty="0"/>
          </a:p>
        </p:txBody>
      </p:sp>
      <p:sp>
        <p:nvSpPr>
          <p:cNvPr id="151" name="Shape 149"/>
          <p:cNvSpPr/>
          <p:nvPr/>
        </p:nvSpPr>
        <p:spPr>
          <a:xfrm>
            <a:off x="6172200" y="3703320"/>
            <a:ext cx="914400" cy="493776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6208776" y="3753612"/>
            <a:ext cx="841248" cy="42062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F3437"/>
                </a:solidFill>
              </a:rPr>
              <a:t>0311A04</a:t>
            </a:r>
            <a:endParaRPr lang="en-US" sz="800" dirty="0"/>
          </a:p>
        </p:txBody>
      </p:sp>
      <p:sp>
        <p:nvSpPr>
          <p:cNvPr id="153" name="Shape 151"/>
          <p:cNvSpPr/>
          <p:nvPr/>
        </p:nvSpPr>
        <p:spPr>
          <a:xfrm>
            <a:off x="7086600" y="3703320"/>
            <a:ext cx="1005840" cy="493776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7123176" y="3753612"/>
            <a:ext cx="932688" cy="42062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F3437"/>
                </a:solidFill>
              </a:rPr>
              <a:t>195k</a:t>
            </a:r>
            <a:endParaRPr lang="en-US" sz="800" dirty="0"/>
          </a:p>
        </p:txBody>
      </p:sp>
      <p:sp>
        <p:nvSpPr>
          <p:cNvPr id="155" name="Shape 153"/>
          <p:cNvSpPr/>
          <p:nvPr/>
        </p:nvSpPr>
        <p:spPr>
          <a:xfrm>
            <a:off x="8092440" y="3703320"/>
            <a:ext cx="3566160" cy="493776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8129016" y="3753612"/>
            <a:ext cx="3493008" cy="42062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2F3437"/>
                </a:solidFill>
              </a:rPr>
              <a:t>Max worst 3.158</a:t>
            </a:r>
            <a:endParaRPr lang="en-US" sz="800" dirty="0"/>
          </a:p>
        </p:txBody>
      </p:sp>
      <p:sp>
        <p:nvSpPr>
          <p:cNvPr id="157" name="Shape 155"/>
          <p:cNvSpPr/>
          <p:nvPr/>
        </p:nvSpPr>
        <p:spPr>
          <a:xfrm>
            <a:off x="11658600" y="3703320"/>
            <a:ext cx="1828800" cy="493776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11695176" y="3753612"/>
            <a:ext cx="1755648" cy="42062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2F3437"/>
                </a:solidFill>
              </a:rPr>
              <a:t>低幅通道峰值，可接受作 reference</a:t>
            </a:r>
            <a:endParaRPr lang="en-US" sz="800" dirty="0"/>
          </a:p>
        </p:txBody>
      </p:sp>
      <p:sp>
        <p:nvSpPr>
          <p:cNvPr id="159" name="Shape 157"/>
          <p:cNvSpPr/>
          <p:nvPr/>
        </p:nvSpPr>
        <p:spPr>
          <a:xfrm>
            <a:off x="777240" y="5166360"/>
            <a:ext cx="10058400" cy="502920"/>
          </a:xfrm>
          <a:prstGeom prst="roundRect">
            <a:avLst>
              <a:gd name="adj" fmla="val 10909"/>
            </a:avLst>
          </a:prstGeom>
          <a:solidFill>
            <a:srgbClr val="EAF2FF"/>
          </a:solidFill>
          <a:ln w="10160">
            <a:solidFill>
              <a:srgbClr val="BFDBFE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960120" y="5340096"/>
            <a:ext cx="9646920" cy="1097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4EA6"/>
                </a:solidFill>
              </a:rPr>
              <a:t>A01 max CV 8.406 vs latest 1.633; 0311A04 latest 0.677. 数据上 A01 是“恢复型”，0311A04 是“稳定型”。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83464"/>
            <a:ext cx="932688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50" b="1" dirty="0">
                <a:solidFill>
                  <a:srgbClr val="2168D3"/>
                </a:solidFill>
              </a:rPr>
              <a:t>11. O-ring 证据强度矩阵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502920" y="667512"/>
            <a:ext cx="1028700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87384"/>
                </a:solidFill>
              </a:rPr>
              <a:t>区分“直接数据证据”和“O-ring 根因推断”，避免把相关性直接写成因果。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104120" y="310896"/>
            <a:ext cx="14173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2168D3"/>
                </a:solidFill>
              </a:rPr>
              <a:t>Opentrons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960120"/>
            <a:ext cx="1083564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47104"/>
            <a:ext cx="475488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87384"/>
                </a:solidFill>
              </a:rPr>
              <a:t>P1000H O-ring Data Analysis | 2026-06-04 | 12/13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502920" y="1143000"/>
            <a:ext cx="914400" cy="621792"/>
          </a:xfrm>
          <a:prstGeom prst="rect">
            <a:avLst/>
          </a:prstGeom>
          <a:solidFill>
            <a:srgbClr val="2168D3"/>
          </a:solidFill>
          <a:ln w="6350">
            <a:solidFill>
              <a:srgbClr val="2168D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9496" y="1197864"/>
            <a:ext cx="841248" cy="54864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10" b="1" dirty="0">
                <a:solidFill>
                  <a:srgbClr val="FFFFFF"/>
                </a:solidFill>
              </a:rPr>
              <a:t>Unit</a:t>
            </a:r>
            <a:endParaRPr lang="en-US" sz="810" dirty="0"/>
          </a:p>
        </p:txBody>
      </p:sp>
      <p:sp>
        <p:nvSpPr>
          <p:cNvPr id="9" name="Shape 7"/>
          <p:cNvSpPr/>
          <p:nvPr/>
        </p:nvSpPr>
        <p:spPr>
          <a:xfrm>
            <a:off x="1417320" y="1143000"/>
            <a:ext cx="3337560" cy="621792"/>
          </a:xfrm>
          <a:prstGeom prst="rect">
            <a:avLst/>
          </a:prstGeom>
          <a:solidFill>
            <a:srgbClr val="2168D3"/>
          </a:solidFill>
          <a:ln w="6350">
            <a:solidFill>
              <a:srgbClr val="2168D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53896" y="1197864"/>
            <a:ext cx="3264408" cy="54864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10" b="1" dirty="0">
                <a:solidFill>
                  <a:srgbClr val="FFFFFF"/>
                </a:solidFill>
              </a:rPr>
              <a:t>Optical / aspiration evidence</a:t>
            </a:r>
            <a:endParaRPr lang="en-US" sz="810" dirty="0"/>
          </a:p>
        </p:txBody>
      </p:sp>
      <p:sp>
        <p:nvSpPr>
          <p:cNvPr id="11" name="Shape 9"/>
          <p:cNvSpPr/>
          <p:nvPr/>
        </p:nvSpPr>
        <p:spPr>
          <a:xfrm>
            <a:off x="4754880" y="1143000"/>
            <a:ext cx="2423160" cy="621792"/>
          </a:xfrm>
          <a:prstGeom prst="rect">
            <a:avLst/>
          </a:prstGeom>
          <a:solidFill>
            <a:srgbClr val="2168D3"/>
          </a:solidFill>
          <a:ln w="6350">
            <a:solidFill>
              <a:srgbClr val="2168D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91456" y="1197864"/>
            <a:ext cx="2350008" cy="54864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10" b="1" dirty="0">
                <a:solidFill>
                  <a:srgbClr val="FFFFFF"/>
                </a:solidFill>
              </a:rPr>
              <a:t>Supporting event</a:t>
            </a:r>
            <a:endParaRPr lang="en-US" sz="810" dirty="0"/>
          </a:p>
        </p:txBody>
      </p:sp>
      <p:sp>
        <p:nvSpPr>
          <p:cNvPr id="13" name="Shape 11"/>
          <p:cNvSpPr/>
          <p:nvPr/>
        </p:nvSpPr>
        <p:spPr>
          <a:xfrm>
            <a:off x="7178040" y="1143000"/>
            <a:ext cx="3703320" cy="621792"/>
          </a:xfrm>
          <a:prstGeom prst="rect">
            <a:avLst/>
          </a:prstGeom>
          <a:solidFill>
            <a:srgbClr val="2168D3"/>
          </a:solidFill>
          <a:ln w="6350">
            <a:solidFill>
              <a:srgbClr val="2168D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14616" y="1197864"/>
            <a:ext cx="3630168" cy="54864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10" b="1" dirty="0">
                <a:solidFill>
                  <a:srgbClr val="FFFFFF"/>
                </a:solidFill>
              </a:rPr>
              <a:t>O-ring inference strength</a:t>
            </a:r>
            <a:endParaRPr lang="en-US" sz="810" dirty="0"/>
          </a:p>
        </p:txBody>
      </p:sp>
      <p:sp>
        <p:nvSpPr>
          <p:cNvPr id="15" name="Shape 13"/>
          <p:cNvSpPr/>
          <p:nvPr/>
        </p:nvSpPr>
        <p:spPr>
          <a:xfrm>
            <a:off x="502920" y="1764792"/>
            <a:ext cx="914400" cy="621792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9496" y="1815084"/>
            <a:ext cx="841248" cy="54864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60" b="1" dirty="0">
                <a:solidFill>
                  <a:srgbClr val="2F3437"/>
                </a:solidFill>
              </a:rPr>
              <a:t>0624A05</a:t>
            </a:r>
            <a:endParaRPr lang="en-US" sz="760" dirty="0"/>
          </a:p>
        </p:txBody>
      </p:sp>
      <p:sp>
        <p:nvSpPr>
          <p:cNvPr id="17" name="Shape 15"/>
          <p:cNvSpPr/>
          <p:nvPr/>
        </p:nvSpPr>
        <p:spPr>
          <a:xfrm>
            <a:off x="1417320" y="1764792"/>
            <a:ext cx="3337560" cy="621792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53896" y="1815084"/>
            <a:ext cx="3264408" cy="54864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2F3437"/>
                </a:solidFill>
              </a:rPr>
              <a:t>强：latest CV 6.839; 3 个有效 plate 同时高</a:t>
            </a:r>
            <a:endParaRPr lang="en-US" sz="760" dirty="0"/>
          </a:p>
        </p:txBody>
      </p:sp>
      <p:sp>
        <p:nvSpPr>
          <p:cNvPr id="19" name="Shape 17"/>
          <p:cNvSpPr/>
          <p:nvPr/>
        </p:nvSpPr>
        <p:spPr>
          <a:xfrm>
            <a:off x="4754880" y="1764792"/>
            <a:ext cx="2423160" cy="621792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91456" y="1815084"/>
            <a:ext cx="2350008" cy="54864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2F3437"/>
                </a:solidFill>
              </a:rPr>
              <a:t>弱：无明确 LOW %D note</a:t>
            </a:r>
            <a:endParaRPr lang="en-US" sz="760" dirty="0"/>
          </a:p>
        </p:txBody>
      </p:sp>
      <p:sp>
        <p:nvSpPr>
          <p:cNvPr id="21" name="Shape 19"/>
          <p:cNvSpPr/>
          <p:nvPr/>
        </p:nvSpPr>
        <p:spPr>
          <a:xfrm>
            <a:off x="7178040" y="1764792"/>
            <a:ext cx="3703320" cy="621792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14616" y="1815084"/>
            <a:ext cx="3630168" cy="54864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2F3437"/>
                </a:solidFill>
              </a:rPr>
              <a:t>中高：整体一致性下降，需更换前后复测</a:t>
            </a:r>
            <a:endParaRPr lang="en-US" sz="760" dirty="0"/>
          </a:p>
        </p:txBody>
      </p:sp>
      <p:sp>
        <p:nvSpPr>
          <p:cNvPr id="23" name="Shape 21"/>
          <p:cNvSpPr/>
          <p:nvPr/>
        </p:nvSpPr>
        <p:spPr>
          <a:xfrm>
            <a:off x="502920" y="2386584"/>
            <a:ext cx="914400" cy="621792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9496" y="2436876"/>
            <a:ext cx="841248" cy="54864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60" b="1" dirty="0">
                <a:solidFill>
                  <a:srgbClr val="2F3437"/>
                </a:solidFill>
              </a:rPr>
              <a:t>0624A04</a:t>
            </a:r>
            <a:endParaRPr lang="en-US" sz="760" dirty="0"/>
          </a:p>
        </p:txBody>
      </p:sp>
      <p:sp>
        <p:nvSpPr>
          <p:cNvPr id="25" name="Shape 23"/>
          <p:cNvSpPr/>
          <p:nvPr/>
        </p:nvSpPr>
        <p:spPr>
          <a:xfrm>
            <a:off x="1417320" y="2386584"/>
            <a:ext cx="3337560" cy="621792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453896" y="2436876"/>
            <a:ext cx="3264408" cy="54864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2F3437"/>
                </a:solidFill>
              </a:rPr>
              <a:t>强：F1/A5 LOW %D; max worst 11.204</a:t>
            </a:r>
            <a:endParaRPr lang="en-US" sz="760" dirty="0"/>
          </a:p>
        </p:txBody>
      </p:sp>
      <p:sp>
        <p:nvSpPr>
          <p:cNvPr id="27" name="Shape 25"/>
          <p:cNvSpPr/>
          <p:nvPr/>
        </p:nvSpPr>
        <p:spPr>
          <a:xfrm>
            <a:off x="4754880" y="2386584"/>
            <a:ext cx="2423160" cy="621792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91456" y="2436876"/>
            <a:ext cx="2350008" cy="54864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2F3437"/>
                </a:solidFill>
              </a:rPr>
              <a:t>强：油漏/传感器事件</a:t>
            </a:r>
            <a:endParaRPr lang="en-US" sz="760" dirty="0"/>
          </a:p>
        </p:txBody>
      </p:sp>
      <p:sp>
        <p:nvSpPr>
          <p:cNvPr id="29" name="Shape 27"/>
          <p:cNvSpPr/>
          <p:nvPr/>
        </p:nvSpPr>
        <p:spPr>
          <a:xfrm>
            <a:off x="7178040" y="2386584"/>
            <a:ext cx="3703320" cy="621792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14616" y="2436876"/>
            <a:ext cx="3630168" cy="54864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2F3437"/>
                </a:solidFill>
              </a:rPr>
              <a:t>高：污染/润滑/密封面异常需拆检</a:t>
            </a:r>
            <a:endParaRPr lang="en-US" sz="760" dirty="0"/>
          </a:p>
        </p:txBody>
      </p:sp>
      <p:sp>
        <p:nvSpPr>
          <p:cNvPr id="31" name="Shape 29"/>
          <p:cNvSpPr/>
          <p:nvPr/>
        </p:nvSpPr>
        <p:spPr>
          <a:xfrm>
            <a:off x="502920" y="3008376"/>
            <a:ext cx="914400" cy="621792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9496" y="3058668"/>
            <a:ext cx="841248" cy="54864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60" b="1" dirty="0">
                <a:solidFill>
                  <a:srgbClr val="2F3437"/>
                </a:solidFill>
              </a:rPr>
              <a:t>1217A05</a:t>
            </a:r>
            <a:endParaRPr lang="en-US" sz="760" dirty="0"/>
          </a:p>
        </p:txBody>
      </p:sp>
      <p:sp>
        <p:nvSpPr>
          <p:cNvPr id="33" name="Shape 31"/>
          <p:cNvSpPr/>
          <p:nvPr/>
        </p:nvSpPr>
        <p:spPr>
          <a:xfrm>
            <a:off x="1417320" y="3008376"/>
            <a:ext cx="3337560" cy="621792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453896" y="3058668"/>
            <a:ext cx="3264408" cy="54864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2F3437"/>
                </a:solidFill>
              </a:rPr>
              <a:t>强：C5/C7 low aspiration fail</a:t>
            </a:r>
            <a:endParaRPr lang="en-US" sz="760" dirty="0"/>
          </a:p>
        </p:txBody>
      </p:sp>
      <p:sp>
        <p:nvSpPr>
          <p:cNvPr id="35" name="Shape 33"/>
          <p:cNvSpPr/>
          <p:nvPr/>
        </p:nvSpPr>
        <p:spPr>
          <a:xfrm>
            <a:off x="4754880" y="3008376"/>
            <a:ext cx="2423160" cy="621792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91456" y="3058668"/>
            <a:ext cx="2350008" cy="54864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2F3437"/>
                </a:solidFill>
              </a:rPr>
              <a:t>中：520k CV peak</a:t>
            </a:r>
            <a:endParaRPr lang="en-US" sz="760" dirty="0"/>
          </a:p>
        </p:txBody>
      </p:sp>
      <p:sp>
        <p:nvSpPr>
          <p:cNvPr id="37" name="Shape 35"/>
          <p:cNvSpPr/>
          <p:nvPr/>
        </p:nvSpPr>
        <p:spPr>
          <a:xfrm>
            <a:off x="7178040" y="3008376"/>
            <a:ext cx="3703320" cy="621792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214616" y="3058668"/>
            <a:ext cx="3630168" cy="54864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2F3437"/>
                </a:solidFill>
              </a:rPr>
              <a:t>高：局部 O-ring 或通道装配风险</a:t>
            </a:r>
            <a:endParaRPr lang="en-US" sz="760" dirty="0"/>
          </a:p>
        </p:txBody>
      </p:sp>
      <p:sp>
        <p:nvSpPr>
          <p:cNvPr id="39" name="Shape 37"/>
          <p:cNvSpPr/>
          <p:nvPr/>
        </p:nvSpPr>
        <p:spPr>
          <a:xfrm>
            <a:off x="502920" y="3630168"/>
            <a:ext cx="914400" cy="621792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9496" y="3680460"/>
            <a:ext cx="841248" cy="54864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60" b="1" dirty="0">
                <a:solidFill>
                  <a:srgbClr val="2F3437"/>
                </a:solidFill>
              </a:rPr>
              <a:t>0624A01</a:t>
            </a:r>
            <a:endParaRPr lang="en-US" sz="760" dirty="0"/>
          </a:p>
        </p:txBody>
      </p:sp>
      <p:sp>
        <p:nvSpPr>
          <p:cNvPr id="41" name="Shape 39"/>
          <p:cNvSpPr/>
          <p:nvPr/>
        </p:nvSpPr>
        <p:spPr>
          <a:xfrm>
            <a:off x="1417320" y="3630168"/>
            <a:ext cx="3337560" cy="621792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453896" y="3680460"/>
            <a:ext cx="3264408" cy="54864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2F3437"/>
                </a:solidFill>
              </a:rPr>
              <a:t>中：H1/G12 LOW %D; historical CV high</a:t>
            </a:r>
            <a:endParaRPr lang="en-US" sz="760" dirty="0"/>
          </a:p>
        </p:txBody>
      </p:sp>
      <p:sp>
        <p:nvSpPr>
          <p:cNvPr id="43" name="Shape 41"/>
          <p:cNvSpPr/>
          <p:nvPr/>
        </p:nvSpPr>
        <p:spPr>
          <a:xfrm>
            <a:off x="4754880" y="3630168"/>
            <a:ext cx="2423160" cy="621792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91456" y="3680460"/>
            <a:ext cx="2350008" cy="54864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2F3437"/>
                </a:solidFill>
              </a:rPr>
              <a:t>中：latest 改善</a:t>
            </a:r>
            <a:endParaRPr lang="en-US" sz="760" dirty="0"/>
          </a:p>
        </p:txBody>
      </p:sp>
      <p:sp>
        <p:nvSpPr>
          <p:cNvPr id="45" name="Shape 43"/>
          <p:cNvSpPr/>
          <p:nvPr/>
        </p:nvSpPr>
        <p:spPr>
          <a:xfrm>
            <a:off x="7178040" y="3630168"/>
            <a:ext cx="3703320" cy="621792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214616" y="3680460"/>
            <a:ext cx="3630168" cy="54864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2F3437"/>
                </a:solidFill>
              </a:rPr>
              <a:t>中：阶段性异常，需 repeatability</a:t>
            </a:r>
            <a:endParaRPr lang="en-US" sz="760" dirty="0"/>
          </a:p>
        </p:txBody>
      </p:sp>
      <p:sp>
        <p:nvSpPr>
          <p:cNvPr id="47" name="Shape 45"/>
          <p:cNvSpPr/>
          <p:nvPr/>
        </p:nvSpPr>
        <p:spPr>
          <a:xfrm>
            <a:off x="502920" y="4251960"/>
            <a:ext cx="914400" cy="621792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39496" y="4302252"/>
            <a:ext cx="841248" cy="54864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60" b="1" dirty="0">
                <a:solidFill>
                  <a:srgbClr val="2F3437"/>
                </a:solidFill>
              </a:rPr>
              <a:t>0311A04</a:t>
            </a:r>
            <a:endParaRPr lang="en-US" sz="760" dirty="0"/>
          </a:p>
        </p:txBody>
      </p:sp>
      <p:sp>
        <p:nvSpPr>
          <p:cNvPr id="49" name="Shape 47"/>
          <p:cNvSpPr/>
          <p:nvPr/>
        </p:nvSpPr>
        <p:spPr>
          <a:xfrm>
            <a:off x="1417320" y="4251960"/>
            <a:ext cx="3337560" cy="621792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453896" y="4302252"/>
            <a:ext cx="3264408" cy="54864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2F3437"/>
                </a:solidFill>
              </a:rPr>
              <a:t>弱：无异常 note; CV 稳定</a:t>
            </a:r>
            <a:endParaRPr lang="en-US" sz="760" dirty="0"/>
          </a:p>
        </p:txBody>
      </p:sp>
      <p:sp>
        <p:nvSpPr>
          <p:cNvPr id="51" name="Shape 49"/>
          <p:cNvSpPr/>
          <p:nvPr/>
        </p:nvSpPr>
        <p:spPr>
          <a:xfrm>
            <a:off x="4754880" y="4251960"/>
            <a:ext cx="2423160" cy="621792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91456" y="4302252"/>
            <a:ext cx="2350008" cy="54864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2F3437"/>
                </a:solidFill>
              </a:rPr>
              <a:t>弱</a:t>
            </a:r>
            <a:endParaRPr lang="en-US" sz="760" dirty="0"/>
          </a:p>
        </p:txBody>
      </p:sp>
      <p:sp>
        <p:nvSpPr>
          <p:cNvPr id="53" name="Shape 51"/>
          <p:cNvSpPr/>
          <p:nvPr/>
        </p:nvSpPr>
        <p:spPr>
          <a:xfrm>
            <a:off x="7178040" y="4251960"/>
            <a:ext cx="3703320" cy="621792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214616" y="4302252"/>
            <a:ext cx="3630168" cy="54864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2F3437"/>
                </a:solidFill>
              </a:rPr>
              <a:t>低：reference sample</a:t>
            </a:r>
            <a:endParaRPr lang="en-US" sz="760" dirty="0"/>
          </a:p>
        </p:txBody>
      </p:sp>
      <p:sp>
        <p:nvSpPr>
          <p:cNvPr id="55" name="Text 53"/>
          <p:cNvSpPr/>
          <p:nvPr/>
        </p:nvSpPr>
        <p:spPr>
          <a:xfrm>
            <a:off x="731520" y="5623560"/>
            <a:ext cx="1005840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F3437"/>
                </a:solidFill>
              </a:rPr>
              <a:t>根因确认标准：拆检发现 O-ring 异常，且更换后对应通道 LOW %D / CV 异常显著改善并可重复。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83464"/>
            <a:ext cx="932688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50" b="1" dirty="0">
                <a:solidFill>
                  <a:srgbClr val="2168D3"/>
                </a:solidFill>
              </a:rPr>
              <a:t>12. 数据补充与最终判定建议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502920" y="667512"/>
            <a:ext cx="1028700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87384"/>
                </a:solidFill>
              </a:rPr>
              <a:t>当前数据足以分层风险，但最终 O-ring performance 判定还需要补充验证数据。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104120" y="310896"/>
            <a:ext cx="14173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2168D3"/>
                </a:solidFill>
              </a:rPr>
              <a:t>Opentrons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960120"/>
            <a:ext cx="1083564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47104"/>
            <a:ext cx="475488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87384"/>
                </a:solidFill>
              </a:rPr>
              <a:t>P1000H O-ring Data Analysis | 2026-06-04 | 13/13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594360" y="1143000"/>
            <a:ext cx="457200" cy="585216"/>
          </a:xfrm>
          <a:prstGeom prst="rect">
            <a:avLst/>
          </a:prstGeom>
          <a:solidFill>
            <a:srgbClr val="2168D3"/>
          </a:solidFill>
          <a:ln w="6350">
            <a:solidFill>
              <a:srgbClr val="2168D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" y="1197864"/>
            <a:ext cx="384048" cy="51206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70" b="1" dirty="0">
                <a:solidFill>
                  <a:srgbClr val="FFFFFF"/>
                </a:solidFill>
              </a:rPr>
              <a:t>#</a:t>
            </a:r>
            <a:endParaRPr lang="en-US" sz="870" dirty="0"/>
          </a:p>
        </p:txBody>
      </p:sp>
      <p:sp>
        <p:nvSpPr>
          <p:cNvPr id="9" name="Shape 7"/>
          <p:cNvSpPr/>
          <p:nvPr/>
        </p:nvSpPr>
        <p:spPr>
          <a:xfrm>
            <a:off x="1051560" y="1143000"/>
            <a:ext cx="2011680" cy="585216"/>
          </a:xfrm>
          <a:prstGeom prst="rect">
            <a:avLst/>
          </a:prstGeom>
          <a:solidFill>
            <a:srgbClr val="2168D3"/>
          </a:solidFill>
          <a:ln w="6350">
            <a:solidFill>
              <a:srgbClr val="2168D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88136" y="1197864"/>
            <a:ext cx="1938528" cy="51206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70" b="1" dirty="0">
                <a:solidFill>
                  <a:srgbClr val="FFFFFF"/>
                </a:solidFill>
              </a:rPr>
              <a:t>Data needed</a:t>
            </a:r>
            <a:endParaRPr lang="en-US" sz="870" dirty="0"/>
          </a:p>
        </p:txBody>
      </p:sp>
      <p:sp>
        <p:nvSpPr>
          <p:cNvPr id="11" name="Shape 9"/>
          <p:cNvSpPr/>
          <p:nvPr/>
        </p:nvSpPr>
        <p:spPr>
          <a:xfrm>
            <a:off x="3063240" y="1143000"/>
            <a:ext cx="4663440" cy="585216"/>
          </a:xfrm>
          <a:prstGeom prst="rect">
            <a:avLst/>
          </a:prstGeom>
          <a:solidFill>
            <a:srgbClr val="2168D3"/>
          </a:solidFill>
          <a:ln w="6350">
            <a:solidFill>
              <a:srgbClr val="2168D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99816" y="1197864"/>
            <a:ext cx="4590288" cy="51206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70" b="1" dirty="0">
                <a:solidFill>
                  <a:srgbClr val="FFFFFF"/>
                </a:solidFill>
              </a:rPr>
              <a:t>具体内容</a:t>
            </a:r>
            <a:endParaRPr lang="en-US" sz="870" dirty="0"/>
          </a:p>
        </p:txBody>
      </p:sp>
      <p:sp>
        <p:nvSpPr>
          <p:cNvPr id="13" name="Shape 11"/>
          <p:cNvSpPr/>
          <p:nvPr/>
        </p:nvSpPr>
        <p:spPr>
          <a:xfrm>
            <a:off x="7726680" y="1143000"/>
            <a:ext cx="3383280" cy="585216"/>
          </a:xfrm>
          <a:prstGeom prst="rect">
            <a:avLst/>
          </a:prstGeom>
          <a:solidFill>
            <a:srgbClr val="2168D3"/>
          </a:solidFill>
          <a:ln w="6350">
            <a:solidFill>
              <a:srgbClr val="2168D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63256" y="1197864"/>
            <a:ext cx="3310128" cy="51206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70" b="1" dirty="0">
                <a:solidFill>
                  <a:srgbClr val="FFFFFF"/>
                </a:solidFill>
              </a:rPr>
              <a:t>Purpose</a:t>
            </a:r>
            <a:endParaRPr lang="en-US" sz="870" dirty="0"/>
          </a:p>
        </p:txBody>
      </p:sp>
      <p:sp>
        <p:nvSpPr>
          <p:cNvPr id="15" name="Shape 13"/>
          <p:cNvSpPr/>
          <p:nvPr/>
        </p:nvSpPr>
        <p:spPr>
          <a:xfrm>
            <a:off x="594360" y="1728216"/>
            <a:ext cx="457200" cy="585216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" y="1778508"/>
            <a:ext cx="384048" cy="51206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30" b="1" dirty="0">
                <a:solidFill>
                  <a:srgbClr val="2F3437"/>
                </a:solidFill>
              </a:rPr>
              <a:t>1</a:t>
            </a:r>
            <a:endParaRPr lang="en-US" sz="830" dirty="0"/>
          </a:p>
        </p:txBody>
      </p:sp>
      <p:sp>
        <p:nvSpPr>
          <p:cNvPr id="17" name="Shape 15"/>
          <p:cNvSpPr/>
          <p:nvPr/>
        </p:nvSpPr>
        <p:spPr>
          <a:xfrm>
            <a:off x="1051560" y="1728216"/>
            <a:ext cx="2011680" cy="585216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88136" y="1778508"/>
            <a:ext cx="1938528" cy="51206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30" b="1" dirty="0">
                <a:solidFill>
                  <a:srgbClr val="2F3437"/>
                </a:solidFill>
              </a:rPr>
              <a:t>O-ring 拆检数据</a:t>
            </a:r>
            <a:endParaRPr lang="en-US" sz="830" dirty="0"/>
          </a:p>
        </p:txBody>
      </p:sp>
      <p:sp>
        <p:nvSpPr>
          <p:cNvPr id="19" name="Shape 17"/>
          <p:cNvSpPr/>
          <p:nvPr/>
        </p:nvSpPr>
        <p:spPr>
          <a:xfrm>
            <a:off x="3063240" y="1728216"/>
            <a:ext cx="4663440" cy="585216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99816" y="1778508"/>
            <a:ext cx="4590288" cy="51206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30" dirty="0">
                <a:solidFill>
                  <a:srgbClr val="2F3437"/>
                </a:solidFill>
              </a:rPr>
              <a:t>磨损、划伤、污染、润滑状态、压缩永久变形</a:t>
            </a:r>
            <a:endParaRPr lang="en-US" sz="830" dirty="0"/>
          </a:p>
        </p:txBody>
      </p:sp>
      <p:sp>
        <p:nvSpPr>
          <p:cNvPr id="21" name="Shape 19"/>
          <p:cNvSpPr/>
          <p:nvPr/>
        </p:nvSpPr>
        <p:spPr>
          <a:xfrm>
            <a:off x="7726680" y="1728216"/>
            <a:ext cx="3383280" cy="585216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63256" y="1778508"/>
            <a:ext cx="3310128" cy="51206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30" dirty="0">
                <a:solidFill>
                  <a:srgbClr val="2F3437"/>
                </a:solidFill>
              </a:rPr>
              <a:t>把 optical/吸水异常与实物状态关联</a:t>
            </a:r>
            <a:endParaRPr lang="en-US" sz="830" dirty="0"/>
          </a:p>
        </p:txBody>
      </p:sp>
      <p:sp>
        <p:nvSpPr>
          <p:cNvPr id="23" name="Shape 21"/>
          <p:cNvSpPr/>
          <p:nvPr/>
        </p:nvSpPr>
        <p:spPr>
          <a:xfrm>
            <a:off x="594360" y="2313432"/>
            <a:ext cx="457200" cy="585216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" y="2363724"/>
            <a:ext cx="384048" cy="51206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30" b="1" dirty="0">
                <a:solidFill>
                  <a:srgbClr val="2F3437"/>
                </a:solidFill>
              </a:rPr>
              <a:t>2</a:t>
            </a:r>
            <a:endParaRPr lang="en-US" sz="830" dirty="0"/>
          </a:p>
        </p:txBody>
      </p:sp>
      <p:sp>
        <p:nvSpPr>
          <p:cNvPr id="25" name="Shape 23"/>
          <p:cNvSpPr/>
          <p:nvPr/>
        </p:nvSpPr>
        <p:spPr>
          <a:xfrm>
            <a:off x="1051560" y="2313432"/>
            <a:ext cx="2011680" cy="585216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88136" y="2363724"/>
            <a:ext cx="1938528" cy="51206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30" b="1" dirty="0">
                <a:solidFill>
                  <a:srgbClr val="2F3437"/>
                </a:solidFill>
              </a:rPr>
              <a:t>更换前后 A/B 数据</a:t>
            </a:r>
            <a:endParaRPr lang="en-US" sz="830" dirty="0"/>
          </a:p>
        </p:txBody>
      </p:sp>
      <p:sp>
        <p:nvSpPr>
          <p:cNvPr id="27" name="Shape 25"/>
          <p:cNvSpPr/>
          <p:nvPr/>
        </p:nvSpPr>
        <p:spPr>
          <a:xfrm>
            <a:off x="3063240" y="2313432"/>
            <a:ext cx="4663440" cy="585216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099816" y="2363724"/>
            <a:ext cx="4590288" cy="51206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30" dirty="0">
                <a:solidFill>
                  <a:srgbClr val="2F3437"/>
                </a:solidFill>
              </a:rPr>
              <a:t>同台同通道，替换 O-ring 前后 CV、LOW %D、吸水量变化</a:t>
            </a:r>
            <a:endParaRPr lang="en-US" sz="830" dirty="0"/>
          </a:p>
        </p:txBody>
      </p:sp>
      <p:sp>
        <p:nvSpPr>
          <p:cNvPr id="29" name="Shape 27"/>
          <p:cNvSpPr/>
          <p:nvPr/>
        </p:nvSpPr>
        <p:spPr>
          <a:xfrm>
            <a:off x="7726680" y="2313432"/>
            <a:ext cx="3383280" cy="585216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63256" y="2363724"/>
            <a:ext cx="3310128" cy="51206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30" dirty="0">
                <a:solidFill>
                  <a:srgbClr val="2F3437"/>
                </a:solidFill>
              </a:rPr>
              <a:t>验证 O-ring 是否为主要原因</a:t>
            </a:r>
            <a:endParaRPr lang="en-US" sz="830" dirty="0"/>
          </a:p>
        </p:txBody>
      </p:sp>
      <p:sp>
        <p:nvSpPr>
          <p:cNvPr id="31" name="Shape 29"/>
          <p:cNvSpPr/>
          <p:nvPr/>
        </p:nvSpPr>
        <p:spPr>
          <a:xfrm>
            <a:off x="594360" y="2898648"/>
            <a:ext cx="457200" cy="585216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0936" y="2948940"/>
            <a:ext cx="384048" cy="51206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30" b="1" dirty="0">
                <a:solidFill>
                  <a:srgbClr val="2F3437"/>
                </a:solidFill>
              </a:rPr>
              <a:t>3</a:t>
            </a:r>
            <a:endParaRPr lang="en-US" sz="830" dirty="0"/>
          </a:p>
        </p:txBody>
      </p:sp>
      <p:sp>
        <p:nvSpPr>
          <p:cNvPr id="33" name="Shape 31"/>
          <p:cNvSpPr/>
          <p:nvPr/>
        </p:nvSpPr>
        <p:spPr>
          <a:xfrm>
            <a:off x="1051560" y="2898648"/>
            <a:ext cx="2011680" cy="585216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88136" y="2948940"/>
            <a:ext cx="1938528" cy="51206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30" b="1" dirty="0">
                <a:solidFill>
                  <a:srgbClr val="2F3437"/>
                </a:solidFill>
              </a:rPr>
              <a:t>通道定位复测</a:t>
            </a:r>
            <a:endParaRPr lang="en-US" sz="830" dirty="0"/>
          </a:p>
        </p:txBody>
      </p:sp>
      <p:sp>
        <p:nvSpPr>
          <p:cNvPr id="35" name="Shape 33"/>
          <p:cNvSpPr/>
          <p:nvPr/>
        </p:nvSpPr>
        <p:spPr>
          <a:xfrm>
            <a:off x="3063240" y="2898648"/>
            <a:ext cx="4663440" cy="585216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099816" y="2948940"/>
            <a:ext cx="4590288" cy="51206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30" dirty="0">
                <a:solidFill>
                  <a:srgbClr val="2F3437"/>
                </a:solidFill>
              </a:rPr>
              <a:t>C5/C7、F1/A5、H1/G12、A05 全通道 repeat</a:t>
            </a:r>
            <a:endParaRPr lang="en-US" sz="830" dirty="0"/>
          </a:p>
        </p:txBody>
      </p:sp>
      <p:sp>
        <p:nvSpPr>
          <p:cNvPr id="37" name="Shape 35"/>
          <p:cNvSpPr/>
          <p:nvPr/>
        </p:nvSpPr>
        <p:spPr>
          <a:xfrm>
            <a:off x="7726680" y="2898648"/>
            <a:ext cx="3383280" cy="585216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763256" y="2948940"/>
            <a:ext cx="3310128" cy="51206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30" dirty="0">
                <a:solidFill>
                  <a:srgbClr val="2F3437"/>
                </a:solidFill>
              </a:rPr>
              <a:t>确认异常是否固定在通道或 plate</a:t>
            </a:r>
            <a:endParaRPr lang="en-US" sz="830" dirty="0"/>
          </a:p>
        </p:txBody>
      </p:sp>
      <p:sp>
        <p:nvSpPr>
          <p:cNvPr id="39" name="Shape 37"/>
          <p:cNvSpPr/>
          <p:nvPr/>
        </p:nvSpPr>
        <p:spPr>
          <a:xfrm>
            <a:off x="594360" y="3483864"/>
            <a:ext cx="457200" cy="585216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0936" y="3534156"/>
            <a:ext cx="384048" cy="51206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30" b="1" dirty="0">
                <a:solidFill>
                  <a:srgbClr val="2F3437"/>
                </a:solidFill>
              </a:rPr>
              <a:t>4</a:t>
            </a:r>
            <a:endParaRPr lang="en-US" sz="830" dirty="0"/>
          </a:p>
        </p:txBody>
      </p:sp>
      <p:sp>
        <p:nvSpPr>
          <p:cNvPr id="41" name="Shape 39"/>
          <p:cNvSpPr/>
          <p:nvPr/>
        </p:nvSpPr>
        <p:spPr>
          <a:xfrm>
            <a:off x="1051560" y="3483864"/>
            <a:ext cx="2011680" cy="585216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88136" y="3534156"/>
            <a:ext cx="1938528" cy="51206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30" b="1" dirty="0">
                <a:solidFill>
                  <a:srgbClr val="2F3437"/>
                </a:solidFill>
              </a:rPr>
              <a:t>统一 plate 口径</a:t>
            </a:r>
            <a:endParaRPr lang="en-US" sz="830" dirty="0"/>
          </a:p>
        </p:txBody>
      </p:sp>
      <p:sp>
        <p:nvSpPr>
          <p:cNvPr id="43" name="Shape 41"/>
          <p:cNvSpPr/>
          <p:nvPr/>
        </p:nvSpPr>
        <p:spPr>
          <a:xfrm>
            <a:off x="3063240" y="3483864"/>
            <a:ext cx="4663440" cy="585216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099816" y="3534156"/>
            <a:ext cx="4590288" cy="51206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30" dirty="0">
                <a:solidFill>
                  <a:srgbClr val="2F3437"/>
                </a:solidFill>
              </a:rPr>
              <a:t>latest 节点补齐 5 plate 或明确 3 plate 标准</a:t>
            </a:r>
            <a:endParaRPr lang="en-US" sz="830" dirty="0"/>
          </a:p>
        </p:txBody>
      </p:sp>
      <p:sp>
        <p:nvSpPr>
          <p:cNvPr id="45" name="Shape 43"/>
          <p:cNvSpPr/>
          <p:nvPr/>
        </p:nvSpPr>
        <p:spPr>
          <a:xfrm>
            <a:off x="7726680" y="3483864"/>
            <a:ext cx="3383280" cy="585216"/>
          </a:xfrm>
          <a:prstGeom prst="rect">
            <a:avLst/>
          </a:prstGeom>
          <a:solidFill>
            <a:srgbClr val="F8FB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763256" y="3534156"/>
            <a:ext cx="3310128" cy="51206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30" dirty="0">
                <a:solidFill>
                  <a:srgbClr val="2F3437"/>
                </a:solidFill>
              </a:rPr>
              <a:t>解决历史与 latest 可比性问题</a:t>
            </a:r>
            <a:endParaRPr lang="en-US" sz="830" dirty="0"/>
          </a:p>
        </p:txBody>
      </p:sp>
      <p:sp>
        <p:nvSpPr>
          <p:cNvPr id="47" name="Shape 45"/>
          <p:cNvSpPr/>
          <p:nvPr/>
        </p:nvSpPr>
        <p:spPr>
          <a:xfrm>
            <a:off x="594360" y="4069080"/>
            <a:ext cx="457200" cy="585216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0936" y="4119372"/>
            <a:ext cx="384048" cy="51206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30" b="1" dirty="0">
                <a:solidFill>
                  <a:srgbClr val="2F3437"/>
                </a:solidFill>
              </a:rPr>
              <a:t>5</a:t>
            </a:r>
            <a:endParaRPr lang="en-US" sz="830" dirty="0"/>
          </a:p>
        </p:txBody>
      </p:sp>
      <p:sp>
        <p:nvSpPr>
          <p:cNvPr id="49" name="Shape 47"/>
          <p:cNvSpPr/>
          <p:nvPr/>
        </p:nvSpPr>
        <p:spPr>
          <a:xfrm>
            <a:off x="1051560" y="4069080"/>
            <a:ext cx="2011680" cy="585216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88136" y="4119372"/>
            <a:ext cx="1938528" cy="51206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30" b="1" dirty="0">
                <a:solidFill>
                  <a:srgbClr val="2F3437"/>
                </a:solidFill>
              </a:rPr>
              <a:t>最终 acceptance 规则</a:t>
            </a:r>
            <a:endParaRPr lang="en-US" sz="830" dirty="0"/>
          </a:p>
        </p:txBody>
      </p:sp>
      <p:sp>
        <p:nvSpPr>
          <p:cNvPr id="51" name="Shape 49"/>
          <p:cNvSpPr/>
          <p:nvPr/>
        </p:nvSpPr>
        <p:spPr>
          <a:xfrm>
            <a:off x="3063240" y="4069080"/>
            <a:ext cx="4663440" cy="585216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099816" y="4119372"/>
            <a:ext cx="4590288" cy="51206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30" dirty="0">
                <a:solidFill>
                  <a:srgbClr val="2F3437"/>
                </a:solidFill>
              </a:rPr>
              <a:t>Optical + aspiration + seal/leak 三类指标合并判定</a:t>
            </a:r>
            <a:endParaRPr lang="en-US" sz="830" dirty="0"/>
          </a:p>
        </p:txBody>
      </p:sp>
      <p:sp>
        <p:nvSpPr>
          <p:cNvPr id="53" name="Shape 51"/>
          <p:cNvSpPr/>
          <p:nvPr/>
        </p:nvSpPr>
        <p:spPr>
          <a:xfrm>
            <a:off x="7726680" y="4069080"/>
            <a:ext cx="3383280" cy="585216"/>
          </a:xfrm>
          <a:prstGeom prst="rect">
            <a:avLst/>
          </a:prstGeom>
          <a:solidFill>
            <a:srgbClr val="FFFFFF"/>
          </a:solidFill>
          <a:ln w="5715">
            <a:solidFill>
              <a:srgbClr val="D9E2E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763256" y="4119372"/>
            <a:ext cx="3310128" cy="51206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830" dirty="0">
                <a:solidFill>
                  <a:srgbClr val="2F3437"/>
                </a:solidFill>
              </a:rPr>
              <a:t>避免只按 cycles 或单一 CV 给出 PASS</a:t>
            </a:r>
            <a:endParaRPr lang="en-US" sz="83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6944</Words>
  <Application>WPS 演示</Application>
  <PresentationFormat>On-screen Show (16:9)</PresentationFormat>
  <Paragraphs>1047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6" baseType="lpstr">
      <vt:lpstr>Arial</vt:lpstr>
      <vt:lpstr>宋体</vt:lpstr>
      <vt:lpstr>Wingdings</vt:lpstr>
      <vt:lpstr>宋体</vt:lpstr>
      <vt:lpstr>汉仪书宋二KW</vt:lpstr>
      <vt:lpstr>微软雅黑</vt:lpstr>
      <vt:lpstr>汉仪旗黑</vt:lpstr>
      <vt:lpstr>Arial Unicode MS</vt:lpstr>
      <vt:lpstr>等线</vt:lpstr>
      <vt:lpstr>汉仪中等线KW</vt:lpstr>
      <vt:lpstr>Calibri</vt:lpstr>
      <vt:lpstr>Helvetica Neue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Opentrons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P1000H O-ring Data Analysis Report</dc:title>
  <dc:creator>Codex</dc:creator>
  <dc:subject>P1000H O-ring data analysis report</dc:subject>
  <cp:lastModifiedBy>Wye</cp:lastModifiedBy>
  <cp:revision>2</cp:revision>
  <dcterms:created xsi:type="dcterms:W3CDTF">2026-06-04T01:22:46Z</dcterms:created>
  <dcterms:modified xsi:type="dcterms:W3CDTF">2026-06-04T01:22:46Z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2052-12.1.25895.25895</vt:lpwstr>
  </property>
  <property fmtid="{D5CDD505-2E9C-101B-9397-08002B2CF9AE}" pid="3" name="ICV">
    <vt:lpwstr>97B833B80EA3B75A66D3206AD7AF8B94_42</vt:lpwstr>
  </property>
</Properties>
</file>