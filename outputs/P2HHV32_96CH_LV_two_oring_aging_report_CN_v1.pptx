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d45a135b9d4cde" /><Relationship Type="http://schemas.openxmlformats.org/officeDocument/2006/relationships/extended-properties" Target="/docProps/app.xml" Id="R24918c57dc7849fd" /><Relationship Type="http://schemas.openxmlformats.org/officeDocument/2006/relationships/officeDocument" Target="/ppt/presentation.xml" Id="R75c48778411648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4d1bc7a50743df"/>
  </p:sldMasterIdLst>
  <p:notesMasterIdLst>
    <p:notesMasterId xmlns:r="http://schemas.openxmlformats.org/officeDocument/2006/relationships" r:id="Rcd6dabd0a7ea44c1"/>
  </p:notesMasterIdLst>
  <p:sldIdLst>
    <p:sldId xmlns:r="http://schemas.openxmlformats.org/officeDocument/2006/relationships" id="256" r:id="Ra398d89ff04c4dcc"/>
    <p:sldId xmlns:r="http://schemas.openxmlformats.org/officeDocument/2006/relationships" id="257" r:id="R45029cd6b447451a"/>
    <p:sldId xmlns:r="http://schemas.openxmlformats.org/officeDocument/2006/relationships" id="258" r:id="R56934e65d2ee42cb"/>
    <p:sldId xmlns:r="http://schemas.openxmlformats.org/officeDocument/2006/relationships" id="259" r:id="R01d78e4cb07c4d12"/>
    <p:sldId xmlns:r="http://schemas.openxmlformats.org/officeDocument/2006/relationships" id="260" r:id="R0ed5f739da764ced"/>
    <p:sldId xmlns:r="http://schemas.openxmlformats.org/officeDocument/2006/relationships" id="261" r:id="Rf375720149694b7f"/>
    <p:sldId xmlns:r="http://schemas.openxmlformats.org/officeDocument/2006/relationships" id="262" r:id="R1089a988a2814c3d"/>
    <p:sldId xmlns:r="http://schemas.openxmlformats.org/officeDocument/2006/relationships" id="263" r:id="R84ef299a1063446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56bce9a1594332" /><Relationship Type="http://schemas.openxmlformats.org/officeDocument/2006/relationships/slideMaster" Target="/ppt/slideMasters/slideMaster1.xml" Id="R1b4d1bc7a50743df" /><Relationship Type="http://schemas.openxmlformats.org/officeDocument/2006/relationships/notesMaster" Target="/ppt/notesMasters/notesMaster1.xml" Id="Rcd6dabd0a7ea44c1" /><Relationship Type="http://schemas.openxmlformats.org/officeDocument/2006/relationships/presProps" Target="/ppt/presProps.xml" Id="Rbb0c2f77f6564b7c" /><Relationship Type="http://schemas.openxmlformats.org/officeDocument/2006/relationships/tableStyles" Target="/ppt/tableStyles.xml" Id="Re82e8d51edf64e69" /><Relationship Type="http://schemas.openxmlformats.org/officeDocument/2006/relationships/slide" Target="/ppt/slides/slide1.xml" Id="Ra398d89ff04c4dcc" /><Relationship Type="http://schemas.openxmlformats.org/officeDocument/2006/relationships/slide" Target="/ppt/slides/slide2.xml" Id="R45029cd6b447451a" /><Relationship Type="http://schemas.openxmlformats.org/officeDocument/2006/relationships/slide" Target="/ppt/slides/slide3.xml" Id="R56934e65d2ee42cb" /><Relationship Type="http://schemas.openxmlformats.org/officeDocument/2006/relationships/slide" Target="/ppt/slides/slide4.xml" Id="R01d78e4cb07c4d12" /><Relationship Type="http://schemas.openxmlformats.org/officeDocument/2006/relationships/slide" Target="/ppt/slides/slide5.xml" Id="R0ed5f739da764ced" /><Relationship Type="http://schemas.openxmlformats.org/officeDocument/2006/relationships/slide" Target="/ppt/slides/slide6.xml" Id="Rf375720149694b7f" /><Relationship Type="http://schemas.openxmlformats.org/officeDocument/2006/relationships/slide" Target="/ppt/slides/slide7.xml" Id="R1089a988a2814c3d" /><Relationship Type="http://schemas.openxmlformats.org/officeDocument/2006/relationships/slide" Target="/ppt/slides/slide8.xml" Id="R84ef299a106344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90946679444c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c21a24573c403f" /><Relationship Type="http://schemas.openxmlformats.org/officeDocument/2006/relationships/notesMaster" Target="/ppt/notesMasters/notesMaster1.xml" Id="Redc774a994fd4c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777faaaf654f1c" /><Relationship Type="http://schemas.openxmlformats.org/officeDocument/2006/relationships/notesMaster" Target="/ppt/notesMasters/notesMaster1.xml" Id="Re948d4e0d16343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f0b13d3dd4491a" /><Relationship Type="http://schemas.openxmlformats.org/officeDocument/2006/relationships/notesMaster" Target="/ppt/notesMasters/notesMaster1.xml" Id="Rb3ca1ae654ea4a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275aafda524ebe" /><Relationship Type="http://schemas.openxmlformats.org/officeDocument/2006/relationships/notesMaster" Target="/ppt/notesMasters/notesMaster1.xml" Id="R21eb1e2d7f3c4a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c25764d37a42be" /><Relationship Type="http://schemas.openxmlformats.org/officeDocument/2006/relationships/notesMaster" Target="/ppt/notesMasters/notesMaster1.xml" Id="Rc86b6468e1c8494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ee398f4f674db5" /><Relationship Type="http://schemas.openxmlformats.org/officeDocument/2006/relationships/notesMaster" Target="/ppt/notesMasters/notesMaster1.xml" Id="R779c1a90bdaf42e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bf384bb7f248aa" /><Relationship Type="http://schemas.openxmlformats.org/officeDocument/2006/relationships/notesMaster" Target="/ppt/notesMasters/notesMaster1.xml" Id="Rc51c4ec6310e4a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b084560084484c" /><Relationship Type="http://schemas.openxmlformats.org/officeDocument/2006/relationships/notesMaster" Target="/ppt/notesMasters/notesMaster1.xml" Id="R1a004dd411a74e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471d76e2394f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e2ae61f2d049f7" /><Relationship Type="http://schemas.openxmlformats.org/officeDocument/2006/relationships/slideLayout" Target="/ppt/slideLayouts/slideLayout1.xml" Id="R6661b60b32cc46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61b60b32cc46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c2c2673204344" /><Relationship Type="http://schemas.openxmlformats.org/officeDocument/2006/relationships/image" Target="/ppt/media/image.png" Id="Re2d8562ed8064f67" /><Relationship Type="http://schemas.openxmlformats.org/officeDocument/2006/relationships/notesSlide" Target="/ppt/notesSlides/notesSlide1.xml" Id="R57b6b8008e754c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810cee03049fe" /><Relationship Type="http://schemas.openxmlformats.org/officeDocument/2006/relationships/image" Target="/ppt/media/image2.png" Id="R434763f0b46c4176" /><Relationship Type="http://schemas.openxmlformats.org/officeDocument/2006/relationships/notesSlide" Target="/ppt/notesSlides/notesSlide2.xml" Id="Ra956c9785f1b457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9ca58903547ca" /><Relationship Type="http://schemas.openxmlformats.org/officeDocument/2006/relationships/image" Target="/ppt/media/image3.png" Id="Rf3eae019ce264f53" /><Relationship Type="http://schemas.openxmlformats.org/officeDocument/2006/relationships/notesSlide" Target="/ppt/notesSlides/notesSlide3.xml" Id="R214d42186e2b4e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17da48b704e9c" /><Relationship Type="http://schemas.openxmlformats.org/officeDocument/2006/relationships/image" Target="/ppt/media/image4.png" Id="R25da2f8e8faa402f" /><Relationship Type="http://schemas.openxmlformats.org/officeDocument/2006/relationships/notesSlide" Target="/ppt/notesSlides/notesSlide4.xml" Id="R7e7d8fab029247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e2641ca2a4a2b" /><Relationship Type="http://schemas.openxmlformats.org/officeDocument/2006/relationships/image" Target="/ppt/media/image5.png" Id="Rae3a0029ed2c4b97" /><Relationship Type="http://schemas.openxmlformats.org/officeDocument/2006/relationships/notesSlide" Target="/ppt/notesSlides/notesSlide5.xml" Id="Rdd66aac2316842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770f1a23c4e26" /><Relationship Type="http://schemas.openxmlformats.org/officeDocument/2006/relationships/image" Target="/ppt/media/image6.png" Id="Rf39ce7c59d6243c7" /><Relationship Type="http://schemas.openxmlformats.org/officeDocument/2006/relationships/notesSlide" Target="/ppt/notesSlides/notesSlide6.xml" Id="Rbc4d5508f8db4cd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cdde1dca94d49" /><Relationship Type="http://schemas.openxmlformats.org/officeDocument/2006/relationships/image" Target="/ppt/media/image7.png" Id="R92582f8ccb5c475f" /><Relationship Type="http://schemas.openxmlformats.org/officeDocument/2006/relationships/notesSlide" Target="/ppt/notesSlides/notesSlide7.xml" Id="R0fefc95cc2c844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80bfc55247482a" /><Relationship Type="http://schemas.openxmlformats.org/officeDocument/2006/relationships/image" Target="/ppt/media/image8.png" Id="R82a3b1040c4b40e3" /><Relationship Type="http://schemas.openxmlformats.org/officeDocument/2006/relationships/notesSlide" Target="/ppt/notesSlides/notesSlide8.xml" Id="Raec8b0deac4343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513011-95D6-4D4F-BB5B-E4DAB72B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d8562ed8064f67"/>
          <a:stretch xmlns:a="http://schemas.openxmlformats.org/drawingml/2006/main"/>
        </p:blipFill>
        <p:spPr>
          <a:xfrm xmlns:a="http://schemas.openxmlformats.org/drawingml/2006/main">
            <a:off x="10363200" y="296636"/>
            <a:ext cx="1257300" cy="3592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116CC3-268C-4016-803C-36CF5C3C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96CH LV 老化测试结果总览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B2755-CE7D-4B13-A132-5FE2D2F3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管理层视角：测试工作量、通过率、方案选择与最终结论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222C33-74BA-4B23-8175-9814AB69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428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285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12FDF-BB64-485E-B7A8-20AC0973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2763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覆盖类型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EBB9E-4473-4906-8DED-C52FEFD6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144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28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4285F4"/>
                </a:solidFill>
                <a:latin typeface="Microsoft YaHei"/>
                <a:ea typeface="Microsoft YaHei"/>
                <a:cs typeface="Microsoft YaHei"/>
              </a:rPr>
              <a:t>2 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6FAA65-9540-4D1A-8140-FE647A15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162050"/>
            <a:ext cx="161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285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B9C2C5-B5C6-4DC8-888C-CCAC087F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2763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跑测样机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C02333-0B12-4C98-84F5-61ED935C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151447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28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4285F4"/>
                </a:solidFill>
                <a:latin typeface="Microsoft YaHei"/>
                <a:ea typeface="Microsoft YaHei"/>
                <a:cs typeface="Microsoft YaHei"/>
              </a:rPr>
              <a:t>19 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C1C76B-D518-42FD-B7A7-99629729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162050"/>
            <a:ext cx="1714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C815B6-70CE-4066-8396-13DD3E3F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276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到达终点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927CD7-29EC-440D-B05A-6867AE03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151447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rPr>
              <a:t>16 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CE64C-7B48-4144-9FA1-9E201E39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162050"/>
            <a:ext cx="20383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1FD838-043A-46B5-8338-C67A5941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276350"/>
            <a:ext cx="1752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PASS / 总通过率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45228A-9B20-4A10-9FF7-4488E4FF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514475"/>
            <a:ext cx="1752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rPr>
              <a:t>15 台 / 79%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983220-832C-4403-BF3E-20E24F07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62050"/>
            <a:ext cx="1619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77403A-DBCB-41F6-86E0-B1F91BE5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2763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风险复核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E045AF-0712-4017-9AA0-B1116314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14475"/>
            <a:ext cx="133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2 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EED1EC-7AC5-41D4-9C4C-2F042933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162050"/>
            <a:ext cx="1714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FA7FCC-FF3A-4328-AD79-2DD1C486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2763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Fail 已闭环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D48A7A-DE82-429B-9F36-E6E811FB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51447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2 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DC0DA9-A2CE-49B3-9769-5149B3FA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09800"/>
            <a:ext cx="2647950" cy="33718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7FD29C-4B8B-49A9-8E2D-EEF3E1D9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我们做了什么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10F4EF-AAFA-434C-97AB-649129AD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575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E8B553-7F0B-46DA-B1BB-8D9F9339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00375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15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按指定 SN 清单复核 19 台样机，统一归为 Mold Oring 与 OTP-O ring 两类。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AF7DA2-6995-4FDF-9643-CD5EC4EA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88D17C-8710-4576-AB63-3A3DE8FE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676650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15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逐台检查最高老化节点、CV、最差通道 CV、LOW %D、吸液/不吸液与泄漏备注。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5F7D92-8FBA-4217-86FF-557032CC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6B"/>
          </a:solidFill>
          <a:ln xmlns:a="http://schemas.openxmlformats.org/drawingml/2006/main" w="0">
            <a:solidFill>
              <a:srgbClr val="00A86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AFB553-EFB6-4D0D-A634-94444498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14850"/>
            <a:ext cx="1933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15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覆盖 0 到 1,020,000/1,085,000 次老化节点；16 台跑到终点，15 台计入 PASS。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6439E4-83E9-4767-AB98-529757EE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72075"/>
            <a:ext cx="21336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6FB"/>
          </a:solidFill>
          <a:ln xmlns:a="http://schemas.openxmlformats.org/drawingml/2006/main" w="0">
            <a:solidFill>
              <a:srgbClr val="DDF6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核心工作量：19 台 × 多节点验证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B44318-729B-4BB6-BCFB-795351E6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09800"/>
            <a:ext cx="39052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97C8E3-2BF8-4980-B926-9BB9CB51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812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类型 1：Mold Oring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9F0117-942D-45D0-88BE-D66BC13F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390775"/>
            <a:ext cx="1143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推荐推进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D4C6B8-B9CC-4624-A8B3-08952EAF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956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样机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DE384B-1B5A-44A5-95EE-1285595B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1051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14 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0768A91-4929-416D-A2FA-E1552C90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9138" y="28956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终点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D7A345-3501-4356-BD83-B5244737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9138" y="31051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13/14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4B55570-DFA7-4C9C-87AB-BD960AD7E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8956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01E070-4B0D-401C-B916-41A14371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1051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13/14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33108C-5B81-4D5D-BEF6-CC1AFAF1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213" y="28956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通过率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DF1F70-8230-45D9-9C4B-5BDAB81D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213" y="31051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93%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0F57FE-BBEC-4269-A4B9-20758564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814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完成率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F8E450-25ED-4C08-A2F5-30DB4BFD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814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93%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B73DF0-5DFF-4269-AAC0-0BC99840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00475"/>
            <a:ext cx="14763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DF2"/>
          </a:solidFill>
          <a:ln xmlns:a="http://schemas.openxmlformats.org/drawingml/2006/main" w="0">
            <a:solidFill>
              <a:srgbClr val="E5EDF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A7AABA-7557-4388-8197-CDCE92F2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00475"/>
            <a:ext cx="1373029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6BC4BF-D305-4322-8B5E-CA2707C2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814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PASS 率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63B6D94-13CA-4A7B-92AC-8D54530A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814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rPr>
              <a:t>93%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5FFAFD-0878-456D-8184-42B81F61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00475"/>
            <a:ext cx="14763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DF2"/>
          </a:solidFill>
          <a:ln xmlns:a="http://schemas.openxmlformats.org/drawingml/2006/main" w="0">
            <a:solidFill>
              <a:srgbClr val="E5EDF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D1A4BDB-9E54-4673-B422-CF627D56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00475"/>
            <a:ext cx="1373029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6B"/>
          </a:solidFill>
          <a:ln xmlns:a="http://schemas.openxmlformats.org/drawingml/2006/main" w="0">
            <a:solidFill>
              <a:srgbClr val="00A86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4F0FFCF-D287-419C-B2C4-89AB0DA1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19550"/>
            <a:ext cx="3448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1,020,000-1,085,000 次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1B8E9BB-C252-4684-9EB2-DA24641F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38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BE71A76-0A30-4011-8BB1-A2015C7C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381500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4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通过率与完成度均高；已验证到原设计寿命约 3.8-4.0 倍。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8EB9EEC-57F0-43A5-BD8B-FDC27D32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14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70E0132-0637-40AD-8DA3-0BD6D909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857750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4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剩余 1 项风险复核：0407A01 D2 漏液/O-ring replacement。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FA266A5-986D-4F35-8CC5-8285FF24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09800"/>
            <a:ext cx="39052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4A0F59E-2D4A-4029-849F-B9F422CB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81250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类型 2：OTP-O ring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62296A2-868C-4950-87AF-93130DA1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390775"/>
            <a:ext cx="11430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不建议作为通过方案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1A959BD-7CF2-4F4C-9435-E9207B78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956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样机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25EC391-9B76-4E44-90B5-2E50DD7A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051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5 台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BB3254B-0D83-4900-A849-AA1194B6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28956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终点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2487159-7319-4556-AB37-669B11B0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5388" y="31051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3/5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EFA174D-2392-4A1F-A075-08BD54E7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8956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4A18545-F927-48CA-A60C-00BDF0A7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1051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2/5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41C0408-1EBB-4EB2-9DCF-0AC6F64F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463" y="2895600"/>
            <a:ext cx="66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13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通过率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9C30707-6DDB-428F-BB9C-A35CEDB2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8463" y="31051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40%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64A7546-7555-4D86-B41C-D940B6D4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814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完成率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156C592-0C63-4533-9B31-F9DF9DA9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5814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60%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1FF57CD-0DEF-40ED-B21E-8AA74E2F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00475"/>
            <a:ext cx="14763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DF2"/>
          </a:solidFill>
          <a:ln xmlns:a="http://schemas.openxmlformats.org/drawingml/2006/main" w="0">
            <a:solidFill>
              <a:srgbClr val="E5EDF2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E827483-C19E-44DA-920E-87D78A4C8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00475"/>
            <a:ext cx="88582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68C5E56-6B5E-4942-BED4-5E5A1F45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814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PASS 率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BC03E53-6E1D-4267-A648-9AC142F5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35814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4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40%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23FAE68-957B-483C-8229-D88013E9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800475"/>
            <a:ext cx="1476375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DF2"/>
          </a:solidFill>
          <a:ln xmlns:a="http://schemas.openxmlformats.org/drawingml/2006/main" w="0">
            <a:solidFill>
              <a:srgbClr val="E5EDF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845C0BC-0316-482B-91C6-00422E92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800475"/>
            <a:ext cx="590550" cy="1047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CB6AB05-C18A-4819-BE78-8791A4BF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19550"/>
            <a:ext cx="3448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3 台到 1,020,000 次；2 台 150%-175% 停止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8D16AA8-E4FD-4022-B489-A56FB6D3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386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BB99D69-7A40-4A0C-BAC8-86B48000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381500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4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通过率低，且 2 台 Fail 已完成分析和闭环。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61F2D61-5415-49EC-94A0-80C2A165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14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33207BC-510C-4FBE-A84C-DB800584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857750"/>
            <a:ext cx="319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4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4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风险集中在吸液少、不吸液、泄漏率异常、392% CV 超 QC 限值。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D48FAE3-83EF-4D02-9F6A-4F7BC6BE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061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7FC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B338793-2B4F-4F9D-A1EF-6AF7D468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29325"/>
            <a:ext cx="990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F6FB"/>
          </a:solidFill>
          <a:ln xmlns:a="http://schemas.openxmlformats.org/drawingml/2006/main" w="0">
            <a:solidFill>
              <a:srgbClr val="DDF6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891B2"/>
                </a:solidFill>
                <a:latin typeface="Microsoft YaHei"/>
                <a:ea typeface="Microsoft YaHei"/>
                <a:cs typeface="Microsoft YaHei"/>
              </a:rPr>
              <a:t>最终结论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99E7B62-863D-4D7D-A15B-707AA2AC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981700"/>
            <a:ext cx="9191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6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Mold Oring 已通过 1,020,000-1,085,000 次验证，相比原设计寿命 270,000 次达到约 3.8-4.0 倍（提升约 278%-302%）；建议作为寿命提升方向推进。OTP-O ring 两台失效已完成分析闭环并判定 Fail，不建议作为通过方案。</a:t>
            </a:r>
          </a:p>
        </p:txBody>
      </p:sp>
    </p:spTree>
    <p:extLst>
      <p:ext uri="{BB962C8B-B14F-4D97-AF65-F5344CB8AC3E}">
        <p14:creationId xmlns:p14="http://schemas.microsoft.com/office/powerpoint/2010/main" val="21393449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C54C60-4938-4D83-98A4-27BAE91C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4763f0b46c4176"/>
          <a:stretch xmlns:a="http://schemas.openxmlformats.org/drawingml/2006/main"/>
        </p:blipFill>
        <p:spPr>
          <a:xfrm xmlns:a="http://schemas.openxmlformats.org/drawingml/2006/main">
            <a:off x="10363200" y="296636"/>
            <a:ext cx="1257300" cy="3592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9785AA-9138-4E0E-B97B-6843BDF9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测试范围与判定口径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9DAC0D-38E0-4EDB-952B-43345DCD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报告把原始测试记录转成老板可直接决策的 PASS / Risk / Fail closed 口径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D816D-82A6-4494-8302-4180A036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3333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285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6EDC16-0623-4BF8-8DBC-36C18116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90650"/>
            <a:ext cx="1009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285F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4285F4"/>
                </a:solidFill>
                <a:latin typeface="Microsoft YaHei"/>
                <a:ea typeface="Microsoft YaHei"/>
                <a:cs typeface="Microsoft YaHei"/>
              </a:rPr>
              <a:t>测试对象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09615-5160-480D-B40F-907758C9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283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2 种 O-ring 类型</a:t>
            </a:r>
          </a:p>
          <a:p xmlns:a="http://schemas.openxmlformats.org/drawingml/2006/main">
            <a:pPr>
              <a:defRPr sz="11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19 台 96CH LV 移液器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A5482D-0B6D-468E-927C-1390663DC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162050"/>
            <a:ext cx="3333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81363-1D10-4E82-98F9-4E76BF403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390650"/>
            <a:ext cx="1009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rPr>
              <a:t>老化覆盖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1E24F7-C939-4B3F-A9CF-10EADAAD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52600"/>
            <a:ext cx="283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0 → 1,020,000 / 1,085,000 次</a:t>
            </a:r>
          </a:p>
          <a:p xmlns:a="http://schemas.openxmlformats.org/drawingml/2006/main">
            <a:pPr>
              <a:defRPr sz="11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16 台到达终点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EDB6FC-F073-4499-B263-DFAB033F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162050"/>
            <a:ext cx="33337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8A33BF-41C5-4E93-B4BE-7AF889C5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90650"/>
            <a:ext cx="100965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判定状态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D49F7-D4DA-4959-BD0A-97EDD2CF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52600"/>
            <a:ext cx="2838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PASS / Risk review / Fail closed</a:t>
            </a:r>
          </a:p>
          <a:p xmlns:a="http://schemas.openxmlformats.org/drawingml/2006/main">
            <a:pPr>
              <a:defRPr sz="11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避免混淆待闭环与已闭环 Fail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06C822-58AB-4485-BBBB-11869F53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52197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5E2485-87EA-498D-8816-6FC1E8AF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432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统一规格口径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75791B-9F50-4256-A996-1A66F96C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337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A6E3CA-BC87-4B29-9A24-47C3D753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476625"/>
            <a:ext cx="4124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CV：QC 限值 4%；客户限值 5%。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2F26C3-AFE0-4DA2-8F04-06DFBEE0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671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34C176-A694-4937-A330-C6698506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10025"/>
            <a:ext cx="4124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最差通道 CV：QC 限值 5.6%；客户限值 7%。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530C15-2DF3-4771-A835-A7E2B830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512CD9-9DAC-4120-801A-9FE19779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543425"/>
            <a:ext cx="4124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LOW %D、吸液少、不吸液、泄漏率异常作为风险备注进入单台结论。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89C2DD-30EF-4504-9A0B-F2830704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67000"/>
            <a:ext cx="558165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EAF7FC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5AE8D5-8C29-4EB4-B976-4220B93B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432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本次关键判定调整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60E263-0919-42AA-96DD-654A09997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1472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6B"/>
          </a:solidFill>
          <a:ln xmlns:a="http://schemas.openxmlformats.org/drawingml/2006/main" w="0">
            <a:solidFill>
              <a:srgbClr val="00A8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B1534C-61F2-48F9-9CEC-C98F37CB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457575"/>
            <a:ext cx="4600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9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P2HHV3120250702A03：H3 low %D，按通过移液器计入。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312111-E230-4EB2-A446-5DE56F31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6B"/>
          </a:solidFill>
          <a:ln xmlns:a="http://schemas.openxmlformats.org/drawingml/2006/main" w="0">
            <a:solidFill>
              <a:srgbClr val="00A86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9A43AF-43F2-4B82-95C4-10784DA9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943350"/>
            <a:ext cx="4600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9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P2HHV3220250410A04：复位开关损伤，按通过移液器计入。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43A775-E16E-48B4-84DD-3415CB24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86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B1D57D-1D65-4C33-85E3-81399FE7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429125"/>
            <a:ext cx="4600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9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P2HHV3220250627A02 / A03：已有分析报告和闭环，归为 Fail closed。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2CA7E8-0D44-4293-A511-F9A8BBC4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720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74339D2-D23B-4300-898C-91FF8B1A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914900"/>
            <a:ext cx="4600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9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Mold Oring + Molded Plunger Seal 统一归为 Mold Oring，不再拆分。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8E0F316-AEA9-43E3-83AA-23DAACFA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62625"/>
            <a:ext cx="111061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8FCFE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3092EE-E7F4-4F08-8F52-19145717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626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呈现原则：主报告突出工作量、通过率和设计决策；单台数据作为支撑页和附录，不放在第一页干扰结论。</a:t>
            </a:r>
          </a:p>
        </p:txBody>
      </p:sp>
    </p:spTree>
    <p:extLst>
      <p:ext uri="{BB962C8B-B14F-4D97-AF65-F5344CB8AC3E}">
        <p14:creationId xmlns:p14="http://schemas.microsoft.com/office/powerpoint/2010/main" val="118884601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829192-73D6-4E06-BBE9-365977A5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eae019ce264f53"/>
          <a:stretch xmlns:a="http://schemas.openxmlformats.org/drawingml/2006/main"/>
        </p:blipFill>
        <p:spPr>
          <a:xfrm xmlns:a="http://schemas.openxmlformats.org/drawingml/2006/main">
            <a:off x="10363200" y="296636"/>
            <a:ext cx="1257300" cy="3592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73960-BA9D-4350-9A69-8CCDE57F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两种 O-ring 类型对比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26ECD-C4EE-4EE0-8DE0-C675CDF3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Mold Oring 完成度和通过率明显优于 OTP-O ring，是更适合推进的寿命提升方向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D8748-5200-49F8-85CD-379CE73E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382250" cy="139065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659F75-C9CB-4698-A32C-8A7CE79B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A"/>
          </a:solidFill>
          <a:ln xmlns:a="http://schemas.openxmlformats.org/drawingml/2006/main" w="4763">
            <a:solidFill>
              <a:srgbClr val="D7E6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1FB83-9179-4F70-B2E8-209D51F1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276350"/>
            <a:ext cx="1866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类型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F472D-9B0A-401E-9CD4-3A45CCC0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20015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A"/>
          </a:solidFill>
          <a:ln xmlns:a="http://schemas.openxmlformats.org/drawingml/2006/main" w="4763">
            <a:solidFill>
              <a:srgbClr val="D7E6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18CFB-DE0A-4905-9237-8161DD1A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276350"/>
            <a:ext cx="866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样机数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BF5E62-D7C6-43A1-8280-FFD11C21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20015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A"/>
          </a:solidFill>
          <a:ln xmlns:a="http://schemas.openxmlformats.org/drawingml/2006/main" w="4763">
            <a:solidFill>
              <a:srgbClr val="D7E6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96CE74-92CD-4CC3-BFB3-A00571F2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2763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到达终点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C16A8C-A022-49EB-9762-4575A15C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20015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A"/>
          </a:solidFill>
          <a:ln xmlns:a="http://schemas.openxmlformats.org/drawingml/2006/main" w="4763">
            <a:solidFill>
              <a:srgbClr val="D7E6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78B61B-28DE-4056-BB36-5D0AC4DF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2763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BDEE59-CD7B-4592-85EF-F3DCBEDF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200150"/>
            <a:ext cx="114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A"/>
          </a:solidFill>
          <a:ln xmlns:a="http://schemas.openxmlformats.org/drawingml/2006/main" w="4763">
            <a:solidFill>
              <a:srgbClr val="D7E6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E682A1-2F8E-41E7-A847-9646C39B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276350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通过率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6008F6-A228-4590-B995-80AC5A95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2001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A"/>
          </a:solidFill>
          <a:ln xmlns:a="http://schemas.openxmlformats.org/drawingml/2006/main" w="4763">
            <a:solidFill>
              <a:srgbClr val="D7E6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2F18CF-C80F-41ED-884E-A31F5A08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276350"/>
            <a:ext cx="1581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风险/Fail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4EB9D3-E101-4109-8686-B957C811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200150"/>
            <a:ext cx="2143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A"/>
          </a:solidFill>
          <a:ln xmlns:a="http://schemas.openxmlformats.org/drawingml/2006/main" w="4763">
            <a:solidFill>
              <a:srgbClr val="D7E6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653EE3-E95F-4DA2-812B-6006A1F1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276350"/>
            <a:ext cx="20097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建议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B18E07-945F-48EE-A355-D39E343A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7B3D16-8995-429F-BF52-5D59F8B1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628775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Mold Oring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1B0BF4-CD40-43AE-93A5-4829D4DD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56210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E99296-412C-443F-9535-C81A4136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628775"/>
            <a:ext cx="866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30CE0C-B6B0-4CA3-8CC1-D3EC9990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156210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91BEA8-447D-4E21-A34A-F344C920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628775"/>
            <a:ext cx="110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13/14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015CC5-7B67-425C-8F08-772B3D09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156210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92C2D6-EA8A-4977-8EAE-17BF1754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628775"/>
            <a:ext cx="1009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13/14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28B8AB-B77B-4E5C-A1F8-0BD126B2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56210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1227AC-485C-4284-985D-470A3514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28775"/>
            <a:ext cx="1009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93%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11F43A-B006-4FD0-B792-25ABCA4B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56210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DCFEF6-2AAC-41B7-91BB-8A035CC1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628775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 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C47BA3-9E25-4402-8CB3-1D820609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562100"/>
            <a:ext cx="2143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214FFD-F7B5-4AF7-92BA-33E8EA6E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28775"/>
            <a:ext cx="2009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推荐推进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4EBD480-E272-4A80-BB88-B08C3D6BB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79B5B4-BAF1-4B82-8DFC-55EE92D9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143125"/>
            <a:ext cx="1866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OTP-O ring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196F729-AAD4-4932-ABFB-ED2F7908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7645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8A063E-1EDF-40FD-8709-F32535D4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143125"/>
            <a:ext cx="866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8E4C18-108D-4425-A104-F19B84F88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076450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8F130A-636E-4F3D-8DDE-AAB7699C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143125"/>
            <a:ext cx="110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3/5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0C6803-D347-4639-B558-7BFBE602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07645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3B5F70-6C75-4248-BC2C-2DAB3E4F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143125"/>
            <a:ext cx="1009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2/5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5D5E2F-7F5B-4BB2-AAC4-84A92F19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07645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A549CF-1062-421E-B0F0-875B5465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43125"/>
            <a:ext cx="1009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40%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0CEAD01-6C24-43E3-8810-6BB41441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76450"/>
            <a:ext cx="171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9DB288C-F4CB-416A-AC72-AE586A17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43125"/>
            <a:ext cx="158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 Risk + 2 Fail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7104593-C016-4AC9-962C-9F079F67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076450"/>
            <a:ext cx="2143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30DE90-0A7C-4BFB-8971-25E57B6D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20097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不建议通过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FBE2B2-A160-46AD-9DFB-5331622D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52197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F7EBEAC-A50B-4D10-976F-301585F8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PASS 率对比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63A0276-435B-4EA2-97C2-D2CA7076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Mold Oring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3802E87-8F3E-4604-9674-654A3B3F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7909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93%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D9A2B38-7A0B-40D8-94C4-6453CC81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38575"/>
            <a:ext cx="300037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DF2"/>
          </a:solidFill>
          <a:ln xmlns:a="http://schemas.openxmlformats.org/drawingml/2006/main" w="0">
            <a:solidFill>
              <a:srgbClr val="E5EDF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CE4011C-E5B7-4C65-BAB7-744B37C0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838575"/>
            <a:ext cx="2790349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6D55FFE-D307-43CA-B1E7-E186D6CF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OTP-O ring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2F05FDF-AED3-4CB4-987C-1F4E6059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44767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40%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014BC73-3694-4020-B6AF-F631B114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24375"/>
            <a:ext cx="3000375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EDF2"/>
          </a:solidFill>
          <a:ln xmlns:a="http://schemas.openxmlformats.org/drawingml/2006/main" w="0">
            <a:solidFill>
              <a:srgbClr val="E5EDF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0CEF160-B070-4C3B-9828-FD43AD39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524375"/>
            <a:ext cx="12001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7E44715-6A25-444D-907D-76EE71EC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Mold Oring 的通过率比 OTP-O ring 高 53 个百分点。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6987DBF-CA2A-4BAD-9F14-92CB250D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90850"/>
            <a:ext cx="54864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7FC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86901DA-C5F6-4921-A0CB-EC01423B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575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异常模式差异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921E535-4335-409C-A8F7-8D2C4A85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90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063B1F6-30F5-4704-A770-54B54941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733800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Mold Oring：整体跑到终点比例高，主要剩余问题为单台 D2 漏液/O-ring replacement 风险复核。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DE8F256-FD97-4C25-BEE5-46170298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86275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AC986A9-6885-42C2-8E7A-B750E9E6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429125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OTP-O ring：存在吸液少、不吸液、泄漏率高，以及 392% CV 4.16% 超 QC 限值。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CCF953A-BC57-46B2-BDC1-0EBBABE7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1816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6B"/>
          </a:solidFill>
          <a:ln xmlns:a="http://schemas.openxmlformats.org/drawingml/2006/main" w="0">
            <a:solidFill>
              <a:srgbClr val="00A86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A159698-C8CF-45E7-B7D1-AD6892C4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124450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因此比较结论不是单纯“谁数据更漂亮”，而是 Mold Oring 已形成可推进的寿命验证证据。</a:t>
            </a:r>
          </a:p>
        </p:txBody>
      </p:sp>
    </p:spTree>
    <p:extLst>
      <p:ext uri="{BB962C8B-B14F-4D97-AF65-F5344CB8AC3E}">
        <p14:creationId xmlns:p14="http://schemas.microsoft.com/office/powerpoint/2010/main" val="16773554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3E7B4C-C07E-4CD8-ADBC-0A63F01F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da2f8e8faa402f"/>
          <a:stretch xmlns:a="http://schemas.openxmlformats.org/drawingml/2006/main"/>
        </p:blipFill>
        <p:spPr>
          <a:xfrm xmlns:a="http://schemas.openxmlformats.org/drawingml/2006/main">
            <a:off x="10363200" y="296636"/>
            <a:ext cx="1257300" cy="3592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67D64-073F-4644-BEED-37DA1B689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寿命提升验证结果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1D0A1-8D4A-4769-B4C6-523C16AF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把 392% / 417% 转成实际次数，更适合管理层理解寿命提升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165666-D21D-49DD-B6EF-C0E9B1A8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61912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F53E8-D7BE-4A86-ABCF-C0B48134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原设计寿命 vs 已验证寿命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80E3A-F6C5-4070-B43F-74A39893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70467"/>
            <a:ext cx="876300" cy="7110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E89184-F6C9-4238-AB60-DA2B4BBC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84717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270,000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63009-6EE3-4E54-A337-D818A6F4B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149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原设计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B25BE-7F49-446D-8A4D-73F11739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95237"/>
            <a:ext cx="876300" cy="2686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84BDF-D887-40A0-AEAB-D26B5332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09487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1,020,000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83272-D8A5-4C1A-BCE9-5D951D9E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149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392%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622C77-6253-4CC7-B7D0-C52472DA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924050"/>
            <a:ext cx="876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6B"/>
          </a:solidFill>
          <a:ln xmlns:a="http://schemas.openxmlformats.org/drawingml/2006/main" w="0">
            <a:solidFill>
              <a:srgbClr val="00A8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C489A8-3FBD-46B2-ACEC-DCFD960F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6383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rPr>
              <a:t>1,085,000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25D20A-8448-430A-90A8-37CF4E1CF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9149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417%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255B09-268E-4609-9696-56F5CD0D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81550"/>
            <a:ext cx="4953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6EF"/>
          </a:solidFill>
          <a:ln xmlns:a="http://schemas.openxmlformats.org/drawingml/2006/main" w="0">
            <a:solidFill>
              <a:srgbClr val="D7E6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45F456-A0F4-4108-AD1B-7B9B3886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200150"/>
            <a:ext cx="44958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EAF7FC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BB3663-631F-4FD0-BE6C-33F49F7E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668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量化结论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5907D0-40BD-49DF-AC83-1C5ABFF2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38350"/>
            <a:ext cx="17716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E06219-0AFC-448E-9279-9BD61777B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15265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已验证寿命下限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7D7E65-8AAD-4DE1-8028-D0FE97EF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39077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1,020,000 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E27566-780E-4CA9-A5DB-1E562AEB2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38350"/>
            <a:ext cx="17716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CB099B-1013-48D2-9DE6-42509C93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152650"/>
            <a:ext cx="148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已验证寿命上限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F0050D-9729-4311-8A04-8493BEBD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390775"/>
            <a:ext cx="1485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rPr>
              <a:t>1,085,000 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178D8B-18E1-46A7-8A7B-9FCF374A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19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6B"/>
          </a:solidFill>
          <a:ln xmlns:a="http://schemas.openxmlformats.org/drawingml/2006/main" w="0">
            <a:solidFill>
              <a:srgbClr val="00A86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BA9E94-8915-42BD-9CD8-E13A0FB4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162300"/>
            <a:ext cx="3267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相对 270,000 次原设计寿命，已达到约 3.8-4.0 倍。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8CFABF-42B7-46CE-BD19-C092B678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90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16B41D-8418-4A74-8BE6-FF0B23A6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733800"/>
            <a:ext cx="3267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等效寿命提升约 278%-302%。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EC1C8D-2F6E-427C-8AFD-F5733BF9A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362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889D62-7737-4FFF-A998-1E7FC937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305300"/>
            <a:ext cx="32670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推荐在管理层材料中直接使用次数，不只写 392% / 417%。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D88AEC-1860-4303-9216-2F6EDBB7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10299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8FCFE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7EFD60-DD3B-4C6F-A5D2-9EABA8B0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86450"/>
            <a:ext cx="1036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建议表述：Mold Oring 已通过 1,020,000-1,085,000 次验证，寿命验证水平达到原设计寿命约 3.8-4.0 倍。</a:t>
            </a:r>
          </a:p>
        </p:txBody>
      </p:sp>
    </p:spTree>
    <p:extLst>
      <p:ext uri="{BB962C8B-B14F-4D97-AF65-F5344CB8AC3E}">
        <p14:creationId xmlns:p14="http://schemas.microsoft.com/office/powerpoint/2010/main" val="3702388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931F5B-1944-4807-B259-9F128745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a0029ed2c4b97"/>
          <a:stretch xmlns:a="http://schemas.openxmlformats.org/drawingml/2006/main"/>
        </p:blipFill>
        <p:spPr>
          <a:xfrm xmlns:a="http://schemas.openxmlformats.org/drawingml/2006/main">
            <a:off x="10363200" y="296636"/>
            <a:ext cx="1257300" cy="3592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DFD5F-938C-4866-84DE-6D5E1D6B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异常、Fail 与闭环说明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887D3-6ECE-41F2-BBA7-8DBBD302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将异常按决策状态拆分，避免把已闭环 Fail、风险复核和通过样机混在一起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77F4F-4786-413F-98AA-95E5C846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95400"/>
            <a:ext cx="3486150" cy="400050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C64761-643D-4C8F-91D1-1C47F4E13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13525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Fail closed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5A2F5A-CB64-4717-88BE-638A01EF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24C0D4-EC1C-411B-B4AE-80099039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52650"/>
            <a:ext cx="2695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P2HHV3220250627A02：D3/G9 吸液少；175% CV 6.83%；已有分析与闭环。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2E58E5-E502-43AA-BFDA-2F84D854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CE097-E88A-4226-BDD1-FB4F1B87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48000"/>
            <a:ext cx="2695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P2HHV3220250627A03：E10/B7 不吸液；泄漏率高；已有分析与闭环。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90049-07D7-40F8-93D3-6C34CEF4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00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BD695B-3599-45AF-A12A-1D4F7EBC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43350"/>
            <a:ext cx="2695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两台均属于 OTP-O ring，最终统计归为 Fail。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783B11-A1F4-4AD4-B4AA-05DA12BD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295400"/>
            <a:ext cx="3486150" cy="400050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6B0A5C-BBBE-4FC3-A772-7DA85744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62100"/>
            <a:ext cx="13525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Risk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E5D122-9ABC-41C1-A8BF-6045F54D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209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936929-0641-4F8D-9A85-1E799B2E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152650"/>
            <a:ext cx="2695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P2HHV3120250407A01：D2 漏液 / O-ring replacement，作为 Mold Oring 单项风险复核。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7E7E09-D6F7-4871-8E32-54E95F32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105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C7F9AC-B038-42BE-8242-636FBA8B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048000"/>
            <a:ext cx="2695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P2HHV3220250701A01：392% CV 4.16%，H4 LOW %D 与泄漏备注，作为 OTP-O ring QC risk。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BC1FF3-7B9B-407E-8D0A-B01B3B33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00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EB3C1D-A887-4FD1-93ED-3CFCBB35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943350"/>
            <a:ext cx="2695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风险项不掩盖 Mold Oring 总体通过趋势，但需单独归档。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E6C77C-4B77-4B92-984C-6EEC3618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295400"/>
            <a:ext cx="3486150" cy="400050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CE43AE-89A8-44A9-AF7D-B5965A13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62100"/>
            <a:ext cx="13525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rPr>
              <a:t>Counted as PASS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ECE407-17F2-43C2-B63C-E2050F554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09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6B"/>
          </a:solidFill>
          <a:ln xmlns:a="http://schemas.openxmlformats.org/drawingml/2006/main" w="0">
            <a:solidFill>
              <a:srgbClr val="00A86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A5CAF6-3EC2-4E79-87F6-4091E9C56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152650"/>
            <a:ext cx="2695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P2HHV3120250702A03：H3 low %D，按通过移液器计入。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E81616-60BD-4D90-9225-20039ABE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051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6B"/>
          </a:solidFill>
          <a:ln xmlns:a="http://schemas.openxmlformats.org/drawingml/2006/main" w="0">
            <a:solidFill>
              <a:srgbClr val="00A86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572FA0-BAD1-4039-BD23-91671FB73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048000"/>
            <a:ext cx="2695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P2HHV3220250410A04：复位开关损伤，按通过移液器计入。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6D5451-94A1-4352-9373-A7249660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0005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6B"/>
          </a:solidFill>
          <a:ln xmlns:a="http://schemas.openxmlformats.org/drawingml/2006/main" w="0">
            <a:solidFill>
              <a:srgbClr val="00A86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35EA4F-7163-45FE-9C36-AE1EC031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943350"/>
            <a:ext cx="26955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这两台不再拉低 Mold Oring 通过率。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AD5F93-5705-4C8A-B3E0-F7D137A7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111061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7FC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4F6C91-3485-4D72-BBEE-B35CE6A3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管理层解读：Fail 已闭环不等于待确认；Risk review 不等于 Fail；已确认通过的特殊案例应在总通过率中按 PASS 计入。</a:t>
            </a:r>
          </a:p>
        </p:txBody>
      </p:sp>
    </p:spTree>
    <p:extLst>
      <p:ext uri="{BB962C8B-B14F-4D97-AF65-F5344CB8AC3E}">
        <p14:creationId xmlns:p14="http://schemas.microsoft.com/office/powerpoint/2010/main" val="17079933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4204AD-8780-4BF3-9888-160385FE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pic>
        <p:nvPicPr>
          <p:cNvPr id="1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9ce7c59d6243c7"/>
          <a:stretch xmlns:a="http://schemas.openxmlformats.org/drawingml/2006/main"/>
        </p:blipFill>
        <p:spPr>
          <a:xfrm xmlns:a="http://schemas.openxmlformats.org/drawingml/2006/main">
            <a:off x="10363200" y="296636"/>
            <a:ext cx="1257300" cy="3592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ECB82-A18E-4BD9-B598-3F11704F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附录：Mold Oring 单台总结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1A917E-26E4-4A76-BE86-34192603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Mold Oring 共 14 台；13 台按 PASS 计入，1 台作为 Risk review 单独关闭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095D8-8B02-466E-BC2E-5223F7A5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5753100" cy="3895725"/>
          </a:xfrm>
          <a:prstGeom xmlns:a="http://schemas.openxmlformats.org/drawingml/2006/main" prst="roundRect">
            <a:avLst>
              <a:gd name="adj" fmla="val 9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06F36-D80E-4936-873C-DBBD9B8B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80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A"/>
          </a:solidFill>
          <a:ln xmlns:a="http://schemas.openxmlformats.org/drawingml/2006/main" w="4763">
            <a:solidFill>
              <a:srgbClr val="D7E6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9E98A-F86E-496D-A41E-81F1FD72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33350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SN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B59FE-3D70-4292-9DAC-17DED1B1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257300"/>
            <a:ext cx="685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A"/>
          </a:solidFill>
          <a:ln xmlns:a="http://schemas.openxmlformats.org/drawingml/2006/main" w="4763">
            <a:solidFill>
              <a:srgbClr val="D7E6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971548-E209-4E12-BB73-7E2EFF9B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3335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C0A7A-8785-4D69-96E4-2AB2686F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257300"/>
            <a:ext cx="876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A"/>
          </a:solidFill>
          <a:ln xmlns:a="http://schemas.openxmlformats.org/drawingml/2006/main" w="4763">
            <a:solidFill>
              <a:srgbClr val="D7E6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61B8C-6B77-43EB-B45D-F7A748F7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3335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终点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6A4D37-F072-4A6A-9F99-E1FE96C6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257300"/>
            <a:ext cx="2381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A"/>
          </a:solidFill>
          <a:ln xmlns:a="http://schemas.openxmlformats.org/drawingml/2006/main" w="4763">
            <a:solidFill>
              <a:srgbClr val="D7E6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521445-C641-4888-9E45-2B13A82EC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333500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备注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7C834E-0731-4EC4-9408-B0DFA7C9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525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CD630B-F070-4352-A8EA-C3BC3181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61925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P2HHV3120250407A01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EE0FDA-30C0-4A41-8562-0351BCA9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55257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33CFA9-5FF0-4261-BC1A-3A502D58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609725"/>
            <a:ext cx="5334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Risk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561DB4-C480-4DD5-A28B-C642CBA8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552575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539F11-6061-4D5F-A4DA-880743D0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619250"/>
            <a:ext cx="74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1,085,000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21B507-A747-439A-A2DE-CF53C495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525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CD4410-3FC4-4284-902E-E53B4E5D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161925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D2 漏液 / O-ring replacement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6A29CF-0FAA-475F-A6F1-8FC68D91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669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E26562-7DF5-46C7-9412-BE27094E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1336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P2HHV3120250702A02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1E0851-F883-4D39-849C-7181E140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06692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B7B21E-8DE4-47DE-95D8-4431DF5E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24075"/>
            <a:ext cx="5334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E8F7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0CC5CC-866D-460B-8B10-408D33D3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66925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CE7887-9A71-49FD-9DAE-BBAF0D82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133600"/>
            <a:ext cx="74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1,085,000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C5E5B6-C89F-4FF3-9D40-557163F0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669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F32097-623A-4469-ACB0-CCA025A0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13360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完成 417%，数据稳定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FFEAEE-DC2E-4020-ACF5-BB21082F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812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812172-2BB1-4441-8D34-2E0DE08C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64795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P2HHV3120250702A03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C81528-9E8C-4A08-9781-40A33BE7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58127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6DC748E-F834-41DC-9CA8-8634EBF6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638425"/>
            <a:ext cx="5334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E8F7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7B1908-3897-41EF-8E8B-4FD719C9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81275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96EFAD-3569-4B98-88B9-AC2D6A6D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47950"/>
            <a:ext cx="74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1,085,000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A7F9BF-545C-446F-9535-82C27A60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812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054F08-2249-4A25-935A-3971CDA2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64795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H3 low %D 已按通过计入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E8B40F-7463-4012-B517-52F50607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956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BFE57D-6B6E-4D50-906E-F9F2371C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623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P2HHV3120250701A02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6BDABF-AD20-4D5A-A7D1-1211D437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09562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82520C-190D-48E7-AF60-CF540978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52775"/>
            <a:ext cx="5334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E8F7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CBF065D-E17A-4D32-9204-A80F4319C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95625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04A7625-18BE-4482-8C31-9360E503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62300"/>
            <a:ext cx="74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1,085,000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6471BC9-6875-40EC-8F80-C7901984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0956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643E3F-A0A0-4BF4-9A8F-AC81100A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16230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完成 417%，通过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792A1EF-B174-4C7A-8240-0BFE1612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99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778A36A-C8E0-42E2-8266-E0B1425C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67665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P2HHV3220250401A03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552E86-0BFA-4A63-A0E4-D1A50E2F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60997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3BE54E1-B40B-40FD-B087-FDE3F80F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67125"/>
            <a:ext cx="5334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E8F7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EB0F744-D4D7-4CD5-BE45-5126244A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09975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1C5E5C9-1472-4B03-A4AF-84ED9B17E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676650"/>
            <a:ext cx="74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1,020,000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DDBC3C4-1EBE-42E7-AE9E-B8FC972B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099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A4BF007-7726-4753-9C7B-3D11AC63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67665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完成 392%，通过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37E0D3F-5C91-4D13-BF88-CDD6B49D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243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79EC624-2581-42A9-8140-2F4F3616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1910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P2HHV3220250408A02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EE8B4BB-2C36-45D5-B1C8-29D5461B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12432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510008F-F208-4F6A-913E-AD1C78A9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181475"/>
            <a:ext cx="5334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E8F7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64D452-2588-4500-90B4-5167B13C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24325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F124F97-397D-494F-AE7B-8BF10B88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191000"/>
            <a:ext cx="74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1,020,000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1E87B83-3F96-4F05-991B-13D9F425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243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B84D2D0-F108-4EE2-957D-C33B7FF5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19100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完成 392%，通过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A15C141-2B2B-47A5-BB26-345A70F3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386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F868F15-A0CE-41B2-AA9A-835715C4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70535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P2HHV3220250410A04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B3AFB79-CFBB-44B3-8416-9AA472911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3867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379E187-085F-43F1-AB0E-2E63BA55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695825"/>
            <a:ext cx="5334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E8F7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02E12EA-18B8-4A26-95BA-804EA43B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38675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2D08D18-3760-4E0D-A2EC-CE40092C0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705350"/>
            <a:ext cx="74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非寿命异常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4022514-721F-4D06-B8DC-4F420270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386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FD75F21-392D-4083-80FD-0669BB28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70535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复位开关损伤，按通过计入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31CF8D4-0B14-4FA2-A588-34944C4E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57300"/>
            <a:ext cx="5753100" cy="3895725"/>
          </a:xfrm>
          <a:prstGeom xmlns:a="http://schemas.openxmlformats.org/drawingml/2006/main" prst="roundRect">
            <a:avLst>
              <a:gd name="adj" fmla="val 9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EC509B6-9EC7-416F-A405-A8ADB8DB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257300"/>
            <a:ext cx="18097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A"/>
          </a:solidFill>
          <a:ln xmlns:a="http://schemas.openxmlformats.org/drawingml/2006/main" w="4763">
            <a:solidFill>
              <a:srgbClr val="D7E6EF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F0D1063-D474-41D6-9D52-1B24C45F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33350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SN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DA02457-77F7-46A2-BCA1-2D4C19A2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257300"/>
            <a:ext cx="6858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A"/>
          </a:solidFill>
          <a:ln xmlns:a="http://schemas.openxmlformats.org/drawingml/2006/main" w="4763">
            <a:solidFill>
              <a:srgbClr val="D7E6E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9114039-B40B-4525-8D5D-AF1AEE0D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3335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9B80D53-3694-43E5-9D31-04C317333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257300"/>
            <a:ext cx="876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A"/>
          </a:solidFill>
          <a:ln xmlns:a="http://schemas.openxmlformats.org/drawingml/2006/main" w="4763">
            <a:solidFill>
              <a:srgbClr val="D7E6EF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CA052FD-4E3C-4979-8699-D5143DFC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333500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终点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3D736D3-A61F-4667-AE5F-28BC8DC6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57300"/>
            <a:ext cx="23812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A"/>
          </a:solidFill>
          <a:ln xmlns:a="http://schemas.openxmlformats.org/drawingml/2006/main" w="4763">
            <a:solidFill>
              <a:srgbClr val="D7E6EF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553E7F3-1248-4732-B262-BD4668B7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333500"/>
            <a:ext cx="2247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8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备注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F091192-721D-4A0C-96FD-00F54429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525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841768A-DEA6-4750-A557-680A39AA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61925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P2HHV3220250410A07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8DDB2EE-AD76-449E-B4AE-814B15E0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5257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2399884-96F8-41B4-A9E8-B236CA94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09725"/>
            <a:ext cx="5334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E8F7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F877C64-1058-4CBC-9FA7-2DF40C62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552575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11C60E9-8647-4735-99B3-A6F843D10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619250"/>
            <a:ext cx="74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1,020,000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1649E4A-C0C5-4371-8515-3FB44926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5525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6D4E681-1FBF-46E8-8E7E-F48C1E1B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61925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完成 392%，通过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97F7988-C182-4D0A-A99D-18830744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669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49FBE3F-8854-4A4D-9BFA-AD9221576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1336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P2HHV3220250411A03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0D764B4-C8EC-4A0E-A708-39FF7E30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6692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EDBE85E-2521-433F-A7FD-CA491537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24075"/>
            <a:ext cx="5334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E8F7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63D1FE8-4FEF-4533-B058-3411D3A6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066925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319CF79-BADC-4653-85A1-A98AD86E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133600"/>
            <a:ext cx="74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1,020,000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78A1E6C-879C-47C8-82BC-47B819233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669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B67F430-253F-4E7A-A902-F6B3DBD5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13360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完成 392%，通过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48AE8BD-8B54-4658-9D0A-9A303839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812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B33D048-A76D-4684-B613-C53D5384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4795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P2HHV3220250407A02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7A5C322-236B-4DC5-BDAC-2B14BFE4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8127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565B32D-052D-472B-A01A-32AEC775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38425"/>
            <a:ext cx="5334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E8F7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0544D70-DC32-42D8-B5FD-C9C5F94D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81275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B7C9734-7237-440C-BE99-3D669434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647950"/>
            <a:ext cx="74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1,020,000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01DDA56-58F5-45AE-A0D7-F4D91336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812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CC9EB41-DD98-4795-BD2B-C61E90F8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264795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完成 392%，通过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59D84CE-3793-4AB4-A1E0-C2327C4D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956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5088D96-693E-4D6E-A729-933816BF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1623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P2HHV3220250627A05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8305522-841C-40BF-BFE8-6EE415B1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9562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200C4BB-284D-432C-BCF5-9C1F9130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52775"/>
            <a:ext cx="5334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E8F7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C78BB4E-D023-4712-AA53-DCF7C957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95625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35C3EF4D-539E-4BFA-A591-A7590A396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162300"/>
            <a:ext cx="74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1,020,000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E88361D-7686-4476-B4CD-C812C50C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956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0340212-4309-4A95-A8A6-AE520288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16230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完成 392%，通过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8E878C6-C173-4FFA-B4CF-0012E3BA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99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337A478-E3FD-4A5B-8C9D-18388566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67665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P2HHV3220250701A05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BAAAADF-C2D8-4F8E-AF37-F8DA6AEF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997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B4ED91D-74A9-431D-A49D-9A0EC62C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67125"/>
            <a:ext cx="5334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E8F7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9FCB9DD-3C7C-4837-BE3F-384090C4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09975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AC4FE78-5550-4A66-85C6-EB38410A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676650"/>
            <a:ext cx="74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1,020,000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B0E95EC-45E2-41BE-8B11-5EE7F922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6099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1439D62-C00D-4A7B-8F46-351C5F388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67665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完成 392%，通过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4243ECE-C0E2-4FCB-9D32-9193E95E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432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D9683B1-2FB1-4261-AEAD-60BDF0F1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19100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P2HHV3220250627A01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1FA4105-4096-4FF6-9DD1-434818AC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2432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9405797-256C-47E4-B09E-AA11DACB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81475"/>
            <a:ext cx="5334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E8F7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E5A02FC-AD08-490B-BD58-80743CE9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24325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39AFB329-EDCA-4815-A9AB-9CA780BA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191000"/>
            <a:ext cx="74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1,020,000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05435B8-E83E-406F-8238-090EE210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1243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8F3814D-A26F-4D22-B763-E6344420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19100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完成 392%，通过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C9F309B-CAD5-43E2-80F3-2FF897F4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38675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809F69A-70D6-40E0-96E7-9CD378D0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705350"/>
            <a:ext cx="167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P2HHV3220250702A04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2465495-6527-4B3B-A742-8741D524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38675"/>
            <a:ext cx="685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2D0687DC-56FC-4685-B51A-6EA594B7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95825"/>
            <a:ext cx="5334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E8F7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2778A8E-5FF2-407A-954F-7EB2F95C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38675"/>
            <a:ext cx="876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2A3B469B-E25E-4D09-811A-07CC428E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705350"/>
            <a:ext cx="74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1,020,000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67924B8-7079-4FFF-9BE1-3CF57468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6386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87CE5F4-2065-4EB8-A012-9FA473FD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705350"/>
            <a:ext cx="2247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8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完成 392%，通过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CBCBD4B-5D4E-4316-9C87-4A3803FB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111061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0C384B29-51F9-487F-8E7B-1A1FB683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81700"/>
            <a:ext cx="1028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归档建议：Mold Oring 整体按通过方向推进；P2HHV3120250407A01 的 D2 漏液/O-ring replacement 作为单项风险说明关闭。</a:t>
            </a:r>
          </a:p>
        </p:txBody>
      </p:sp>
    </p:spTree>
    <p:extLst>
      <p:ext uri="{BB962C8B-B14F-4D97-AF65-F5344CB8AC3E}">
        <p14:creationId xmlns:p14="http://schemas.microsoft.com/office/powerpoint/2010/main" val="17950874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9AC969-8F8B-42A8-AC12-D35183AC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582f8ccb5c475f"/>
          <a:stretch xmlns:a="http://schemas.openxmlformats.org/drawingml/2006/main"/>
        </p:blipFill>
        <p:spPr>
          <a:xfrm xmlns:a="http://schemas.openxmlformats.org/drawingml/2006/main">
            <a:off x="10363200" y="296636"/>
            <a:ext cx="1257300" cy="3592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331E2-B033-4836-80CA-55B3F65AD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附录：OTP-O ring 单台总结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4A964-E4A1-4FEC-9F91-8243B046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OTP-O ring 共 5 台；2 台 PASS，1 台 QC risk，2 台 Fail closed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72E66-4874-4792-9BE1-6A15AD90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95400"/>
            <a:ext cx="10239375" cy="3505200"/>
          </a:xfrm>
          <a:prstGeom xmlns:a="http://schemas.openxmlformats.org/drawingml/2006/main" prst="roundRect">
            <a:avLst>
              <a:gd name="adj" fmla="val 1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6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56368-1649-4B9A-83EE-7E53C543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95400"/>
            <a:ext cx="24288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A"/>
          </a:solidFill>
          <a:ln xmlns:a="http://schemas.openxmlformats.org/drawingml/2006/main" w="4763">
            <a:solidFill>
              <a:srgbClr val="D7E6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DA15A-598B-40C3-9C8A-4A5039D3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71600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SN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7A193-355F-4AA5-A6FE-1DB06769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29540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A"/>
          </a:solidFill>
          <a:ln xmlns:a="http://schemas.openxmlformats.org/drawingml/2006/main" w="4763">
            <a:solidFill>
              <a:srgbClr val="D7E6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712E20-048C-4D80-80E8-5530D9EC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7160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82DAF3-CB6E-4BFF-B877-C95B6F64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2954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A"/>
          </a:solidFill>
          <a:ln xmlns:a="http://schemas.openxmlformats.org/drawingml/2006/main" w="4763">
            <a:solidFill>
              <a:srgbClr val="D7E6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8BD9DE-3D58-465D-8A4D-B9ED093E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371600"/>
            <a:ext cx="1295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终点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E270FA-84FF-4B79-AF2F-5F6A478C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295400"/>
            <a:ext cx="542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A"/>
          </a:solidFill>
          <a:ln xmlns:a="http://schemas.openxmlformats.org/drawingml/2006/main" w="4763">
            <a:solidFill>
              <a:srgbClr val="D7E6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CEA27F-F787-4498-8F5B-A2768D18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371600"/>
            <a:ext cx="5295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备注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096E2D-01CF-427B-BF00-81CDA8BE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57350"/>
            <a:ext cx="2428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690BF5-0477-4EE4-BD9D-9F87C2AE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24025"/>
            <a:ext cx="2295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P2HHV3220250627A02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DA45A3-F1B6-4F67-AAD6-C1EE7AE6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657350"/>
            <a:ext cx="95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1379D7-2CBB-45BA-B688-FECBF042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714500"/>
            <a:ext cx="5905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ECEC"/>
          </a:solidFill>
          <a:ln xmlns:a="http://schemas.openxmlformats.org/drawingml/2006/main" w="0">
            <a:solidFill>
              <a:srgbClr val="FEEC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FAIL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A75ED3-7C6A-4C24-9075-139483BC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65735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21E82F-C4F0-4A09-804A-F0A4A81C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24025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150%-175%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1F0599-2E9A-49D0-A1B2-51B118D5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657350"/>
            <a:ext cx="542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A8957E-6860-4E5B-9E95-FC309550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24025"/>
            <a:ext cx="529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D3/G9 吸液少；175% CV 6.83%；已闭环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5B31C7-17A4-4DC5-B6A5-343BFA5F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428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A51CAA-F397-40B3-B7E8-9D7BC987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52675"/>
            <a:ext cx="2295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P2HHV3220250409A03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8F54AD-E8FC-4C9F-A809-594C46E3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286000"/>
            <a:ext cx="95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4353D5-88B9-416E-94A8-C74B5954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343150"/>
            <a:ext cx="5905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E8F7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BCD47C-A0EB-4A61-96AC-4C595394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28600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897ED3-F7BF-4CA5-9EE6-8ECD76D8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52675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1,020,000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A49A8F-07D1-4357-A6E9-37205D76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286000"/>
            <a:ext cx="542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6E008A-3860-4E38-BD7E-CAF98C78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52675"/>
            <a:ext cx="529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完成 392%，通过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A506DC-3C82-48F8-80B8-E4124896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14650"/>
            <a:ext cx="2428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DECD5F-CDC3-4C3C-BADC-4DF452830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81325"/>
            <a:ext cx="2295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P2HHV3220250409A02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D4D3B63-5C1F-4EBB-BC40-83A855C3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914650"/>
            <a:ext cx="95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9E71B3-CD5A-4954-AFE9-D9AFDBB1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971800"/>
            <a:ext cx="5905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EF"/>
          </a:solidFill>
          <a:ln xmlns:a="http://schemas.openxmlformats.org/drawingml/2006/main" w="0">
            <a:solidFill>
              <a:srgbClr val="E8F7E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AE0F0D-31EE-4FA0-90E1-A043A05A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91465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D82F79-9D7A-44D5-97F9-17BD30DD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81325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1,020,000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33FE79-D281-4B2F-90F6-C3907720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914650"/>
            <a:ext cx="542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45B0C5-2AD3-4A2E-B44A-91A525FA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81325"/>
            <a:ext cx="529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完成 392%，通过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DADE1D-5468-4E72-A511-6E078079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2428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9B9473-5FA6-46DF-B32A-8F5DD8AC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09975"/>
            <a:ext cx="2295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P2HHV3220250701A01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76068D-2890-4BF7-817C-0A844BC8A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543300"/>
            <a:ext cx="95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785F5C-5EC9-453A-951E-64449E8F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600450"/>
            <a:ext cx="5905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0">
            <a:solidFill>
              <a:srgbClr val="FFF7E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Risk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C472A6-C00E-4B6E-9848-4747865D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54330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62A164-2CC6-403C-95BC-2AEE7249A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09975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1,020,000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1F9B84-9CBE-4D19-8CE2-E3BE6AC3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543300"/>
            <a:ext cx="542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CFE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6B11DA-E80E-43FF-9E61-543F8778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09975"/>
            <a:ext cx="529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392% CV 4.16%；H4 LOW %D；泄漏备注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AA4CB7E-DF54-4B97-AE94-B6439673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71950"/>
            <a:ext cx="2428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D0BE55-A0DC-43FE-B7A7-9A5105969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38625"/>
            <a:ext cx="22955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P2HHV3220250627A03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3F7C4A-D230-4D68-94B0-E82351BD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171950"/>
            <a:ext cx="95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7A90288-1E5A-4224-BC9C-D37D98B1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4229100"/>
            <a:ext cx="5905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ECEC"/>
          </a:solidFill>
          <a:ln xmlns:a="http://schemas.openxmlformats.org/drawingml/2006/main" w="0">
            <a:solidFill>
              <a:srgbClr val="FEEC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38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FAIL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236557-CA6E-4B73-9799-60A307B3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171950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F031FE8-E89E-495C-8B68-E98390E1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38625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150%-175%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5A8A91B-1778-4B42-9D18-E0E09F21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171950"/>
            <a:ext cx="542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D7E6E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99D1809-ABD3-4886-831D-C931A732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38625"/>
            <a:ext cx="5295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E10/B7 不吸液；泄漏率高；已闭环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21BFFA4-1F4A-4645-BFEC-84437FE2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1023937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CEC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179B1FB-457A-484C-B667-96168C42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762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5C3FB87-0CDC-4D7F-B032-67FEA43B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21970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OTP-O ring 通过率仅 40%，且失效集中在吸液/不吸液、泄漏率和 CV 风险；不建议作为通过方案推进。</a:t>
            </a:r>
          </a:p>
        </p:txBody>
      </p:sp>
    </p:spTree>
    <p:extLst>
      <p:ext uri="{BB962C8B-B14F-4D97-AF65-F5344CB8AC3E}">
        <p14:creationId xmlns:p14="http://schemas.microsoft.com/office/powerpoint/2010/main" val="16346060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B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8721AF-ECAD-415E-9A68-5186331E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85F4"/>
          </a:solidFill>
          <a:ln xmlns:a="http://schemas.openxmlformats.org/drawingml/2006/main" w="0">
            <a:solidFill>
              <a:srgbClr val="4285F4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a3b1040c4b40e3"/>
          <a:stretch xmlns:a="http://schemas.openxmlformats.org/drawingml/2006/main"/>
        </p:blipFill>
        <p:spPr>
          <a:xfrm xmlns:a="http://schemas.openxmlformats.org/drawingml/2006/main">
            <a:off x="10363200" y="296636"/>
            <a:ext cx="1257300" cy="35922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E8471-76C5-4336-B744-61D29C31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最终结论与建议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8DE37D-6D30-477D-AD14-615C480F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本页用于汇报收口：把测试工作量转化为设计选择建议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B21BC-BDCD-463E-81B3-16DF038A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1074420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EAF7FC"/>
          </a:solidFill>
          <a:ln xmlns:a="http://schemas.openxmlformats.org/drawingml/2006/main" w="9525">
            <a:solidFill>
              <a:srgbClr val="0891B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BBB97F-9158-46B4-8B68-2F4F27EF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240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DB47B-BB48-48EF-9F75-64CCC7F4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28750"/>
            <a:ext cx="7953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6082"/>
                </a:solidFill>
                <a:latin typeface="Microsoft YaHei"/>
                <a:ea typeface="Microsoft YaHei"/>
                <a:cs typeface="Microsoft YaHei"/>
              </a:rPr>
              <a:t>Mold Oring 已完成 1,020,000-1,085,000 次寿命验证，相较原设计寿命 270,000 次达到约 3.8-4.0 倍，具备明确寿命提升证据。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588EE-ACA3-4E35-A12F-65D99644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0375"/>
            <a:ext cx="1038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A86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F8D1D-DA61-47E6-B591-B9EC820F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7182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A86B"/>
          </a:solidFill>
          <a:ln xmlns:a="http://schemas.openxmlformats.org/drawingml/2006/main" w="0">
            <a:solidFill>
              <a:srgbClr val="00A86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30D1A2-96AF-490F-88C0-AFA9E85C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3372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86B"/>
                </a:solidFill>
                <a:latin typeface="Microsoft YaHei"/>
                <a:ea typeface="Microsoft YaHei"/>
                <a:cs typeface="Microsoft YaHei"/>
              </a:rPr>
              <a:t>推进 Mold Oring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90534D-52C1-4017-AAA6-680C5609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43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作为 96CH LV 寿命提升方向继续推进，并完成剩余风险项归档。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4C18DF-0C25-4282-896D-6B0057C2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1038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9D1546-8A0F-4058-A08A-B9915865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76700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451C07-42C5-4336-B574-F5D0E262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386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OTP-O ring 不作为通过方案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25E372-70D8-462F-9E1B-BAF35F626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48125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两台 Fail 已闭环；保留为失效与风险参考，不建议作为当前放行方案。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3CB2A3-2C58-4603-8814-C6D99D1C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0125"/>
            <a:ext cx="10382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9A3AD8-2AD0-4A85-9680-56898819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81575"/>
            <a:ext cx="323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109A7A-C5FD-46B2-A878-FB17779A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43475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归档口径统一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6F6F81-0D2B-4BC2-BCD9-B8D68444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530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88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主报告讲工作量、通过率和结论；单台数据、LOW %D、泄漏/吸液异常放入 backup。</a:t>
            </a:r>
          </a:p>
        </p:txBody>
      </p:sp>
    </p:spTree>
    <p:extLst>
      <p:ext uri="{BB962C8B-B14F-4D97-AF65-F5344CB8AC3E}">
        <p14:creationId xmlns:p14="http://schemas.microsoft.com/office/powerpoint/2010/main" val="3832335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2026-06-18T02:48:43.4870000Z</dcterms:created>
  <dcterms:modified xsi:type="dcterms:W3CDTF">2026-06-18T02:48:43.4870000Z</dcterms:modified>
</coreProperties>
</file>