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256" r:id="rId4"/>
    <p:sldId id="257" r:id="rId6"/>
    <p:sldId id="259" r:id="rId7"/>
    <p:sldId id="260" r:id="rId8"/>
    <p:sldId id="261" r:id="rId9"/>
    <p:sldId id="263" r:id="rId10"/>
    <p:sldId id="264" r:id="rId11"/>
    <p:sldId id="265" r:id="rId12"/>
    <p:sldId id="266" r:id="rId13"/>
  </p:sldIdLst>
  <p:sldSz cx="9144000" cy="5143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0401A03</c:f>
              <c:strCache>
                <c:ptCount val="1"/>
                <c:pt idx="0">
                  <c:v>0401A03</c:v>
                </c:pt>
              </c:strCache>
            </c:strRef>
          </c:tx>
          <c:spPr>
            <a:ln w="23813" cap="rnd">
              <a:solidFill>
                <a:srgbClr val="4285F4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{0.446,0.491,0.56,0.566,0.494}</c:f>
              <c:numCache>
                <c:formatCode>0.0</c:formatCode>
                <c:ptCount val="5"/>
                <c:pt idx="0">
                  <c:v>0.446</c:v>
                </c:pt>
                <c:pt idx="1">
                  <c:v>0.491</c:v>
                </c:pt>
                <c:pt idx="2">
                  <c:v>0.56</c:v>
                </c:pt>
                <c:pt idx="3">
                  <c:v>0.566</c:v>
                </c:pt>
                <c:pt idx="4">
                  <c:v>0.494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0408A02</c:f>
              <c:strCache>
                <c:ptCount val="1"/>
                <c:pt idx="0">
                  <c:v>0408A02</c:v>
                </c:pt>
              </c:strCache>
            </c:strRef>
          </c:tx>
          <c:spPr>
            <a:ln w="23813" cap="rnd">
              <a:solidFill>
                <a:srgbClr val="00A86B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{0.421,0.492,0.416,0.436,0.456}</c:f>
              <c:numCache>
                <c:formatCode>0.0</c:formatCode>
                <c:ptCount val="5"/>
                <c:pt idx="0">
                  <c:v>0.421</c:v>
                </c:pt>
                <c:pt idx="1">
                  <c:v>0.492</c:v>
                </c:pt>
                <c:pt idx="2">
                  <c:v>0.416</c:v>
                </c:pt>
                <c:pt idx="3">
                  <c:v>0.436</c:v>
                </c:pt>
                <c:pt idx="4">
                  <c:v>0.456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0410A07</c:f>
              <c:strCache>
                <c:ptCount val="1"/>
                <c:pt idx="0">
                  <c:v>0410A07</c:v>
                </c:pt>
              </c:strCache>
            </c:strRef>
          </c:tx>
          <c:spPr>
            <a:ln w="23813" cap="rnd">
              <a:solidFill>
                <a:srgbClr val="7C3AED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{0.382,0.386,0.718,0.724,0.415}</c:f>
              <c:numCache>
                <c:formatCode>0.0</c:formatCode>
                <c:ptCount val="5"/>
                <c:pt idx="0">
                  <c:v>0.382</c:v>
                </c:pt>
                <c:pt idx="1">
                  <c:v>0.386</c:v>
                </c:pt>
                <c:pt idx="2">
                  <c:v>0.718</c:v>
                </c:pt>
                <c:pt idx="3">
                  <c:v>0.724</c:v>
                </c:pt>
                <c:pt idx="4">
                  <c:v>0.415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0411A03</c:f>
              <c:strCache>
                <c:ptCount val="1"/>
                <c:pt idx="0">
                  <c:v>0411A03</c:v>
                </c:pt>
              </c:strCache>
            </c:strRef>
          </c:tx>
          <c:spPr>
            <a:ln w="23813" cap="rnd">
              <a:solidFill>
                <a:srgbClr val="0891B2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{0.815,0.551,0.469,0.825,0.718}</c:f>
              <c:numCache>
                <c:formatCode>0.0</c:formatCode>
                <c:ptCount val="5"/>
                <c:pt idx="0">
                  <c:v>0.815</c:v>
                </c:pt>
                <c:pt idx="1">
                  <c:v>0.551</c:v>
                </c:pt>
                <c:pt idx="2">
                  <c:v>0.469</c:v>
                </c:pt>
                <c:pt idx="3">
                  <c:v>0.825</c:v>
                </c:pt>
                <c:pt idx="4">
                  <c:v>0.718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75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e810d4d-0fab-42a1-963e-e633da32aeb0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最大最差通道 CV</c:f>
              <c:strCache>
                <c:ptCount val="1"/>
                <c:pt idx="0">
                  <c:v>最大最差通道 CV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F59E0B"/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{"0401A03","0408A02","0410A07","0411A03"}</c:f>
              <c:strCache>
                <c:ptCount val="4"/>
                <c:pt idx="0">
                  <c:v>0401A03</c:v>
                </c:pt>
                <c:pt idx="1">
                  <c:v>0408A02</c:v>
                </c:pt>
                <c:pt idx="2">
                  <c:v>0410A07</c:v>
                </c:pt>
                <c:pt idx="3">
                  <c:v>0411A03</c:v>
                </c:pt>
              </c:strCache>
            </c:strRef>
          </c:cat>
          <c:val>
            <c:numRef>
              <c:f>{1.01,1.41,1.6,2.88}</c:f>
              <c:numCache>
                <c:formatCode>0.0</c:formatCode>
                <c:ptCount val="4"/>
                <c:pt idx="0">
                  <c:v>1.01</c:v>
                </c:pt>
                <c:pt idx="1">
                  <c:v>1.41</c:v>
                </c:pt>
                <c:pt idx="2">
                  <c:v>1.6</c:v>
                </c:pt>
                <c:pt idx="3">
                  <c:v>2.88</c:v>
                </c:pt>
              </c:numCache>
            </c:numRef>
          </c:val>
        </c:ser>
        <c:ser>
          <c:idx val="1"/>
          <c:order val="1"/>
          <c:tx>
            <c:strRef>
              <c:f>QC 限值 5.6%</c:f>
              <c:strCache>
                <c:ptCount val="1"/>
                <c:pt idx="0">
                  <c:v>QC 限值 5.6%</c:v>
                </c:pt>
              </c:strCache>
            </c:strRef>
          </c:tx>
          <c:spPr>
            <a:solidFill>
              <a:srgbClr val="CFF7E1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{"0401A03","0408A02","0410A07","0411A03"}</c:f>
              <c:strCache>
                <c:ptCount val="4"/>
                <c:pt idx="0">
                  <c:v>0401A03</c:v>
                </c:pt>
                <c:pt idx="1">
                  <c:v>0408A02</c:v>
                </c:pt>
                <c:pt idx="2">
                  <c:v>0410A07</c:v>
                </c:pt>
                <c:pt idx="3">
                  <c:v>0411A03</c:v>
                </c:pt>
              </c:strCache>
            </c:strRef>
          </c:cat>
          <c:val>
            <c:numRef>
              <c:f>{5.6,5.6,5.6,5.6}</c:f>
              <c:numCache>
                <c:formatCode>0.0</c:formatCode>
                <c:ptCount val="4"/>
                <c:pt idx="0">
                  <c:v>5.6</c:v>
                </c:pt>
                <c:pt idx="1">
                  <c:v>5.6</c:v>
                </c:pt>
                <c:pt idx="2">
                  <c:v>5.6</c:v>
                </c:pt>
                <c:pt idx="3">
                  <c:v>5.6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75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0a12dad-3302-468d-a49e-4edb92660e52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 CV</c:f>
              <c:strCache>
                <c:ptCount val="1"/>
                <c:pt idx="0">
                  <c:v>整体 CV</c:v>
                </c:pt>
              </c:strCache>
            </c:strRef>
          </c:tx>
          <c:spPr>
            <a:ln w="23813" cap="rnd">
              <a:solidFill>
                <a:srgbClr val="4285F4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{0.446,0.491,0.56,0.566,0.494}</c:f>
              <c:numCache>
                <c:formatCode>0.0</c:formatCode>
                <c:ptCount val="5"/>
                <c:pt idx="0">
                  <c:v>0.446</c:v>
                </c:pt>
                <c:pt idx="1">
                  <c:v>0.491</c:v>
                </c:pt>
                <c:pt idx="2">
                  <c:v>0.56</c:v>
                </c:pt>
                <c:pt idx="3">
                  <c:v>0.566</c:v>
                </c:pt>
                <c:pt idx="4">
                  <c:v>0.494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最差通道 CV</c:f>
              <c:strCache>
                <c:ptCount val="1"/>
                <c:pt idx="0">
                  <c:v>最差通道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{0.92,0.91,1.01,0.81,0.91}</c:f>
              <c:numCache>
                <c:formatCode>0.0</c:formatCode>
                <c:ptCount val="5"/>
                <c:pt idx="0">
                  <c:v>0.92</c:v>
                </c:pt>
                <c:pt idx="1">
                  <c:v>0.91</c:v>
                </c:pt>
                <c:pt idx="2">
                  <c:v>1.01</c:v>
                </c:pt>
                <c:pt idx="3">
                  <c:v>0.81</c:v>
                </c:pt>
                <c:pt idx="4">
                  <c:v>0.91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d1f5676-360e-408d-8fc8-01b67553c3a0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 CV</c:f>
              <c:strCache>
                <c:ptCount val="1"/>
                <c:pt idx="0">
                  <c:v>整体 CV</c:v>
                </c:pt>
              </c:strCache>
            </c:strRef>
          </c:tx>
          <c:spPr>
            <a:ln w="23813" cap="rnd">
              <a:solidFill>
                <a:srgbClr val="00A86B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{0.421,0.492,0.416,0.436,0.456}</c:f>
              <c:numCache>
                <c:formatCode>0.0</c:formatCode>
                <c:ptCount val="5"/>
                <c:pt idx="0">
                  <c:v>0.421</c:v>
                </c:pt>
                <c:pt idx="1">
                  <c:v>0.492</c:v>
                </c:pt>
                <c:pt idx="2">
                  <c:v>0.416</c:v>
                </c:pt>
                <c:pt idx="3">
                  <c:v>0.436</c:v>
                </c:pt>
                <c:pt idx="4">
                  <c:v>0.456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最差通道 CV</c:f>
              <c:strCache>
                <c:ptCount val="1"/>
                <c:pt idx="0">
                  <c:v>最差通道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{0.77,0.73,0.78,1.41,0.79}</c:f>
              <c:numCache>
                <c:formatCode>0.0</c:formatCode>
                <c:ptCount val="5"/>
                <c:pt idx="0">
                  <c:v>0.77</c:v>
                </c:pt>
                <c:pt idx="1">
                  <c:v>0.73</c:v>
                </c:pt>
                <c:pt idx="2">
                  <c:v>0.78</c:v>
                </c:pt>
                <c:pt idx="3">
                  <c:v>1.41</c:v>
                </c:pt>
                <c:pt idx="4">
                  <c:v>0.79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7633f74-bc22-48ea-99bc-6ff01e66b787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 CV</c:f>
              <c:strCache>
                <c:ptCount val="1"/>
                <c:pt idx="0">
                  <c:v>整体 CV</c:v>
                </c:pt>
              </c:strCache>
            </c:strRef>
          </c:tx>
          <c:spPr>
            <a:ln w="23813" cap="rnd">
              <a:solidFill>
                <a:srgbClr val="7C3AED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{0.382,0.386,0.718,0.724,0.415}</c:f>
              <c:numCache>
                <c:formatCode>0.0</c:formatCode>
                <c:ptCount val="5"/>
                <c:pt idx="0">
                  <c:v>0.382</c:v>
                </c:pt>
                <c:pt idx="1">
                  <c:v>0.386</c:v>
                </c:pt>
                <c:pt idx="2">
                  <c:v>0.718</c:v>
                </c:pt>
                <c:pt idx="3">
                  <c:v>0.724</c:v>
                </c:pt>
                <c:pt idx="4">
                  <c:v>0.415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最差通道 CV</c:f>
              <c:strCache>
                <c:ptCount val="1"/>
                <c:pt idx="0">
                  <c:v>最差通道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{0.75,0.68,0.68,1.6,0.7}</c:f>
              <c:numCache>
                <c:formatCode>0.0</c:formatCode>
                <c:ptCount val="5"/>
                <c:pt idx="0">
                  <c:v>0.75</c:v>
                </c:pt>
                <c:pt idx="1">
                  <c:v>0.68</c:v>
                </c:pt>
                <c:pt idx="2">
                  <c:v>0.68</c:v>
                </c:pt>
                <c:pt idx="3">
                  <c:v>1.6</c:v>
                </c:pt>
                <c:pt idx="4">
                  <c:v>0.7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4f2b46f-ff25-4c3d-a517-b5b09099b75b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 CV</c:f>
              <c:strCache>
                <c:ptCount val="1"/>
                <c:pt idx="0">
                  <c:v>整体 CV</c:v>
                </c:pt>
              </c:strCache>
            </c:strRef>
          </c:tx>
          <c:spPr>
            <a:ln w="23813" cap="rnd">
              <a:solidFill>
                <a:srgbClr val="0891B2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{0.815,0.551,0.469,0.825,0.718}</c:f>
              <c:numCache>
                <c:formatCode>0.0</c:formatCode>
                <c:ptCount val="5"/>
                <c:pt idx="0">
                  <c:v>0.815</c:v>
                </c:pt>
                <c:pt idx="1">
                  <c:v>0.551</c:v>
                </c:pt>
                <c:pt idx="2">
                  <c:v>0.469</c:v>
                </c:pt>
                <c:pt idx="3">
                  <c:v>0.825</c:v>
                </c:pt>
                <c:pt idx="4">
                  <c:v>0.718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最差通道 CV</c:f>
              <c:strCache>
                <c:ptCount val="1"/>
                <c:pt idx="0">
                  <c:v>最差通道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{2.88,0.99,0.57,1.76,2.44}</c:f>
              <c:numCache>
                <c:formatCode>0.0</c:formatCode>
                <c:ptCount val="5"/>
                <c:pt idx="0">
                  <c:v>2.88</c:v>
                </c:pt>
                <c:pt idx="1">
                  <c:v>0.99</c:v>
                </c:pt>
                <c:pt idx="2">
                  <c:v>0.57</c:v>
                </c:pt>
                <c:pt idx="3">
                  <c:v>1.76</c:v>
                </c:pt>
                <c:pt idx="4">
                  <c:v>2.44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.2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4753e07-8067-4d56-b6e5-b3820546c25b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"/>
        <p:cNvGrpSpPr/>
        <p:nvPr/>
      </p:nvGrpSpPr>
      <p:grpSpPr/>
      <p:sp>
        <p:nvSpPr>
          <p:cNvPr id="10" name="Google Shape;10;p2"/>
          <p:cNvSpPr>
            <a:spLocks noGrp="1"/>
          </p:cNvSpPr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>
            <a:spLocks noGrp="1"/>
          </p:cNvSpPr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3" name="Google Shape;13;p2"/>
          <p:cNvSpPr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"/>
        <p:cNvGrpSpPr/>
        <p:nvPr/>
      </p:nvGrpSpPr>
      <p:grpSpPr/>
      <p:sp>
        <p:nvSpPr>
          <p:cNvPr id="16" name="Google Shape;16;p3"/>
          <p:cNvSpPr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/>
        </p:txBody>
      </p:sp>
      <p:sp>
        <p:nvSpPr>
          <p:cNvPr id="17" name="Google Shape;17;p3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/>
      <p:sp>
        <p:nvSpPr>
          <p:cNvPr id="19" name="Google Shape;19;p4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4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4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" name="Google Shape;22;p4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23" name="Google Shape;23;p4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/>
      <p:sp>
        <p:nvSpPr>
          <p:cNvPr id="25" name="Google Shape;25;p5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5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5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5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"/>
        <p:cNvGrpSpPr/>
        <p:nvPr/>
      </p:nvGrpSpPr>
      <p:grpSpPr/>
      <p:sp>
        <p:nvSpPr>
          <p:cNvPr id="32" name="Google Shape;32;p6"/>
          <p:cNvSpPr>
            <a:spLocks noGrp="1"/>
          </p:cNvSpPr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6"/>
          <p:cNvSpPr>
            <a:spLocks noGrp="1"/>
          </p:cNvSpPr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6"/>
          <p:cNvSpPr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5" name="Google Shape;35;p6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/>
      <p:sp>
        <p:nvSpPr>
          <p:cNvPr id="37" name="Google Shape;37;p7"/>
          <p:cNvSpPr>
            <a:spLocks noGrp="1"/>
          </p:cNvSpPr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7"/>
          <p:cNvSpPr>
            <a:spLocks noGrp="1"/>
          </p:cNvSpPr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7"/>
          <p:cNvSpPr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40" name="Google Shape;40;p7"/>
          <p:cNvSpPr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/>
      <p:sp>
        <p:nvSpPr>
          <p:cNvPr id="43" name="Google Shape;43;p8"/>
          <p:cNvSpPr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44" name="Google Shape;44;p8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/>
      <p:sp>
        <p:nvSpPr>
          <p:cNvPr id="46" name="Google Shape;46;p9"/>
          <p:cNvSpPr>
            <a:spLocks noGrp="1"/>
          </p:cNvSpPr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9"/>
          <p:cNvSpPr>
            <a:spLocks noGrp="1"/>
          </p:cNvSpPr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9"/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/>
        </p:txBody>
      </p:sp>
      <p:sp>
        <p:nvSpPr>
          <p:cNvPr id="50" name="Google Shape;50;p9"/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/>
      <p:sp>
        <p:nvSpPr>
          <p:cNvPr id="53" name="Google Shape;53;p10"/>
          <p:cNvSpPr>
            <a:spLocks noGrp="1"/>
          </p:cNvSpPr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10"/>
          <p:cNvSpPr>
            <a:spLocks noGrp="1"/>
          </p:cNvSpPr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10"/>
          <p:cNvSpPr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" name="Google Shape;58;p11"/>
          <p:cNvSpPr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60" name="Google Shape;60;p1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2" name="Google Shape;62;p1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" name="Google Shape;64;p13"/>
          <p:cNvSpPr>
            <a:spLocks noGrp="1"/>
          </p:cNvSpPr>
          <p:nvPr/>
        </p:nvSpPr>
        <p:spPr>
          <a:xfrm>
            <a:off x="3147875" y="-7225"/>
            <a:ext cx="5992800" cy="11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13"/>
          <p:cNvSpPr>
            <a:spLocks noGrp="1"/>
          </p:cNvSpPr>
          <p:nvPr>
            <p:ph type="pic" idx="2"/>
          </p:nvPr>
        </p:nvSpPr>
        <p:spPr>
          <a:xfrm>
            <a:off x="-3325" y="-7225"/>
            <a:ext cx="3151200" cy="51507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3"/>
          <p:cNvSpPr>
            <a:spLocks noGrp="1"/>
          </p:cNvSpPr>
          <p:nvPr>
            <p:ph type="title"/>
          </p:nvPr>
        </p:nvSpPr>
        <p:spPr>
          <a:xfrm>
            <a:off x="3804125" y="1709775"/>
            <a:ext cx="4657200" cy="1558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9pPr>
          </a:lstStyle>
          <a:p/>
        </p:txBody>
      </p:sp>
      <p:sp>
        <p:nvSpPr>
          <p:cNvPr id="67" name="Google Shape;67;p13"/>
          <p:cNvSpPr>
            <a:spLocks noGrp="1"/>
          </p:cNvSpPr>
          <p:nvPr>
            <p:ph type="subTitle" idx="1"/>
          </p:nvPr>
        </p:nvSpPr>
        <p:spPr>
          <a:xfrm>
            <a:off x="3804125" y="3562650"/>
            <a:ext cx="35271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68" name="Google Shape;68;p13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3807449" y="373242"/>
            <a:ext cx="1338752" cy="373266"/>
          </a:xfrm>
          <a:prstGeom prst="rect">
            <a:avLst/>
          </a:prstGeom>
          <a:ln>
            <a:noFill/>
          </a:ln>
        </p:spPr>
      </p:pic>
      <p:sp>
        <p:nvSpPr>
          <p:cNvPr id="69" name="Google Shape;69;p13"/>
          <p:cNvSpPr>
            <a:spLocks noGrp="1"/>
          </p:cNvSpPr>
          <p:nvPr>
            <p:ph type="subTitle" idx="3"/>
          </p:nvPr>
        </p:nvSpPr>
        <p:spPr>
          <a:xfrm>
            <a:off x="3807450" y="4231250"/>
            <a:ext cx="3119100" cy="2280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cxnSp>
        <p:nvCxnSpPr>
          <p:cNvPr id="70" name="Google Shape;70;p13"/>
          <p:cNvCxnSpPr/>
          <p:nvPr/>
        </p:nvCxnSpPr>
        <p:spPr>
          <a:xfrm>
            <a:off x="3804125" y="1553188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Option 2">
  <p:cSld name="CUSTOM_3_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2" name="Google Shape;72;p14"/>
          <p:cNvSpPr>
            <a:spLocks noGrp="1"/>
          </p:cNvSpPr>
          <p:nvPr/>
        </p:nvSpPr>
        <p:spPr>
          <a:xfrm>
            <a:off x="0" y="-7225"/>
            <a:ext cx="9144000" cy="51507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14"/>
          <p:cNvSpPr>
            <a:spLocks noGrp="1"/>
          </p:cNvSpPr>
          <p:nvPr>
            <p:ph type="title"/>
          </p:nvPr>
        </p:nvSpPr>
        <p:spPr>
          <a:xfrm>
            <a:off x="659575" y="1810950"/>
            <a:ext cx="5355900" cy="1521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4"/>
          <p:cNvSpPr>
            <a:spLocks noGrp="1"/>
          </p:cNvSpPr>
          <p:nvPr>
            <p:ph type="subTitle" idx="1"/>
          </p:nvPr>
        </p:nvSpPr>
        <p:spPr>
          <a:xfrm>
            <a:off x="659575" y="4008175"/>
            <a:ext cx="24699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sp>
        <p:nvSpPr>
          <p:cNvPr id="75" name="Google Shape;75;p14"/>
          <p:cNvSpPr>
            <a:spLocks noGrp="1"/>
          </p:cNvSpPr>
          <p:nvPr>
            <p:ph type="subTitle" idx="2"/>
          </p:nvPr>
        </p:nvSpPr>
        <p:spPr>
          <a:xfrm>
            <a:off x="3344675" y="4041205"/>
            <a:ext cx="1791000" cy="417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76" name="Google Shape;76;p14"/>
          <p:cNvCxnSpPr/>
          <p:nvPr/>
        </p:nvCxnSpPr>
        <p:spPr>
          <a:xfrm>
            <a:off x="682300" y="1629963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Google Shape;77;p14"/>
          <p:cNvSpPr>
            <a:spLocks noGrp="1"/>
          </p:cNvSpPr>
          <p:nvPr>
            <p:ph type="subTitle" idx="3"/>
          </p:nvPr>
        </p:nvSpPr>
        <p:spPr>
          <a:xfrm>
            <a:off x="682300" y="1313400"/>
            <a:ext cx="1155600" cy="135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78" name="Google Shape;78;p14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7335754" y="313824"/>
            <a:ext cx="1125551" cy="3138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"/>
        <p:cNvGrpSpPr/>
        <p:nvPr/>
      </p:nvGrpSpPr>
      <p:grpSpPr/>
      <p:sp>
        <p:nvSpPr>
          <p:cNvPr id="86" name="Google Shape;86;p16"/>
          <p:cNvSpPr>
            <a:spLocks noGrp="1"/>
          </p:cNvSpPr>
          <p:nvPr>
            <p:ph type="ctrTitle"/>
          </p:nvPr>
        </p:nvSpPr>
        <p:spPr>
          <a:xfrm>
            <a:off x="899100" y="685800"/>
            <a:ext cx="73494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6"/>
          <p:cNvSpPr>
            <a:spLocks noGrp="1"/>
          </p:cNvSpPr>
          <p:nvPr>
            <p:ph type="subTitle" idx="1"/>
          </p:nvPr>
        </p:nvSpPr>
        <p:spPr>
          <a:xfrm>
            <a:off x="899100" y="2670300"/>
            <a:ext cx="7349400" cy="11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/>
            </a:lvl2pPr>
            <a:lvl3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4pPr>
            <a:lvl5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88" name="Google Shape;88;p1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9" name="Google Shape;89;p1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0" name="Google Shape;90;p1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"/>
        <p:cNvGrpSpPr/>
        <p:nvPr/>
      </p:nvGrpSpPr>
      <p:grpSpPr/>
      <p:sp>
        <p:nvSpPr>
          <p:cNvPr id="92" name="Google Shape;92;p17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3" name="Google Shape;93;p17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94" name="Google Shape;94;p17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5" name="Google Shape;95;p17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6" name="Google Shape;96;p17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"/>
        <p:cNvGrpSpPr/>
        <p:nvPr/>
      </p:nvGrpSpPr>
      <p:grpSpPr/>
      <p:sp>
        <p:nvSpPr>
          <p:cNvPr id="98" name="Google Shape;98;p18"/>
          <p:cNvSpPr>
            <a:spLocks noGrp="1"/>
          </p:cNvSpPr>
          <p:nvPr>
            <p:ph type="title"/>
          </p:nvPr>
        </p:nvSpPr>
        <p:spPr>
          <a:xfrm>
            <a:off x="1493100" y="2886300"/>
            <a:ext cx="5826600" cy="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9" name="Google Shape;99;p18"/>
          <p:cNvSpPr>
            <a:spLocks noGrp="1"/>
          </p:cNvSpPr>
          <p:nvPr>
            <p:ph type="body" idx="1"/>
          </p:nvPr>
        </p:nvSpPr>
        <p:spPr>
          <a:xfrm>
            <a:off x="1493100" y="3461400"/>
            <a:ext cx="5826600" cy="6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95959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8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1" name="Google Shape;101;p18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2" name="Google Shape;102;p18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"/>
        <p:cNvGrpSpPr/>
        <p:nvPr/>
      </p:nvGrpSpPr>
      <p:grpSpPr/>
      <p:sp>
        <p:nvSpPr>
          <p:cNvPr id="104" name="Google Shape;104;p19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5" name="Google Shape;105;p19"/>
          <p:cNvSpPr>
            <a:spLocks noGrp="1"/>
          </p:cNvSpPr>
          <p:nvPr>
            <p:ph type="body" idx="1"/>
          </p:nvPr>
        </p:nvSpPr>
        <p:spPr>
          <a:xfrm>
            <a:off x="4563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6" name="Google Shape;106;p19"/>
          <p:cNvSpPr>
            <a:spLocks noGrp="1"/>
          </p:cNvSpPr>
          <p:nvPr>
            <p:ph type="body" idx="2"/>
          </p:nvPr>
        </p:nvSpPr>
        <p:spPr>
          <a:xfrm>
            <a:off x="48087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7" name="Google Shape;107;p19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9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9" name="Google Shape;109;p19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"/>
        <p:cNvGrpSpPr/>
        <p:nvPr/>
      </p:nvGrpSpPr>
      <p:grpSpPr/>
      <p:sp>
        <p:nvSpPr>
          <p:cNvPr id="111" name="Google Shape;111;p20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2" name="Google Shape;112;p20"/>
          <p:cNvSpPr>
            <a:spLocks noGrp="1"/>
          </p:cNvSpPr>
          <p:nvPr>
            <p:ph type="body" idx="1"/>
          </p:nvPr>
        </p:nvSpPr>
        <p:spPr>
          <a:xfrm>
            <a:off x="456300" y="1071900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3" name="Google Shape;113;p20"/>
          <p:cNvSpPr>
            <a:spLocks noGrp="1"/>
          </p:cNvSpPr>
          <p:nvPr>
            <p:ph type="body" idx="2"/>
          </p:nvPr>
        </p:nvSpPr>
        <p:spPr>
          <a:xfrm>
            <a:off x="456300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4" name="Google Shape;114;p20"/>
          <p:cNvSpPr>
            <a:spLocks noGrp="1"/>
          </p:cNvSpPr>
          <p:nvPr>
            <p:ph type="body" idx="3"/>
          </p:nvPr>
        </p:nvSpPr>
        <p:spPr>
          <a:xfrm>
            <a:off x="4676813" y="1066297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5" name="Google Shape;115;p20"/>
          <p:cNvSpPr>
            <a:spLocks noGrp="1"/>
          </p:cNvSpPr>
          <p:nvPr>
            <p:ph type="body" idx="4"/>
          </p:nvPr>
        </p:nvSpPr>
        <p:spPr>
          <a:xfrm>
            <a:off x="4676813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6" name="Google Shape;116;p20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7" name="Google Shape;117;p20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8" name="Google Shape;118;p20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"/>
        <p:cNvGrpSpPr/>
        <p:nvPr/>
      </p:nvGrpSpPr>
      <p:grpSpPr/>
      <p:sp>
        <p:nvSpPr>
          <p:cNvPr id="120" name="Google Shape;120;p21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1" name="Google Shape;121;p21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2" name="Google Shape;122;p21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1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"/>
        <p:cNvGrpSpPr/>
        <p:nvPr/>
      </p:nvGrpSpPr>
      <p:grpSpPr/>
      <p:sp>
        <p:nvSpPr>
          <p:cNvPr id="125" name="Google Shape;125;p22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6" name="Google Shape;126;p22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7" name="Google Shape;127;p22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>
  <p:cSld name="图片与标题">
    <p:spTree>
      <p:nvGrpSpPr>
        <p:cNvPr id="1" name=""/>
        <p:cNvGrpSpPr/>
        <p:nvPr/>
      </p:nvGrpSpPr>
      <p:grpSpPr/>
      <p:sp>
        <p:nvSpPr>
          <p:cNvPr id="129" name="Google Shape;129;p23"/>
          <p:cNvSpPr>
            <a:spLocks noGrp="1"/>
          </p:cNvSpPr>
          <p:nvPr>
            <p:ph type="pic" idx="2"/>
          </p:nvPr>
        </p:nvSpPr>
        <p:spPr>
          <a:xfrm>
            <a:off x="456247" y="1166336"/>
            <a:ext cx="3924600" cy="34563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3"/>
          <p:cNvSpPr>
            <a:spLocks noGrp="1"/>
          </p:cNvSpPr>
          <p:nvPr>
            <p:ph type="body" idx="1"/>
          </p:nvPr>
        </p:nvSpPr>
        <p:spPr>
          <a:xfrm>
            <a:off x="4762800" y="1166400"/>
            <a:ext cx="39204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1" name="Google Shape;131;p23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2" name="Google Shape;132;p23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3" name="Google Shape;133;p23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34" name="Google Shape;134;p23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5" name="Google Shape;135;p23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"/>
        <p:cNvGrpSpPr/>
        <p:nvPr/>
      </p:nvGrpSpPr>
      <p:grpSpPr/>
      <p:sp>
        <p:nvSpPr>
          <p:cNvPr id="137" name="Google Shape;137;p24"/>
          <p:cNvSpPr>
            <a:spLocks noGrp="1"/>
          </p:cNvSpPr>
          <p:nvPr>
            <p:ph type="title"/>
          </p:nvPr>
        </p:nvSpPr>
        <p:spPr>
          <a:xfrm rot="5400000">
            <a:off x="6181650" y="2180250"/>
            <a:ext cx="37719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8" name="Google Shape;138;p24"/>
          <p:cNvSpPr>
            <a:spLocks noGrp="1"/>
          </p:cNvSpPr>
          <p:nvPr>
            <p:ph type="body" idx="1"/>
          </p:nvPr>
        </p:nvSpPr>
        <p:spPr>
          <a:xfrm rot="5400000">
            <a:off x="2238300" y="-866700"/>
            <a:ext cx="3771900" cy="68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100" tIns="35100" rIns="351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9" name="Google Shape;139;p24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0" name="Google Shape;140;p24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1" name="Google Shape;141;p24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pic>
        <p:nvPicPr>
          <p:cNvPr id="142" name="Google Shape;142;p24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">
  <p:cSld name="内容">
    <p:spTree>
      <p:nvGrpSpPr>
        <p:cNvPr id="1" name=""/>
        <p:cNvGrpSpPr/>
        <p:nvPr/>
      </p:nvGrpSpPr>
      <p:grpSpPr/>
      <p:sp>
        <p:nvSpPr>
          <p:cNvPr id="144" name="Google Shape;144;p2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5" name="Google Shape;145;p2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6" name="Google Shape;146;p2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47" name="Google Shape;147;p25"/>
          <p:cNvSpPr>
            <a:spLocks noGrp="1"/>
          </p:cNvSpPr>
          <p:nvPr>
            <p:ph type="body" idx="1"/>
          </p:nvPr>
        </p:nvSpPr>
        <p:spPr>
          <a:xfrm>
            <a:off x="456300" y="580500"/>
            <a:ext cx="8229600" cy="41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48" name="Google Shape;148;p25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末尾幻灯片">
  <p:cSld name="末尾幻灯片">
    <p:spTree>
      <p:nvGrpSpPr>
        <p:cNvPr id="1" name=""/>
        <p:cNvGrpSpPr/>
        <p:nvPr/>
      </p:nvGrpSpPr>
      <p:grpSpPr/>
      <p:sp>
        <p:nvSpPr>
          <p:cNvPr id="150" name="Google Shape;150;p2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1" name="Google Shape;151;p2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2" name="Google Shape;152;p2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53" name="Google Shape;153;p26"/>
          <p:cNvSpPr>
            <a:spLocks noGrp="1"/>
          </p:cNvSpPr>
          <p:nvPr>
            <p:ph type="title"/>
          </p:nvPr>
        </p:nvSpPr>
        <p:spPr>
          <a:xfrm>
            <a:off x="899100" y="1863000"/>
            <a:ext cx="7349400" cy="7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4" name="Google Shape;154;p26"/>
          <p:cNvSpPr>
            <a:spLocks noGrp="1"/>
          </p:cNvSpPr>
          <p:nvPr>
            <p:ph type="body" idx="1"/>
          </p:nvPr>
        </p:nvSpPr>
        <p:spPr>
          <a:xfrm>
            <a:off x="899100" y="2670300"/>
            <a:ext cx="73494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55" name="Google Shape;155;p26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"/>
        <p:cNvGrpSpPr/>
        <p:nvPr/>
      </p:nvGrpSpPr>
      <p:grpSpPr/>
      <p:sp>
        <p:nvSpPr>
          <p:cNvPr id="157" name="Google Shape;157;p27"/>
          <p:cNvSpPr>
            <a:spLocks noGrp="1"/>
          </p:cNvSpPr>
          <p:nvPr>
            <p:ph type="sldNum" idx="12"/>
          </p:nvPr>
        </p:nvSpPr>
        <p:spPr>
          <a:xfrm>
            <a:off x="8353559" y="4632722"/>
            <a:ext cx="5046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cxnSp>
        <p:nvCxnSpPr>
          <p:cNvPr id="158" name="Google Shape;158;p27"/>
          <p:cNvCxnSpPr/>
          <p:nvPr/>
        </p:nvCxnSpPr>
        <p:spPr>
          <a:xfrm>
            <a:off x="457200" y="528712"/>
            <a:ext cx="685800" cy="0"/>
          </a:xfrm>
          <a:prstGeom prst="straightConnector1">
            <a:avLst/>
          </a:prstGeom>
          <a:ln w="38100" cap="flat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9" name="Google Shape;159;p27"/>
          <p:cNvSpPr>
            <a:spLocks noGrp="1"/>
          </p:cNvSpPr>
          <p:nvPr>
            <p:ph type="title"/>
          </p:nvPr>
        </p:nvSpPr>
        <p:spPr>
          <a:xfrm>
            <a:off x="457201" y="699165"/>
            <a:ext cx="7543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Nunito Sans Light"/>
                <a:ea typeface="Nunito Sans Light"/>
                <a:cs typeface="Nunito Sa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Google Shape;6;p1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7" name="Google Shape;7;p1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8" name="Google Shape;8;p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rgbClr val="E7F5FB"/>
            </a:gs>
          </a:gsLst>
          <a:lin ang="5400012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0" name="Google Shape;80;p15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 i="0" u="non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1" name="Google Shape;81;p15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2" name="Google Shape;82;p1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3" name="Google Shape;83;p1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4" name="Google Shape;84;p1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" name="Google Shape;167;p28"/>
          <p:cNvSpPr>
            <a:spLocks noGrp="1"/>
          </p:cNvSpPr>
          <p:nvPr>
            <p:ph type="ctrTitle"/>
          </p:nvPr>
        </p:nvSpPr>
        <p:spPr>
          <a:xfrm>
            <a:off x="3181350" y="1707900"/>
            <a:ext cx="5801400" cy="118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P2HHV32 96CH LV 老化测试报告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68" name="Google Shape;168;p28"/>
          <p:cNvSpPr>
            <a:spLocks noGrp="1"/>
          </p:cNvSpPr>
          <p:nvPr>
            <p:ph type="subTitle" idx="1"/>
          </p:nvPr>
        </p:nvSpPr>
        <p:spPr>
          <a:xfrm>
            <a:off x="7023625" y="3748200"/>
            <a:ext cx="3054300" cy="494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75714" lnSpcReduction="2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2026.06.15</a:t>
            </a:r>
            <a:endParaRPr sz="1350">
              <a:solidFill>
                <a:srgbClr val="FFFFFF"/>
              </a:solidFill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SZ ENG</a:t>
            </a:r>
            <a:endParaRPr sz="1350">
              <a:solidFill>
                <a:srgbClr val="FFFFFF"/>
              </a:solidFill>
            </a:endParaRPr>
          </a:p>
        </p:txBody>
      </p:sp>
      <p:pic>
        <p:nvPicPr>
          <p:cNvPr id="172" name="Google Shape;169;p28"/>
          <p:cNvPicPr>
            <a:picLocks noChangeAspect="1"/>
          </p:cNvPicPr>
          <p:nvPr>
            <p:ph type="pic" idx="2"/>
          </p:nvPr>
        </p:nvPicPr>
        <p:blipFill rotWithShape="1">
          <a:blip r:embed="rId1"/>
          <a:srcRect l="1393" r="65272" b="22654"/>
          <a:stretch>
            <a:fillRect/>
          </a:stretch>
        </p:blipFill>
        <p:spPr>
          <a:xfrm>
            <a:off x="0" y="0"/>
            <a:ext cx="3181348" cy="5143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9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执行摘要：4 台移液器完成老化测试，现有 CV 指标均通过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57300"/>
            <a:ext cx="1809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9" name="矩形 218"/>
          <p:cNvSpPr>
            <a:spLocks noGrp="1"/>
          </p:cNvSpPr>
          <p:nvPr/>
        </p:nvSpPr>
        <p:spPr>
          <a:xfrm>
            <a:off x="609600" y="1343025"/>
            <a:ext cx="1581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完成状态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514475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4 / 4 完成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21" name="圆角矩形 220"/>
          <p:cNvSpPr>
            <a:spLocks noGrp="1"/>
          </p:cNvSpPr>
          <p:nvPr/>
        </p:nvSpPr>
        <p:spPr>
          <a:xfrm>
            <a:off x="2590800" y="1257300"/>
            <a:ext cx="1809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2" name="矩形 221"/>
          <p:cNvSpPr>
            <a:spLocks noGrp="1"/>
          </p:cNvSpPr>
          <p:nvPr/>
        </p:nvSpPr>
        <p:spPr>
          <a:xfrm>
            <a:off x="2705100" y="1343025"/>
            <a:ext cx="1581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最高老化点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2705100" y="1514475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4285F4"/>
                </a:solidFill>
              </a:defRPr>
            </a:pPr>
            <a:r>
              <a:rPr sz="1500" b="1">
                <a:solidFill>
                  <a:srgbClr val="4285F4"/>
                </a:solidFill>
              </a:rPr>
              <a:t>392% / 1.02M</a:t>
            </a:r>
            <a:endParaRPr sz="1500" b="1">
              <a:solidFill>
                <a:srgbClr val="4285F4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4686300" y="1257300"/>
            <a:ext cx="1809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4800600" y="1343025"/>
            <a:ext cx="1581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最大 CV / 最差通道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4800600" y="1514475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0.825 / 2.88</a:t>
            </a:r>
            <a:endParaRPr sz="1500" b="1">
              <a:solidFill>
                <a:srgbClr val="7C3AED"/>
              </a:solidFill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495300" y="2095500"/>
            <a:ext cx="48958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8" name="矩形 227"/>
          <p:cNvSpPr>
            <a:spLocks noGrp="1"/>
          </p:cNvSpPr>
          <p:nvPr/>
        </p:nvSpPr>
        <p:spPr>
          <a:xfrm>
            <a:off x="742950" y="23241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rPr sz="1200" b="1">
                <a:solidFill>
                  <a:srgbClr val="333333"/>
                </a:solidFill>
              </a:rPr>
              <a:t>关键结论</a:t>
            </a:r>
            <a:endParaRPr sz="1200" b="1">
              <a:solidFill>
                <a:srgbClr val="333333"/>
              </a:solidFill>
            </a:endParaRPr>
          </a:p>
        </p:txBody>
      </p:sp>
      <p:sp>
        <p:nvSpPr>
          <p:cNvPr id="229" name="椭圆 228"/>
          <p:cNvSpPr>
            <a:spLocks noGrp="1"/>
          </p:cNvSpPr>
          <p:nvPr/>
        </p:nvSpPr>
        <p:spPr>
          <a:xfrm>
            <a:off x="781050" y="2686050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0" name="矩形 229"/>
          <p:cNvSpPr>
            <a:spLocks noGrp="1"/>
          </p:cNvSpPr>
          <p:nvPr/>
        </p:nvSpPr>
        <p:spPr>
          <a:xfrm>
            <a:off x="990600" y="26098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333333"/>
                </a:solidFill>
              </a:defRPr>
            </a:pPr>
            <a:r>
              <a:rPr sz="940">
                <a:solidFill>
                  <a:srgbClr val="333333"/>
                </a:solidFill>
              </a:rPr>
              <a:t>明细寿命表中，4 台指定移液器均标记为 Finish。</a:t>
            </a:r>
            <a:endParaRPr sz="940">
              <a:solidFill>
                <a:srgbClr val="333333"/>
              </a:solidFill>
            </a:endParaRPr>
          </a:p>
        </p:txBody>
      </p:sp>
      <p:sp>
        <p:nvSpPr>
          <p:cNvPr id="231" name="椭圆 230"/>
          <p:cNvSpPr>
            <a:spLocks noGrp="1"/>
          </p:cNvSpPr>
          <p:nvPr/>
        </p:nvSpPr>
        <p:spPr>
          <a:xfrm>
            <a:off x="781050" y="305752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2" name="矩形 231"/>
          <p:cNvSpPr>
            <a:spLocks noGrp="1"/>
          </p:cNvSpPr>
          <p:nvPr/>
        </p:nvSpPr>
        <p:spPr>
          <a:xfrm>
            <a:off x="990600" y="2981325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333333"/>
                </a:solidFill>
              </a:defRPr>
            </a:pPr>
            <a:r>
              <a:rPr sz="940">
                <a:solidFill>
                  <a:srgbClr val="333333"/>
                </a:solidFill>
              </a:rPr>
              <a:t>4 台均达到 392% / 1,020,000 cycles，未记录 total fail、failed channels 或 fail analysis。</a:t>
            </a:r>
            <a:endParaRPr sz="940">
              <a:solidFill>
                <a:srgbClr val="333333"/>
              </a:solidFill>
            </a:endParaRPr>
          </a:p>
        </p:txBody>
      </p:sp>
      <p:sp>
        <p:nvSpPr>
          <p:cNvPr id="233" name="椭圆 232"/>
          <p:cNvSpPr>
            <a:spLocks noGrp="1"/>
          </p:cNvSpPr>
          <p:nvPr/>
        </p:nvSpPr>
        <p:spPr>
          <a:xfrm>
            <a:off x="781050" y="3429000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4" name="矩形 233"/>
          <p:cNvSpPr>
            <a:spLocks noGrp="1"/>
          </p:cNvSpPr>
          <p:nvPr/>
        </p:nvSpPr>
        <p:spPr>
          <a:xfrm>
            <a:off x="990600" y="33528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333333"/>
                </a:solidFill>
              </a:defRPr>
            </a:pPr>
            <a:r>
              <a:rPr sz="940">
                <a:solidFill>
                  <a:srgbClr val="333333"/>
                </a:solidFill>
              </a:rPr>
              <a:t>现有 1 uL CV 与最差通道 CV 数据均低于 QC / 客户限值。</a:t>
            </a:r>
            <a:endParaRPr sz="94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9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光学 CV 趋势：最大 0.825%，显著低于 4% QC 限值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90550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2" name="Chart"/>
          <p:cNvGraphicFramePr/>
          <p:nvPr/>
        </p:nvGraphicFramePr>
        <p:xfrm>
          <a:off x="742950" y="1428750"/>
          <a:ext cx="533400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762750" y="1381125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877050" y="146685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QC 限值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877050" y="16383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4.0%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23" name="圆角矩形 222"/>
          <p:cNvSpPr>
            <a:spLocks noGrp="1"/>
          </p:cNvSpPr>
          <p:nvPr/>
        </p:nvSpPr>
        <p:spPr>
          <a:xfrm>
            <a:off x="6762750" y="2143125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4" name="矩形 223"/>
          <p:cNvSpPr>
            <a:spLocks noGrp="1"/>
          </p:cNvSpPr>
          <p:nvPr/>
        </p:nvSpPr>
        <p:spPr>
          <a:xfrm>
            <a:off x="6877050" y="222885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客户限值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5" name="矩形 224"/>
          <p:cNvSpPr>
            <a:spLocks noGrp="1"/>
          </p:cNvSpPr>
          <p:nvPr/>
        </p:nvSpPr>
        <p:spPr>
          <a:xfrm>
            <a:off x="6877050" y="24003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4285F4"/>
                </a:solidFill>
              </a:defRPr>
            </a:pPr>
            <a:r>
              <a:rPr sz="1500" b="1">
                <a:solidFill>
                  <a:srgbClr val="4285F4"/>
                </a:solidFill>
              </a:rPr>
              <a:t>5.0%</a:t>
            </a:r>
            <a:endParaRPr sz="1500" b="1">
              <a:solidFill>
                <a:srgbClr val="4285F4"/>
              </a:solidFill>
            </a:endParaRPr>
          </a:p>
        </p:txBody>
      </p:sp>
      <p:sp>
        <p:nvSpPr>
          <p:cNvPr id="226" name="圆角矩形 225"/>
          <p:cNvSpPr>
            <a:spLocks noGrp="1"/>
          </p:cNvSpPr>
          <p:nvPr/>
        </p:nvSpPr>
        <p:spPr>
          <a:xfrm>
            <a:off x="6762750" y="3028950"/>
            <a:ext cx="1428750" cy="838200"/>
          </a:xfrm>
          <a:prstGeom prst="roundRect">
            <a:avLst>
              <a:gd name="adj" fmla="val 9091"/>
            </a:avLst>
          </a:prstGeom>
          <a:solidFill>
            <a:srgbClr val="F4FBFE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7" name="矩形 226"/>
          <p:cNvSpPr>
            <a:spLocks noGrp="1"/>
          </p:cNvSpPr>
          <p:nvPr/>
        </p:nvSpPr>
        <p:spPr>
          <a:xfrm>
            <a:off x="6915150" y="32194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观察结果</a:t>
            </a:r>
            <a:endParaRPr sz="975" b="1">
              <a:solidFill>
                <a:srgbClr val="333333"/>
              </a:solidFill>
            </a:endParaRPr>
          </a:p>
        </p:txBody>
      </p:sp>
      <p:sp>
        <p:nvSpPr>
          <p:cNvPr id="228" name="矩形 227"/>
          <p:cNvSpPr>
            <a:spLocks noGrp="1"/>
          </p:cNvSpPr>
          <p:nvPr/>
        </p:nvSpPr>
        <p:spPr>
          <a:xfrm>
            <a:off x="6915150" y="3467100"/>
            <a:ext cx="1066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>
                <a:solidFill>
                  <a:srgbClr val="4B5563"/>
                </a:solidFill>
              </a:defRPr>
            </a:pPr>
            <a:r>
              <a:rPr sz="735">
                <a:solidFill>
                  <a:srgbClr val="4B5563"/>
                </a:solidFill>
              </a:rPr>
              <a:t>最高值为 0411A03 在 315% 阶段的 0.825%。趋势未接近规格限值。</a:t>
            </a:r>
            <a:endParaRPr sz="735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7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最差通道 CV：最大 2.88%，低于 5.6% QC 限值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6197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0" name="Chart"/>
          <p:cNvGraphicFramePr/>
          <p:nvPr/>
        </p:nvGraphicFramePr>
        <p:xfrm>
          <a:off x="762000" y="1476375"/>
          <a:ext cx="5048250" cy="2143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572250" y="1428750"/>
            <a:ext cx="1809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781800" y="16002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 b="1">
                <a:solidFill>
                  <a:srgbClr val="64748B"/>
                </a:solidFill>
              </a:defRPr>
            </a:pPr>
            <a:r>
              <a:rPr sz="940" b="1">
                <a:solidFill>
                  <a:srgbClr val="64748B"/>
                </a:solidFill>
              </a:rPr>
              <a:t>最高最差通道</a:t>
            </a:r>
            <a:endParaRPr sz="940" b="1">
              <a:solidFill>
                <a:srgbClr val="64748B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781800" y="1857375"/>
            <a:ext cx="1190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2.88%</a:t>
            </a:r>
            <a:endParaRPr sz="2250" b="1">
              <a:solidFill>
                <a:srgbClr val="B45309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6781800" y="21907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15">
                <a:solidFill>
                  <a:srgbClr val="4B5563"/>
                </a:solidFill>
              </a:defRPr>
            </a:pPr>
            <a:r>
              <a:rPr sz="715">
                <a:solidFill>
                  <a:srgbClr val="4B5563"/>
                </a:solidFill>
              </a:rPr>
              <a:t>来自 0411A03 的 0% 阶段；仍在规格内。</a:t>
            </a:r>
            <a:endParaRPr sz="715">
              <a:solidFill>
                <a:srgbClr val="4B5563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6572250" y="2714625"/>
            <a:ext cx="1809750" cy="1123950"/>
          </a:xfrm>
          <a:prstGeom prst="roundRect">
            <a:avLst>
              <a:gd name="adj" fmla="val 6780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225" name="矩形 224"/>
          <p:cNvSpPr>
            <a:spLocks noGrp="1"/>
          </p:cNvSpPr>
          <p:nvPr/>
        </p:nvSpPr>
        <p:spPr>
          <a:xfrm>
            <a:off x="6781800" y="2924175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A86B"/>
                </a:solidFill>
              </a:defRPr>
            </a:pPr>
            <a:r>
              <a:rPr sz="1050" b="1">
                <a:solidFill>
                  <a:srgbClr val="00A86B"/>
                </a:solidFill>
              </a:rPr>
              <a:t>判定</a:t>
            </a:r>
            <a:endParaRPr sz="1050" b="1">
              <a:solidFill>
                <a:srgbClr val="00A86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6781800" y="3209925"/>
            <a:ext cx="128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>
                <a:solidFill>
                  <a:srgbClr val="333333"/>
                </a:solidFill>
              </a:defRPr>
            </a:pPr>
            <a:r>
              <a:rPr sz="790">
                <a:solidFill>
                  <a:srgbClr val="333333"/>
                </a:solidFill>
              </a:rPr>
              <a:t>所有机台均低于 5.6% QC 限值和 7% 。</a:t>
            </a:r>
            <a:endParaRPr sz="79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0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阶段证据：记录完整，关键数据范围已标注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222" name="表格 221"/>
          <p:cNvGraphicFramePr/>
          <p:nvPr/>
        </p:nvGraphicFramePr>
        <p:xfrm>
          <a:off x="495300" y="1162050"/>
          <a:ext cx="8048625" cy="3000375"/>
        </p:xfrm>
        <a:graphic>
          <a:graphicData uri="http://schemas.openxmlformats.org/drawingml/2006/table">
            <a:tbl>
              <a:tblPr firstRow="1" bandRow="1"/>
              <a:tblGrid>
                <a:gridCol w="1238250"/>
                <a:gridCol w="1524000"/>
                <a:gridCol w="1381125"/>
                <a:gridCol w="3905250"/>
              </a:tblGrid>
              <a:tr h="272761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Cycles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证据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记录结果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0%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0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Optical CV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4 台均有有效 CV 数据；通过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25%-50%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65k / 100k / 130k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Water / pressure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AF8EF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75%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195k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Skipped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假期跳过；光学表为 #REF! / #N/A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100%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260k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Optical CV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4 台均通过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125%-175%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325k / 390k / 455k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Image / check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AF8EF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200%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520k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Optical CV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4 台均通过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238% / 277%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620k / 720k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Pressure / water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AF8EF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315%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820k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Optical CV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4 台均通过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354%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920k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Pressure / water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AF8EF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392%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1,020k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Optical CV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现有数据通过；plate4/5 #DIV/0!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</a:tr>
            </a:tbl>
          </a:graphicData>
        </a:graphic>
      </p:graphicFrame>
      <p:sp>
        <p:nvSpPr>
          <p:cNvPr id="219" name="圆角矩形 218"/>
          <p:cNvSpPr>
            <a:spLocks noGrp="1"/>
          </p:cNvSpPr>
          <p:nvPr/>
        </p:nvSpPr>
        <p:spPr>
          <a:xfrm>
            <a:off x="6191250" y="819150"/>
            <a:ext cx="2000250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47857"/>
                </a:solidFill>
              </a:defRPr>
            </a:pPr>
            <a:r>
              <a:rPr sz="750" b="1">
                <a:solidFill>
                  <a:srgbClr val="047857"/>
                </a:solidFill>
              </a:rPr>
              <a:t>明细寿命表状态为 Finish</a:t>
            </a:r>
            <a:endParaRPr sz="750" b="1">
              <a:solidFill>
                <a:srgbClr val="04785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0401A03 单机分析：完成 392%，CV 指标通过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334250" y="800100"/>
            <a:ext cx="1047750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47857"/>
                </a:solidFill>
              </a:defRPr>
            </a:pPr>
            <a:r>
              <a:rPr sz="750" b="1">
                <a:solidFill>
                  <a:srgbClr val="047857"/>
                </a:solidFill>
              </a:rPr>
              <a:t>Finish / 392%</a:t>
            </a:r>
            <a:endParaRPr sz="750" b="1">
              <a:solidFill>
                <a:srgbClr val="047857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最高老化点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392% / 1.02M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最大 CV (315%)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4285F4"/>
                </a:solidFill>
              </a:defRPr>
            </a:pPr>
            <a:r>
              <a:rPr sz="1500" b="1">
                <a:solidFill>
                  <a:srgbClr val="4285F4"/>
                </a:solidFill>
              </a:rPr>
              <a:t>0.566%</a:t>
            </a:r>
            <a:endParaRPr sz="1500" b="1">
              <a:solidFill>
                <a:srgbClr val="4285F4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最大最差通道 (200%)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1.01%</a:t>
            </a:r>
            <a:endParaRPr sz="150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判定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PASS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65">
                <a:solidFill>
                  <a:srgbClr val="64748B"/>
                </a:solidFill>
              </a:defRPr>
            </a:pPr>
            <a:r>
              <a:rPr sz="565">
                <a:solidFill>
                  <a:srgbClr val="64748B"/>
                </a:solidFill>
              </a:rPr>
              <a:t>参考：CV QC 4%；最差通道 CV QC 5.6%。坐标轴按单机数据范围缩放。</a:t>
            </a:r>
            <a:endParaRPr sz="56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具体分析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趋势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CV 范围为 0.446% 至 0.566%。200% 与 315% 点略高，但仍远低于 4% QC 限值。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数据备注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392% 时 CV 为 0.494%，最差通道 CV 为 0.91%。plate4/plate5 为 #DIV/0!，需复测或书面说明统计范围。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判定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无失效记录。光学 CV 与最差通道 CV 均在规格内，判定通过。</a:t>
            </a:r>
            <a:endParaRPr sz="65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1457325"/>
                <a:gridCol w="1457325"/>
                <a:gridCol w="1457325"/>
                <a:gridCol w="1457325"/>
                <a:gridCol w="1457325"/>
              </a:tblGrid>
              <a:tr h="139700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0.446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0.491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0.560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0.566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0.494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最差通道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0.92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0.91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1.01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0.91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0408A02 单机分析：完成 392%，CV 指标通过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334250" y="800100"/>
            <a:ext cx="1047750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47857"/>
                </a:solidFill>
              </a:defRPr>
            </a:pPr>
            <a:r>
              <a:rPr sz="750" b="1">
                <a:solidFill>
                  <a:srgbClr val="047857"/>
                </a:solidFill>
              </a:rPr>
              <a:t>Finish / 392%</a:t>
            </a:r>
            <a:endParaRPr sz="750" b="1">
              <a:solidFill>
                <a:srgbClr val="047857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最高老化点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392% / 1.02M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最大 CV (100%)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0.492%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最大最差通道 (315%)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1.41%</a:t>
            </a:r>
            <a:endParaRPr sz="150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判定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PASS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65">
                <a:solidFill>
                  <a:srgbClr val="64748B"/>
                </a:solidFill>
              </a:defRPr>
            </a:pPr>
            <a:r>
              <a:rPr sz="565">
                <a:solidFill>
                  <a:srgbClr val="64748B"/>
                </a:solidFill>
              </a:rPr>
              <a:t>参考：CV QC 4%；最差通道 CV QC 5.6%。坐标轴按单机数据范围缩放。</a:t>
            </a:r>
            <a:endParaRPr sz="56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具体分析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趋势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该机台为四台中整体 CV 最低。315% 时最差通道 CV 升至 1.41%，但仍有充足裕量。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数据备注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392% 时 CV 为 0.456%，最差通道 CV 为 0.79%。plate4/plate5 为 #DIV/0!，需复测或书面说明统计范围。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判定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CV 保持稳定，无失效记录，判定通过。</a:t>
            </a:r>
            <a:endParaRPr sz="65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1457325"/>
                <a:gridCol w="1457325"/>
                <a:gridCol w="1457325"/>
                <a:gridCol w="1457325"/>
                <a:gridCol w="1457325"/>
              </a:tblGrid>
              <a:tr h="139700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0.421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0.492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0.416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0.436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0.456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最差通道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1.41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0.79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0410A07 单机分析：完成 392%，CV 指标通过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334250" y="800100"/>
            <a:ext cx="1047750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47857"/>
                </a:solidFill>
              </a:defRPr>
            </a:pPr>
            <a:r>
              <a:rPr sz="750" b="1">
                <a:solidFill>
                  <a:srgbClr val="047857"/>
                </a:solidFill>
              </a:rPr>
              <a:t>Finish / 392%</a:t>
            </a:r>
            <a:endParaRPr sz="750" b="1">
              <a:solidFill>
                <a:srgbClr val="047857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最高老化点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392% / 1.02M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最大 CV (315%)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0.724%</a:t>
            </a:r>
            <a:endParaRPr sz="1500" b="1">
              <a:solidFill>
                <a:srgbClr val="7C3AED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最大最差通道 (315%)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1.60%</a:t>
            </a:r>
            <a:endParaRPr sz="150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判定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PASS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65">
                <a:solidFill>
                  <a:srgbClr val="64748B"/>
                </a:solidFill>
              </a:defRPr>
            </a:pPr>
            <a:r>
              <a:rPr sz="565">
                <a:solidFill>
                  <a:srgbClr val="64748B"/>
                </a:solidFill>
              </a:rPr>
              <a:t>参考：CV QC 4%；最差通道 CV QC 5.6%。坐标轴按单机数据范围缩放。</a:t>
            </a:r>
            <a:endParaRPr sz="56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具体分析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趋势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CV 在 200% 与 315% 阶段上升，392% 时回落至 0.415%。未观察到持续上升趋势。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数据备注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最差通道 CV 在 315% 达到 1.60%，低于 5.6% QC 限值。392% plate4/plate5 为 #DIV/0!。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判定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中期 CV 略升但远低于限值，后续回落，判定通过。</a:t>
            </a:r>
            <a:endParaRPr sz="65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1457325"/>
                <a:gridCol w="1457325"/>
                <a:gridCol w="1457325"/>
                <a:gridCol w="1457325"/>
                <a:gridCol w="1457325"/>
              </a:tblGrid>
              <a:tr h="139700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0.382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0.386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0.718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0.724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0.415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最差通道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1.60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0411A03 单机分析：完成 392%，CV 指标通过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334250" y="800100"/>
            <a:ext cx="1047750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47857"/>
                </a:solidFill>
              </a:defRPr>
            </a:pPr>
            <a:r>
              <a:rPr sz="750" b="1">
                <a:solidFill>
                  <a:srgbClr val="047857"/>
                </a:solidFill>
              </a:rPr>
              <a:t>Finish / 392%</a:t>
            </a:r>
            <a:endParaRPr sz="750" b="1">
              <a:solidFill>
                <a:srgbClr val="047857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最高老化点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392% / 1.02M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最大 CV (315%)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891B2"/>
                </a:solidFill>
              </a:defRPr>
            </a:pPr>
            <a:r>
              <a:rPr sz="1500" b="1">
                <a:solidFill>
                  <a:srgbClr val="0891B2"/>
                </a:solidFill>
              </a:rPr>
              <a:t>0.825%</a:t>
            </a:r>
            <a:endParaRPr sz="1500" b="1">
              <a:solidFill>
                <a:srgbClr val="0891B2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最大最差通道 (0%)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2.88%</a:t>
            </a:r>
            <a:endParaRPr sz="150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判定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PASS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65">
                <a:solidFill>
                  <a:srgbClr val="64748B"/>
                </a:solidFill>
              </a:defRPr>
            </a:pPr>
            <a:r>
              <a:rPr sz="565">
                <a:solidFill>
                  <a:srgbClr val="64748B"/>
                </a:solidFill>
              </a:rPr>
              <a:t>参考：CV QC 4%；最差通道 CV QC 5.6%。坐标轴按单机数据范围缩放。</a:t>
            </a:r>
            <a:endParaRPr sz="56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具体分析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趋势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该机台为四台中 CV 与最差通道 CV 最高。0% 阶段最差通道 CV 为 2.88%，仍低于 5.6% QC 限值。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数据备注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0% 备注：B4/F2/F6 在 trial 2/3/4 中 D% 偏高。后续现有 CV 数据均在规格内。392% plate4/plate5 为 #DIV/0!。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判定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该机台为组内相对风险最高，但现有 CV 数据未超规格，且未记录失效趋势，判定通过。</a:t>
            </a:r>
            <a:endParaRPr sz="65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1457325"/>
                <a:gridCol w="1457325"/>
                <a:gridCol w="1457325"/>
                <a:gridCol w="1457325"/>
                <a:gridCol w="1457325"/>
              </a:tblGrid>
              <a:tr h="139700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0.815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0.551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0.469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0.825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0.718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最差通道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2.88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0.99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1.76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2.44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2351</Words>
  <Application>WPS 表格</Application>
  <PresentationFormat>Converted Presentation</PresentationFormat>
  <Paragraphs>433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9" baseType="lpstr">
      <vt:lpstr>Arial</vt:lpstr>
      <vt:lpstr>宋体</vt:lpstr>
      <vt:lpstr>Wingdings</vt:lpstr>
      <vt:lpstr>Roboto</vt:lpstr>
      <vt:lpstr>Thonburi</vt:lpstr>
      <vt:lpstr>Arial</vt:lpstr>
      <vt:lpstr>Public Sans</vt:lpstr>
      <vt:lpstr>Public Sans SemiBold</vt:lpstr>
      <vt:lpstr>Nunito Sans Light</vt:lpstr>
      <vt:lpstr>宋体</vt:lpstr>
      <vt:lpstr>汉仪书宋二KW</vt:lpstr>
      <vt:lpstr>微软雅黑</vt:lpstr>
      <vt:lpstr>汉仪旗黑</vt:lpstr>
      <vt:lpstr>Arial Unicode MS</vt:lpstr>
      <vt:lpstr>Calibri</vt:lpstr>
      <vt:lpstr>Helvetica Neue</vt:lpstr>
      <vt:lpstr>Roboto</vt:lpstr>
      <vt:lpstr>苹方-简</vt:lpstr>
      <vt:lpstr>Material</vt:lpstr>
      <vt:lpstr>Office 主题​​</vt:lpstr>
      <vt:lpstr>P2HHV32 96CH LV 老化测试报告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P2HHV32 96CH LV 老化测试报告</dc:title>
  <dc:creator>Walnut Exporter</dc:creator>
  <cp:lastModifiedBy>Wye</cp:lastModifiedBy>
  <cp:revision>1</cp:revision>
  <dcterms:created xsi:type="dcterms:W3CDTF">2026-06-15T05:11:48Z</dcterms:created>
  <dcterms:modified xsi:type="dcterms:W3CDTF">2026-06-15T05:11:48Z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20300FA4A320A92494892F6AB0CCE764_42</vt:lpwstr>
  </property>
</Properties>
</file>