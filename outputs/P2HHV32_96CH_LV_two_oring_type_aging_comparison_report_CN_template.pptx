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完成率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{100,60}</c:f>
              <c:numCache>
                <c:formatCode>0</c:formatCode>
                <c:ptCount val="2"/>
                <c:pt idx="0">
                  <c:v>100</c:v>
                </c:pt>
                <c:pt idx="1">
                  <c:v>60</c:v>
                </c:pt>
              </c:numCache>
            </c:numRef>
          </c:val>
        </c:ser>
        <c:ser>
          <c:idx val="1"/>
          <c:order val="1"/>
          <c:tx>
            <c:strRef>
              <c:f>PASS 率</c:f>
              <c:strCache>
                <c:ptCount val="1"/>
                <c:pt idx="0">
                  <c:v>PASS 率</c:v>
                </c:pt>
              </c:strCache>
            </c:strRef>
          </c:tx>
          <c:spPr>
            <a:solidFill>
              <a:srgbClr val="00A86B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{85,40}</c:f>
              <c:numCache>
                <c:formatCode>0</c:formatCode>
                <c:ptCount val="2"/>
                <c:pt idx="0">
                  <c:v>85</c:v>
                </c:pt>
                <c:pt idx="1">
                  <c:v>40</c:v>
                </c:pt>
              </c:numCache>
            </c:numRef>
          </c:val>
        </c:ser>
        <c:ser>
          <c:idx val="2"/>
          <c:order val="2"/>
          <c:tx>
            <c:strRef>
              <c:f>Risk/Fail/Hold 率</c:f>
              <c:strCache>
                <c:ptCount val="1"/>
                <c:pt idx="0">
                  <c:v>Risk/Fail/Hold 率</c:v>
                </c:pt>
              </c:strCache>
            </c:strRef>
          </c:tx>
          <c:spPr>
            <a:solidFill>
              <a:srgbClr val="DC2626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{15,60}</c:f>
              <c:numCache>
                <c:formatCode>0</c:formatCode>
                <c:ptCount val="2"/>
                <c:pt idx="0">
                  <c:v>15</c:v>
                </c:pt>
                <c:pt idx="1">
                  <c:v>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10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Rate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4d74970-d193-4ee5-8b14-4b6e2d7af824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最大 CV</c:f>
              <c:strCache>
                <c:ptCount val="1"/>
                <c:pt idx="0">
                  <c:v>最大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{6.6,6.83}</c:f>
              <c:numCache>
                <c:formatCode>0.0</c:formatCode>
                <c:ptCount val="2"/>
                <c:pt idx="0">
                  <c:v>6.6</c:v>
                </c:pt>
                <c:pt idx="1">
                  <c:v>6.83</c:v>
                </c:pt>
              </c:numCache>
            </c:numRef>
          </c:val>
        </c:ser>
        <c:ser>
          <c:idx val="1"/>
          <c:order val="1"/>
          <c:tx>
            <c:strRef>
              <c:f>QC 4%</c:f>
              <c:strCache>
                <c:ptCount val="1"/>
                <c:pt idx="0">
                  <c:v>QC 4%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{4,4}</c:f>
              <c:numCache>
                <c:formatCode>0.0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val>
        </c:ser>
        <c:ser>
          <c:idx val="2"/>
          <c:order val="2"/>
          <c:tx>
            <c:strRef>
              <c:f>客户 5%</c:f>
              <c:strCache>
                <c:ptCount val="1"/>
                <c:pt idx="0">
                  <c:v>客户 5%</c:v>
                </c:pt>
              </c:strCache>
            </c:strRef>
          </c:tx>
          <c:spPr>
            <a:solidFill>
              <a:srgbClr val="DBEAFE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{5,5}</c:f>
              <c:numCache>
                <c:formatCode>0.0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.5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14e7d84-fdf2-4ccb-946e-f02a7174401e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最大最差通道 CV</c:f>
              <c:strCache>
                <c:ptCount val="1"/>
                <c:pt idx="0">
                  <c:v>最大最差通道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{55.15,3.45}</c:f>
              <c:numCache>
                <c:formatCode>0</c:formatCode>
                <c:ptCount val="2"/>
                <c:pt idx="0">
                  <c:v>55.15</c:v>
                </c:pt>
                <c:pt idx="1">
                  <c:v>3.45</c:v>
                </c:pt>
              </c:numCache>
            </c:numRef>
          </c:val>
        </c:ser>
        <c:ser>
          <c:idx val="1"/>
          <c:order val="1"/>
          <c:tx>
            <c:strRef>
              <c:f>QC 5.6%</c:f>
              <c:strCache>
                <c:ptCount val="1"/>
                <c:pt idx="0">
                  <c:v>QC 5.6%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{5.6,5.6}</c:f>
              <c:numCache>
                <c:formatCode>0</c:formatCode>
                <c:ptCount val="2"/>
                <c:pt idx="0">
                  <c:v>5.6</c:v>
                </c:pt>
                <c:pt idx="1">
                  <c:v>5.6</c:v>
                </c:pt>
              </c:numCache>
            </c:numRef>
          </c:val>
        </c:ser>
        <c:ser>
          <c:idx val="2"/>
          <c:order val="2"/>
          <c:tx>
            <c:strRef>
              <c:f>客户 7%</c:f>
              <c:strCache>
                <c:ptCount val="1"/>
                <c:pt idx="0">
                  <c:v>客户 7%</c:v>
                </c:pt>
              </c:strCache>
            </c:strRef>
          </c:tx>
          <c:spPr>
            <a:solidFill>
              <a:srgbClr val="DBEAFE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{7,7}</c:f>
              <c:numCache>
                <c:formatCode>0</c:formatCode>
                <c:ptCount val="2"/>
                <c:pt idx="0">
                  <c:v>7</c:v>
                </c:pt>
                <c:pt idx="1">
                  <c:v>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df1c2a2-eb3a-407d-9a2d-cbc006ce0a46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0" name="Google Shape;10;p2"/>
          <p:cNvSpPr>
            <a:spLocks noGrp="1"/>
          </p:cNvSpPr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>
            <a:spLocks noGrp="1"/>
          </p:cNvSpPr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3" name="Google Shape;13;p2"/>
          <p:cNvSpPr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16" name="Google Shape;16;p3"/>
          <p:cNvSpPr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17" name="Google Shape;17;p3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19" name="Google Shape;19;p4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Google Shape;22;p4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23" name="Google Shape;23;p4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25" name="Google Shape;25;p5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32" name="Google Shape;32;p6"/>
          <p:cNvSpPr>
            <a:spLocks noGrp="1"/>
          </p:cNvSpPr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>
            <a:spLocks noGrp="1"/>
          </p:cNvSpPr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5" name="Google Shape;35;p6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37" name="Google Shape;37;p7"/>
          <p:cNvSpPr>
            <a:spLocks noGrp="1"/>
          </p:cNvSpPr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>
            <a:spLocks noGrp="1"/>
          </p:cNvSpPr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0" name="Google Shape;40;p7"/>
          <p:cNvSpPr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43" name="Google Shape;43;p8"/>
          <p:cNvSpPr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4" name="Google Shape;44;p8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46" name="Google Shape;46;p9"/>
          <p:cNvSpPr>
            <a:spLocks noGrp="1"/>
          </p:cNvSpPr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>
            <a:spLocks noGrp="1"/>
          </p:cNvSpPr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50" name="Google Shape;50;p9"/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53" name="Google Shape;53;p10"/>
          <p:cNvSpPr>
            <a:spLocks noGrp="1"/>
          </p:cNvSpPr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>
            <a:spLocks noGrp="1"/>
          </p:cNvSpPr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Google Shape;58;p11"/>
          <p:cNvSpPr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60" name="Google Shape;60;p1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" name="Google Shape;62;p1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" name="Google Shape;64;p13"/>
          <p:cNvSpPr>
            <a:spLocks noGrp="1"/>
          </p:cNvSpPr>
          <p:nvPr/>
        </p:nvSpPr>
        <p:spPr>
          <a:xfrm>
            <a:off x="3147875" y="-7225"/>
            <a:ext cx="5992800" cy="11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-3325" y="-7225"/>
            <a:ext cx="31512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title"/>
          </p:nvPr>
        </p:nvSpPr>
        <p:spPr>
          <a:xfrm>
            <a:off x="3804125" y="1709775"/>
            <a:ext cx="4657200" cy="1558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/>
        </p:txBody>
      </p:sp>
      <p:sp>
        <p:nvSpPr>
          <p:cNvPr id="67" name="Google Shape;67;p13"/>
          <p:cNvSpPr>
            <a:spLocks noGrp="1"/>
          </p:cNvSpPr>
          <p:nvPr>
            <p:ph type="subTitle" idx="1"/>
          </p:nvPr>
        </p:nvSpPr>
        <p:spPr>
          <a:xfrm>
            <a:off x="3804125" y="3562650"/>
            <a:ext cx="35271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68" name="Google Shape;68;p13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3807449" y="373242"/>
            <a:ext cx="1338752" cy="373266"/>
          </a:xfrm>
          <a:prstGeom prst="rect">
            <a:avLst/>
          </a:prstGeom>
          <a:ln>
            <a:noFill/>
          </a:ln>
        </p:spPr>
      </p:pic>
      <p:sp>
        <p:nvSpPr>
          <p:cNvPr id="69" name="Google Shape;69;p13"/>
          <p:cNvSpPr>
            <a:spLocks noGrp="1"/>
          </p:cNvSpPr>
          <p:nvPr>
            <p:ph type="subTitle" idx="3"/>
          </p:nvPr>
        </p:nvSpPr>
        <p:spPr>
          <a:xfrm>
            <a:off x="3807450" y="4231250"/>
            <a:ext cx="3119100" cy="228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3804125" y="1553188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Option 2">
  <p:cSld name="CUSTOM_3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Google Shape;72;p14"/>
          <p:cNvSpPr>
            <a:spLocks noGrp="1"/>
          </p:cNvSpPr>
          <p:nvPr/>
        </p:nvSpPr>
        <p:spPr>
          <a:xfrm>
            <a:off x="0" y="-7225"/>
            <a:ext cx="9144000" cy="51507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4"/>
          <p:cNvSpPr>
            <a:spLocks noGrp="1"/>
          </p:cNvSpPr>
          <p:nvPr>
            <p:ph type="title"/>
          </p:nvPr>
        </p:nvSpPr>
        <p:spPr>
          <a:xfrm>
            <a:off x="659575" y="1810950"/>
            <a:ext cx="5355900" cy="1521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4"/>
          <p:cNvSpPr>
            <a:spLocks noGrp="1"/>
          </p:cNvSpPr>
          <p:nvPr>
            <p:ph type="subTitle" idx="1"/>
          </p:nvPr>
        </p:nvSpPr>
        <p:spPr>
          <a:xfrm>
            <a:off x="659575" y="4008175"/>
            <a:ext cx="24699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sp>
        <p:nvSpPr>
          <p:cNvPr id="75" name="Google Shape;75;p14"/>
          <p:cNvSpPr>
            <a:spLocks noGrp="1"/>
          </p:cNvSpPr>
          <p:nvPr>
            <p:ph type="subTitle" idx="2"/>
          </p:nvPr>
        </p:nvSpPr>
        <p:spPr>
          <a:xfrm>
            <a:off x="3344675" y="4041205"/>
            <a:ext cx="1791000" cy="417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6" name="Google Shape;76;p14"/>
          <p:cNvCxnSpPr/>
          <p:nvPr/>
        </p:nvCxnSpPr>
        <p:spPr>
          <a:xfrm>
            <a:off x="682300" y="1629963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/>
          <p:cNvSpPr>
            <a:spLocks noGrp="1"/>
          </p:cNvSpPr>
          <p:nvPr>
            <p:ph type="subTitle" idx="3"/>
          </p:nvPr>
        </p:nvSpPr>
        <p:spPr>
          <a:xfrm>
            <a:off x="682300" y="1313400"/>
            <a:ext cx="1155600" cy="135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78" name="Google Shape;78;p14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7335754" y="313824"/>
            <a:ext cx="1125551" cy="313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86" name="Google Shape;86;p16"/>
          <p:cNvSpPr>
            <a:spLocks noGrp="1"/>
          </p:cNvSpPr>
          <p:nvPr>
            <p:ph type="ctrTitle"/>
          </p:nvPr>
        </p:nvSpPr>
        <p:spPr>
          <a:xfrm>
            <a:off x="899100" y="685800"/>
            <a:ext cx="73494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6"/>
          <p:cNvSpPr>
            <a:spLocks noGrp="1"/>
          </p:cNvSpPr>
          <p:nvPr>
            <p:ph type="subTitle" idx="1"/>
          </p:nvPr>
        </p:nvSpPr>
        <p:spPr>
          <a:xfrm>
            <a:off x="899100" y="2670300"/>
            <a:ext cx="73494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88" name="Google Shape;88;p1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92" name="Google Shape;92;p17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17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94" name="Google Shape;94;p17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17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17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98" name="Google Shape;98;p18"/>
          <p:cNvSpPr>
            <a:spLocks noGrp="1"/>
          </p:cNvSpPr>
          <p:nvPr>
            <p:ph type="title"/>
          </p:nvPr>
        </p:nvSpPr>
        <p:spPr>
          <a:xfrm>
            <a:off x="1493100" y="2886300"/>
            <a:ext cx="58266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18"/>
          <p:cNvSpPr>
            <a:spLocks noGrp="1"/>
          </p:cNvSpPr>
          <p:nvPr>
            <p:ph type="body" idx="1"/>
          </p:nvPr>
        </p:nvSpPr>
        <p:spPr>
          <a:xfrm>
            <a:off x="1493100" y="3461400"/>
            <a:ext cx="58266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8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8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104" name="Google Shape;104;p19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19"/>
          <p:cNvSpPr>
            <a:spLocks noGrp="1"/>
          </p:cNvSpPr>
          <p:nvPr>
            <p:ph type="body" idx="1"/>
          </p:nvPr>
        </p:nvSpPr>
        <p:spPr>
          <a:xfrm>
            <a:off x="4563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6" name="Google Shape;106;p19"/>
          <p:cNvSpPr>
            <a:spLocks noGrp="1"/>
          </p:cNvSpPr>
          <p:nvPr>
            <p:ph type="body" idx="2"/>
          </p:nvPr>
        </p:nvSpPr>
        <p:spPr>
          <a:xfrm>
            <a:off x="48087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7" name="Google Shape;107;p19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9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19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111" name="Google Shape;111;p20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20"/>
          <p:cNvSpPr>
            <a:spLocks noGrp="1"/>
          </p:cNvSpPr>
          <p:nvPr>
            <p:ph type="body" idx="1"/>
          </p:nvPr>
        </p:nvSpPr>
        <p:spPr>
          <a:xfrm>
            <a:off x="456300" y="1071900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3" name="Google Shape;113;p20"/>
          <p:cNvSpPr>
            <a:spLocks noGrp="1"/>
          </p:cNvSpPr>
          <p:nvPr>
            <p:ph type="body" idx="2"/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4" name="Google Shape;114;p20"/>
          <p:cNvSpPr>
            <a:spLocks noGrp="1"/>
          </p:cNvSpPr>
          <p:nvPr>
            <p:ph type="body" idx="3"/>
          </p:nvPr>
        </p:nvSpPr>
        <p:spPr>
          <a:xfrm>
            <a:off x="4676813" y="1066297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5" name="Google Shape;115;p20"/>
          <p:cNvSpPr>
            <a:spLocks noGrp="1"/>
          </p:cNvSpPr>
          <p:nvPr>
            <p:ph type="body" idx="4"/>
          </p:nvPr>
        </p:nvSpPr>
        <p:spPr>
          <a:xfrm>
            <a:off x="4676813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6" name="Google Shape;116;p20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7" name="Google Shape;117;p20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20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120" name="Google Shape;120;p21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" name="Google Shape;121;p21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1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1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125" name="Google Shape;125;p22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6" name="Google Shape;126;p22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7" name="Google Shape;127;p22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/>
      <p:sp>
        <p:nvSpPr>
          <p:cNvPr id="129" name="Google Shape;129;p23"/>
          <p:cNvSpPr>
            <a:spLocks noGrp="1"/>
          </p:cNvSpPr>
          <p:nvPr>
            <p:ph type="pic" idx="2"/>
          </p:nvPr>
        </p:nvSpPr>
        <p:spPr>
          <a:xfrm>
            <a:off x="456247" y="1166336"/>
            <a:ext cx="3924600" cy="3456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3"/>
          <p:cNvSpPr>
            <a:spLocks noGrp="1"/>
          </p:cNvSpPr>
          <p:nvPr>
            <p:ph type="body" idx="1"/>
          </p:nvPr>
        </p:nvSpPr>
        <p:spPr>
          <a:xfrm>
            <a:off x="4762800" y="1166400"/>
            <a:ext cx="39204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1" name="Google Shape;131;p23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2" name="Google Shape;132;p23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3" name="Google Shape;133;p23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3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137" name="Google Shape;137;p24"/>
          <p:cNvSpPr>
            <a:spLocks noGrp="1"/>
          </p:cNvSpPr>
          <p:nvPr>
            <p:ph type="title"/>
          </p:nvPr>
        </p:nvSpPr>
        <p:spPr>
          <a:xfrm rot="5400000">
            <a:off x="6181650" y="2180250"/>
            <a:ext cx="3771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4"/>
          <p:cNvSpPr>
            <a:spLocks noGrp="1"/>
          </p:cNvSpPr>
          <p:nvPr>
            <p:ph type="body" idx="1"/>
          </p:nvPr>
        </p:nvSpPr>
        <p:spPr>
          <a:xfrm rot="5400000">
            <a:off x="2238300" y="-866700"/>
            <a:ext cx="3771900" cy="68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100" tIns="35100" rIns="351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9" name="Google Shape;139;p24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4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4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142" name="Google Shape;142;p24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"/>
        <p:cNvGrpSpPr/>
        <p:nvPr/>
      </p:nvGrpSpPr>
      <p:grpSpPr/>
      <p:sp>
        <p:nvSpPr>
          <p:cNvPr id="144" name="Google Shape;144;p2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5" name="Google Shape;145;p2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Google Shape;146;p2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body" idx="1"/>
          </p:nvPr>
        </p:nvSpPr>
        <p:spPr>
          <a:xfrm>
            <a:off x="456300" y="580500"/>
            <a:ext cx="82296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48" name="Google Shape;148;p25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/>
      <p:sp>
        <p:nvSpPr>
          <p:cNvPr id="150" name="Google Shape;150;p2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1" name="Google Shape;151;p2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53" name="Google Shape;153;p26"/>
          <p:cNvSpPr>
            <a:spLocks noGrp="1"/>
          </p:cNvSpPr>
          <p:nvPr>
            <p:ph type="title"/>
          </p:nvPr>
        </p:nvSpPr>
        <p:spPr>
          <a:xfrm>
            <a:off x="899100" y="1863000"/>
            <a:ext cx="73494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" name="Google Shape;154;p26"/>
          <p:cNvSpPr>
            <a:spLocks noGrp="1"/>
          </p:cNvSpPr>
          <p:nvPr>
            <p:ph type="body" idx="1"/>
          </p:nvPr>
        </p:nvSpPr>
        <p:spPr>
          <a:xfrm>
            <a:off x="899100" y="2670300"/>
            <a:ext cx="7349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55" name="Google Shape;155;p26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/>
      <p:sp>
        <p:nvSpPr>
          <p:cNvPr id="157" name="Google Shape;157;p27"/>
          <p:cNvSpPr>
            <a:spLocks noGrp="1"/>
          </p:cNvSpPr>
          <p:nvPr>
            <p:ph type="sldNum" idx="12"/>
          </p:nvPr>
        </p:nvSpPr>
        <p:spPr>
          <a:xfrm>
            <a:off x="8353559" y="4632722"/>
            <a:ext cx="504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cxnSp>
        <p:nvCxnSpPr>
          <p:cNvPr id="158" name="Google Shape;158;p27"/>
          <p:cNvCxnSpPr/>
          <p:nvPr/>
        </p:nvCxnSpPr>
        <p:spPr>
          <a:xfrm>
            <a:off x="457200" y="528712"/>
            <a:ext cx="685800" cy="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/>
          <p:cNvSpPr>
            <a:spLocks noGrp="1"/>
          </p:cNvSpPr>
          <p:nvPr>
            <p:ph type="title"/>
          </p:nvPr>
        </p:nvSpPr>
        <p:spPr>
          <a:xfrm>
            <a:off x="457201" y="699165"/>
            <a:ext cx="7543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0" name="Google Shape;80;p15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1" name="Google Shape;81;p15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2" name="Google Shape;82;p1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3" name="Google Shape;83;p1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4" name="Google Shape;84;p1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" name="Google Shape;167;p28"/>
          <p:cNvSpPr>
            <a:spLocks noGrp="1"/>
          </p:cNvSpPr>
          <p:nvPr>
            <p:ph type="ctrTitle"/>
          </p:nvPr>
        </p:nvSpPr>
        <p:spPr>
          <a:xfrm>
            <a:off x="3181350" y="1707900"/>
            <a:ext cx="5801400" cy="118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P2HHV32 96CH LV 两种 O-ring 老化测试对比报告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68" name="Google Shape;168;p28"/>
          <p:cNvSpPr>
            <a:spLocks noGrp="1"/>
          </p:cNvSpPr>
          <p:nvPr>
            <p:ph type="subTitle" idx="1"/>
          </p:nvPr>
        </p:nvSpPr>
        <p:spPr>
          <a:xfrm>
            <a:off x="7023625" y="3748200"/>
            <a:ext cx="3054300" cy="49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5714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2026.06.16</a:t>
            </a:r>
            <a:endParaRPr sz="1350">
              <a:solidFill>
                <a:srgbClr val="FFFFFF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72" name="Google Shape;169;p28"/>
          <p:cNvPicPr>
            <a:picLocks noChangeAspect="1"/>
          </p:cNvPicPr>
          <p:nvPr>
            <p:ph type="pic" idx="2"/>
          </p:nvPr>
        </p:nvPicPr>
        <p:blipFill rotWithShape="1">
          <a:blip r:embed="rId1"/>
          <a:srcRect l="1393" r="65272" b="22654"/>
          <a:stretch>
            <a:fillRect/>
          </a:stretch>
        </p:blipFill>
        <p:spPr>
          <a:xfrm>
            <a:off x="0" y="0"/>
            <a:ext cx="3181348" cy="5143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1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执行摘要：Mold Oring 完成度高，OTP-O ring 风险集中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19200"/>
            <a:ext cx="1640205" cy="61023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19" name="矩形 218"/>
          <p:cNvSpPr>
            <a:spLocks noGrp="1"/>
          </p:cNvSpPr>
          <p:nvPr/>
        </p:nvSpPr>
        <p:spPr>
          <a:xfrm>
            <a:off x="609600" y="1295400"/>
            <a:ext cx="1377950" cy="147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对比类型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476375"/>
            <a:ext cx="1377950" cy="252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lang="en-US" altLang="zh-CN" sz="1200" b="1">
                <a:solidFill>
                  <a:srgbClr val="4285F4"/>
                </a:solidFill>
              </a:rPr>
              <a:t>Mold/OTP Oring</a:t>
            </a:r>
            <a:endParaRPr lang="en-US" altLang="zh-CN" sz="1200" b="1">
              <a:solidFill>
                <a:srgbClr val="4285F4"/>
              </a:solidFill>
            </a:endParaRPr>
          </a:p>
          <a:p>
            <a:pPr>
              <a:defRPr sz="1350" b="1">
                <a:solidFill>
                  <a:srgbClr val="4285F4"/>
                </a:solidFill>
              </a:defRPr>
            </a:pPr>
            <a:endParaRPr sz="1200" b="1">
              <a:solidFill>
                <a:srgbClr val="4285F4"/>
              </a:solidFill>
            </a:endParaRPr>
          </a:p>
        </p:txBody>
      </p:sp>
      <p:sp>
        <p:nvSpPr>
          <p:cNvPr id="221" name="圆角矩形 220"/>
          <p:cNvSpPr>
            <a:spLocks noGrp="1"/>
          </p:cNvSpPr>
          <p:nvPr/>
        </p:nvSpPr>
        <p:spPr>
          <a:xfrm>
            <a:off x="2329815" y="1219200"/>
            <a:ext cx="1640205" cy="61023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2" name="矩形 221"/>
          <p:cNvSpPr>
            <a:spLocks noGrp="1"/>
          </p:cNvSpPr>
          <p:nvPr/>
        </p:nvSpPr>
        <p:spPr>
          <a:xfrm>
            <a:off x="2372360" y="1295400"/>
            <a:ext cx="1377950" cy="147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样本总数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2372360" y="1476375"/>
            <a:ext cx="1377950" cy="252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18 台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4067175" y="1219200"/>
            <a:ext cx="1640205" cy="610235"/>
          </a:xfrm>
          <a:prstGeom prst="roundRect">
            <a:avLst>
              <a:gd name="adj" fmla="val 13793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4135120" y="1295400"/>
            <a:ext cx="1377950" cy="147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完成 392%/417%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4135120" y="1476375"/>
            <a:ext cx="1377950" cy="252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16 台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5855335" y="1219200"/>
            <a:ext cx="1640205" cy="610235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5969635" y="1295400"/>
            <a:ext cx="1377950" cy="147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Risk / Fail / Hold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5969635" y="1476375"/>
            <a:ext cx="1377950" cy="252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5 台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30" name="圆角矩形 229"/>
          <p:cNvSpPr>
            <a:spLocks noGrp="1"/>
          </p:cNvSpPr>
          <p:nvPr/>
        </p:nvSpPr>
        <p:spPr>
          <a:xfrm>
            <a:off x="495300" y="2038350"/>
            <a:ext cx="7020560" cy="215328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1" name="矩形 230"/>
          <p:cNvSpPr>
            <a:spLocks noGrp="1"/>
          </p:cNvSpPr>
          <p:nvPr/>
        </p:nvSpPr>
        <p:spPr>
          <a:xfrm>
            <a:off x="742950" y="22669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rPr sz="1200" b="1">
                <a:solidFill>
                  <a:srgbClr val="333333"/>
                </a:solidFill>
              </a:rPr>
              <a:t>核心结论</a:t>
            </a:r>
            <a:endParaRPr sz="1200" b="1">
              <a:solidFill>
                <a:srgbClr val="333333"/>
              </a:solidFill>
            </a:endParaRPr>
          </a:p>
        </p:txBody>
      </p:sp>
      <p:sp>
        <p:nvSpPr>
          <p:cNvPr id="232" name="椭圆 231"/>
          <p:cNvSpPr>
            <a:spLocks noGrp="1"/>
          </p:cNvSpPr>
          <p:nvPr/>
        </p:nvSpPr>
        <p:spPr>
          <a:xfrm>
            <a:off x="781050" y="2676525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971550" y="26289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>
                <a:solidFill>
                  <a:srgbClr val="333333"/>
                </a:solidFill>
              </a:defRPr>
            </a:pPr>
            <a:r>
              <a:rPr sz="1000">
                <a:solidFill>
                  <a:srgbClr val="333333"/>
                </a:solidFill>
              </a:rPr>
              <a:t>Mold Oring 本次纳入 13 台，均已完成 392% 或 417%；其中 0407A01、0702A03 需重点跟踪。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34" name="椭圆 233"/>
          <p:cNvSpPr>
            <a:spLocks noGrp="1"/>
          </p:cNvSpPr>
          <p:nvPr/>
        </p:nvSpPr>
        <p:spPr>
          <a:xfrm>
            <a:off x="781050" y="3152775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5" name="矩形 234"/>
          <p:cNvSpPr>
            <a:spLocks noGrp="1"/>
          </p:cNvSpPr>
          <p:nvPr/>
        </p:nvSpPr>
        <p:spPr>
          <a:xfrm>
            <a:off x="971550" y="31051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>
                <a:solidFill>
                  <a:srgbClr val="333333"/>
                </a:solidFill>
              </a:defRPr>
            </a:pPr>
            <a:r>
              <a:rPr sz="1000">
                <a:solidFill>
                  <a:srgbClr val="333333"/>
                </a:solidFill>
              </a:rPr>
              <a:t>OTP-O ring 共 5 台，仅 2 台明确 PASS，2 台 STOP/FAIL、1 台 QC risk，建议暂缓放行并完成 RCA。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781050" y="3629025"/>
            <a:ext cx="76200" cy="7620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971550" y="3581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333333"/>
                </a:solidFill>
              </a:defRPr>
            </a:pPr>
            <a:r>
              <a:rPr sz="1000">
                <a:solidFill>
                  <a:srgbClr val="333333"/>
                </a:solidFill>
              </a:rPr>
              <a:t>两类失效模式不同：Mold Oring 主要是局部漏液/O-ring 返修与个别通道 D% 风险；OTP-O ring 主要是吸液少、不吸液和泄漏风险。</a:t>
            </a:r>
            <a:endParaRPr sz="10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两类 O-ring 测试状态快照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7" name="表格 226"/>
          <p:cNvGraphicFramePr/>
          <p:nvPr>
            <p:custDataLst>
              <p:tags r:id="rId2"/>
            </p:custDataLst>
          </p:nvPr>
        </p:nvGraphicFramePr>
        <p:xfrm>
          <a:off x="232410" y="1093470"/>
          <a:ext cx="8366125" cy="1966595"/>
        </p:xfrm>
        <a:graphic>
          <a:graphicData uri="http://schemas.openxmlformats.org/drawingml/2006/table">
            <a:tbl>
              <a:tblPr firstRow="1" bandRow="1"/>
              <a:tblGrid>
                <a:gridCol w="1305560"/>
                <a:gridCol w="545465"/>
                <a:gridCol w="546100"/>
                <a:gridCol w="788035"/>
                <a:gridCol w="676910"/>
                <a:gridCol w="560705"/>
                <a:gridCol w="656590"/>
                <a:gridCol w="758825"/>
                <a:gridCol w="1045210"/>
                <a:gridCol w="1482725"/>
              </a:tblGrid>
              <a:tr h="9937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类型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样本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完成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PASS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QC risk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HOLD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STOP/FAIL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FFFFFF"/>
                          </a:solidFill>
                        </a:rPr>
                        <a:t>across all dispenses</a:t>
                      </a:r>
                      <a:r>
                        <a:rPr sz="1200" b="1">
                          <a:solidFill>
                            <a:srgbClr val="FFFFFF"/>
                          </a:solidFill>
                        </a:rPr>
                        <a:t> CV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FFFFFF"/>
                          </a:solidFill>
                        </a:rPr>
                        <a:t>CV of the worst channel</a:t>
                      </a:r>
                      <a:endParaRPr lang="en-US" altLang="zh-CN"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综合判定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4864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Mold Oring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13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13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11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0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0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6.6%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55.15%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PASS with Risk Notes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</a:tr>
              <a:tr h="4864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OTP-O ring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3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1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0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6.83%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3.45%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HOLD / RCA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</a:tr>
            </a:tbl>
          </a:graphicData>
        </a:graphic>
      </p:graphicFrame>
      <p:sp>
        <p:nvSpPr>
          <p:cNvPr id="219" name="圆角矩形 218"/>
          <p:cNvSpPr>
            <a:spLocks noGrp="1"/>
          </p:cNvSpPr>
          <p:nvPr/>
        </p:nvSpPr>
        <p:spPr>
          <a:xfrm>
            <a:off x="878840" y="3649980"/>
            <a:ext cx="3143250" cy="1162050"/>
          </a:xfrm>
          <a:prstGeom prst="roundRect">
            <a:avLst>
              <a:gd name="adj" fmla="val 6557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1085850" y="376428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B45309"/>
                </a:solidFill>
              </a:defRPr>
            </a:pPr>
            <a:r>
              <a:rPr sz="1050" b="1">
                <a:solidFill>
                  <a:srgbClr val="B45309"/>
                </a:solidFill>
              </a:rPr>
              <a:t>Mold Oring</a:t>
            </a:r>
            <a:endParaRPr sz="1050" b="1">
              <a:solidFill>
                <a:srgbClr val="B45309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1085850" y="406908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完成：13/13</a:t>
            </a:r>
            <a:endParaRPr sz="1200">
              <a:solidFill>
                <a:srgbClr val="333333"/>
              </a:solidFill>
            </a:endParaRPr>
          </a:p>
          <a:p>
            <a:pPr>
              <a:defRPr sz="735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PASS：11/13；Risk/Hold/Fail：2/13</a:t>
            </a:r>
            <a:endParaRPr sz="1200">
              <a:solidFill>
                <a:srgbClr val="333333"/>
              </a:solidFill>
            </a:endParaRPr>
          </a:p>
          <a:p>
            <a:pPr>
              <a:defRPr sz="735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判定：PASS with Risk Notes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4781550" y="3607435"/>
            <a:ext cx="3143250" cy="1162050"/>
          </a:xfrm>
          <a:prstGeom prst="roundRect">
            <a:avLst>
              <a:gd name="adj" fmla="val 6557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4991100" y="3692525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OTP-O ring</a:t>
            </a:r>
            <a:endParaRPr sz="1050" b="1">
              <a:solidFill>
                <a:srgbClr val="DC2626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4991100" y="3997325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完成：3/5</a:t>
            </a:r>
            <a:endParaRPr sz="1200">
              <a:solidFill>
                <a:srgbClr val="333333"/>
              </a:solidFill>
            </a:endParaRPr>
          </a:p>
          <a:p>
            <a:pPr>
              <a:defRPr sz="735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PASS：2/5；Risk/Hold/Fail：3/5</a:t>
            </a:r>
            <a:endParaRPr sz="1200">
              <a:solidFill>
                <a:srgbClr val="333333"/>
              </a:solidFill>
            </a:endParaRPr>
          </a:p>
          <a:p>
            <a:pPr>
              <a:defRPr sz="735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判定：HOLD / RCA</a:t>
            </a:r>
            <a:endParaRPr sz="1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9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完成率与 PASS 率：OTP-O ring 明显低于 Mold Oring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905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2" name="Chart"/>
          <p:cNvGraphicFramePr/>
          <p:nvPr/>
        </p:nvGraphicFramePr>
        <p:xfrm>
          <a:off x="781050" y="1466850"/>
          <a:ext cx="523875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762750" y="135255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4287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Mold Oring 完成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60972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100%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6762750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4" name="矩形 223"/>
          <p:cNvSpPr>
            <a:spLocks noGrp="1"/>
          </p:cNvSpPr>
          <p:nvPr/>
        </p:nvSpPr>
        <p:spPr>
          <a:xfrm>
            <a:off x="6877050" y="23622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OTP PASS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5431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40%</a:t>
            </a:r>
            <a:endParaRPr sz="1350" b="1">
              <a:solidFill>
                <a:srgbClr val="F59E0B"/>
              </a:solidFill>
            </a:endParaRPr>
          </a:p>
        </p:txBody>
      </p:sp>
      <p:sp>
        <p:nvSpPr>
          <p:cNvPr id="226" name="圆角矩形 225"/>
          <p:cNvSpPr>
            <a:spLocks noGrp="1"/>
          </p:cNvSpPr>
          <p:nvPr/>
        </p:nvSpPr>
        <p:spPr>
          <a:xfrm>
            <a:off x="6762750" y="3257550"/>
            <a:ext cx="1428750" cy="704850"/>
          </a:xfrm>
          <a:prstGeom prst="roundRect">
            <a:avLst>
              <a:gd name="adj" fmla="val 10811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7" name="矩形 226"/>
          <p:cNvSpPr>
            <a:spLocks noGrp="1"/>
          </p:cNvSpPr>
          <p:nvPr/>
        </p:nvSpPr>
        <p:spPr>
          <a:xfrm>
            <a:off x="6934200" y="3357245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风险点</a:t>
            </a:r>
            <a:endParaRPr sz="975" b="1">
              <a:solidFill>
                <a:srgbClr val="DC2626"/>
              </a:solidFill>
            </a:endParaRPr>
          </a:p>
        </p:txBody>
      </p:sp>
      <p:sp>
        <p:nvSpPr>
          <p:cNvPr id="228" name="矩形 227"/>
          <p:cNvSpPr>
            <a:spLocks noGrp="1"/>
          </p:cNvSpPr>
          <p:nvPr/>
        </p:nvSpPr>
        <p:spPr>
          <a:xfrm>
            <a:off x="6934200" y="3562350"/>
            <a:ext cx="1066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>
                <a:solidFill>
                  <a:srgbClr val="333333"/>
                </a:solidFill>
              </a:defRPr>
            </a:pPr>
            <a:r>
              <a:rPr sz="640">
                <a:solidFill>
                  <a:srgbClr val="333333"/>
                </a:solidFill>
              </a:rPr>
              <a:t>OTP-O ring 有 3/5 风险或失败；Mold Oring 有 2/13 需跟踪。</a:t>
            </a:r>
            <a:endParaRPr sz="64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7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39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lang="en-US" altLang="zh-CN" sz="1275" b="1">
                <a:solidFill>
                  <a:srgbClr val="333333"/>
                </a:solidFill>
                <a:highlight>
                  <a:schemeClr val="lt1"/>
                </a:highlight>
              </a:rPr>
              <a:t>CV across all dispenses</a:t>
            </a: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 对比：两类均有超</a:t>
            </a:r>
            <a:r>
              <a:rPr lang="zh-CN" sz="1275" b="1">
                <a:solidFill>
                  <a:srgbClr val="333333"/>
                </a:solidFill>
                <a:highlight>
                  <a:schemeClr val="lt1"/>
                </a:highlight>
              </a:rPr>
              <a:t>阈值</a:t>
            </a:r>
            <a:endParaRPr lang="zh-CN"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6102985" cy="322326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0" name="Chart"/>
          <p:cNvGraphicFramePr/>
          <p:nvPr/>
        </p:nvGraphicFramePr>
        <p:xfrm>
          <a:off x="581025" y="1238885"/>
          <a:ext cx="5561965" cy="275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660515" y="1301115"/>
            <a:ext cx="1952625" cy="1545590"/>
          </a:xfrm>
          <a:prstGeom prst="roundRect">
            <a:avLst>
              <a:gd name="adj" fmla="val 7619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948805" y="1499870"/>
            <a:ext cx="893445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最高值</a:t>
            </a:r>
            <a:endParaRPr sz="975" b="1">
              <a:solidFill>
                <a:srgbClr val="DC2626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724025"/>
            <a:ext cx="1339215" cy="501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>
                <a:solidFill>
                  <a:srgbClr val="DC2626"/>
                </a:solidFill>
              </a:defRPr>
            </a:pPr>
            <a:r>
              <a:rPr sz="2175" b="1">
                <a:solidFill>
                  <a:srgbClr val="DC2626"/>
                </a:solidFill>
              </a:rPr>
              <a:t>6.83%</a:t>
            </a:r>
            <a:endParaRPr sz="2175" b="1">
              <a:solidFill>
                <a:srgbClr val="DC2626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877050" y="2145030"/>
            <a:ext cx="1428750" cy="471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OTP-O ring / 0627A02 / 175%，D3/G9 吸液少。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660515" y="2882900"/>
            <a:ext cx="1952625" cy="154559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948805" y="3025140"/>
            <a:ext cx="1169670" cy="42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Mold Oring</a:t>
            </a:r>
            <a:endParaRPr sz="975" b="1">
              <a:solidFill>
                <a:srgbClr val="B45309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3296920"/>
            <a:ext cx="1466215" cy="73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0407A01 在 379% CV 6.60%，与 D2 漏液/O-ring 更换相关。</a:t>
            </a:r>
            <a:endParaRPr sz="1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6" name="Google Shape;221;p3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25" name="Google Shape;225;p34"/>
          <p:cNvSpPr>
            <a:spLocks noGrp="1"/>
          </p:cNvSpPr>
          <p:nvPr/>
        </p:nvSpPr>
        <p:spPr>
          <a:xfrm>
            <a:off x="476250" y="590550"/>
            <a:ext cx="7810500" cy="39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lang="en-US" altLang="zh-CN" sz="1275" b="1">
                <a:solidFill>
                  <a:srgbClr val="333333"/>
                </a:solidFill>
                <a:highlight>
                  <a:schemeClr val="lt1"/>
                </a:highlight>
              </a:rPr>
              <a:t>CV of the worst channel</a:t>
            </a: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：Mold Oring </a:t>
            </a:r>
            <a:r>
              <a:rPr lang="zh-CN" sz="1275" b="1">
                <a:solidFill>
                  <a:srgbClr val="333333"/>
                </a:solidFill>
                <a:highlight>
                  <a:schemeClr val="lt1"/>
                </a:highlight>
              </a:rPr>
              <a:t>有一台在</a:t>
            </a:r>
            <a:r>
              <a:rPr lang="en-US" altLang="zh-CN" sz="1275" b="1">
                <a:solidFill>
                  <a:srgbClr val="333333"/>
                </a:solidFill>
                <a:highlight>
                  <a:schemeClr val="lt1"/>
                </a:highlight>
              </a:rPr>
              <a:t>379%</a:t>
            </a:r>
            <a:r>
              <a:rPr lang="zh-CN" altLang="en-US" sz="1275" b="1">
                <a:solidFill>
                  <a:srgbClr val="333333"/>
                </a:solidFill>
                <a:highlight>
                  <a:schemeClr val="lt1"/>
                </a:highlight>
              </a:rPr>
              <a:t>（</a:t>
            </a:r>
            <a:r>
              <a:rPr lang="en-US" altLang="zh-CN" sz="1275" b="1">
                <a:solidFill>
                  <a:srgbClr val="333333"/>
                </a:solidFill>
                <a:highlight>
                  <a:schemeClr val="lt1"/>
                </a:highlight>
              </a:rPr>
              <a:t>985000cycles</a:t>
            </a:r>
            <a:r>
              <a:rPr lang="zh-CN" altLang="en-US" sz="1275" b="1">
                <a:solidFill>
                  <a:srgbClr val="333333"/>
                </a:solidFill>
                <a:highlight>
                  <a:schemeClr val="lt1"/>
                </a:highlight>
              </a:rPr>
              <a:t>）</a:t>
            </a:r>
            <a:r>
              <a:rPr lang="en-US" altLang="zh-CN" sz="1275" b="1">
                <a:solidFill>
                  <a:srgbClr val="333333"/>
                </a:solidFill>
                <a:highlight>
                  <a:schemeClr val="lt1"/>
                </a:highlight>
              </a:rPr>
              <a:t>D2</a:t>
            </a:r>
            <a:r>
              <a:rPr lang="zh-CN" altLang="en-US" sz="1275" b="1">
                <a:solidFill>
                  <a:srgbClr val="333333"/>
                </a:solidFill>
                <a:highlight>
                  <a:schemeClr val="lt1"/>
                </a:highlight>
              </a:rPr>
              <a:t>漏液</a:t>
            </a:r>
            <a:endParaRPr lang="zh-CN" altLang="en-US"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495300" y="1200150"/>
            <a:ext cx="58102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9" name="Chart"/>
          <p:cNvGraphicFramePr/>
          <p:nvPr/>
        </p:nvGraphicFramePr>
        <p:xfrm>
          <a:off x="526415" y="1256665"/>
          <a:ext cx="5704840" cy="2782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9" name="圆角矩形 228"/>
          <p:cNvSpPr>
            <a:spLocks noGrp="1"/>
          </p:cNvSpPr>
          <p:nvPr/>
        </p:nvSpPr>
        <p:spPr>
          <a:xfrm>
            <a:off x="6619875" y="1240155"/>
            <a:ext cx="1831975" cy="1480820"/>
          </a:xfrm>
          <a:prstGeom prst="roundRect">
            <a:avLst>
              <a:gd name="adj" fmla="val 7619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0" name="矩形 229"/>
          <p:cNvSpPr>
            <a:spLocks noGrp="1"/>
          </p:cNvSpPr>
          <p:nvPr/>
        </p:nvSpPr>
        <p:spPr>
          <a:xfrm>
            <a:off x="6877050" y="149161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最高值</a:t>
            </a:r>
            <a:endParaRPr sz="975" b="1">
              <a:solidFill>
                <a:srgbClr val="DC2626"/>
              </a:solidFill>
            </a:endParaRPr>
          </a:p>
        </p:txBody>
      </p:sp>
      <p:sp>
        <p:nvSpPr>
          <p:cNvPr id="231" name="矩形 230"/>
          <p:cNvSpPr>
            <a:spLocks noGrp="1"/>
          </p:cNvSpPr>
          <p:nvPr/>
        </p:nvSpPr>
        <p:spPr>
          <a:xfrm>
            <a:off x="6804025" y="172847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>
                <a:solidFill>
                  <a:srgbClr val="DC2626"/>
                </a:solidFill>
              </a:defRPr>
            </a:pPr>
            <a:r>
              <a:rPr sz="2175" b="1">
                <a:solidFill>
                  <a:srgbClr val="DC2626"/>
                </a:solidFill>
              </a:rPr>
              <a:t>55.15%</a:t>
            </a:r>
            <a:endParaRPr sz="2175" b="1">
              <a:solidFill>
                <a:srgbClr val="DC2626"/>
              </a:solidFill>
            </a:endParaRPr>
          </a:p>
        </p:txBody>
      </p:sp>
      <p:sp>
        <p:nvSpPr>
          <p:cNvPr id="232" name="矩形 231"/>
          <p:cNvSpPr>
            <a:spLocks noGrp="1"/>
          </p:cNvSpPr>
          <p:nvPr/>
        </p:nvSpPr>
        <p:spPr>
          <a:xfrm>
            <a:off x="6877050" y="2136775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>
                <a:solidFill>
                  <a:srgbClr val="333333"/>
                </a:solidFill>
              </a:defRPr>
            </a:pPr>
            <a:r>
              <a:rPr sz="1000">
                <a:solidFill>
                  <a:srgbClr val="333333"/>
                </a:solidFill>
              </a:rPr>
              <a:t>Mold Oring / 0407A01 / 379%，D2 漏液。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33" name="圆角矩形 232"/>
          <p:cNvSpPr>
            <a:spLocks noGrp="1"/>
          </p:cNvSpPr>
          <p:nvPr/>
        </p:nvSpPr>
        <p:spPr>
          <a:xfrm>
            <a:off x="6667500" y="2908935"/>
            <a:ext cx="1799590" cy="1377315"/>
          </a:xfrm>
          <a:prstGeom prst="roundRect">
            <a:avLst>
              <a:gd name="adj" fmla="val 7619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34" name="矩形 233"/>
          <p:cNvSpPr>
            <a:spLocks noGrp="1"/>
          </p:cNvSpPr>
          <p:nvPr/>
        </p:nvSpPr>
        <p:spPr>
          <a:xfrm>
            <a:off x="6877050" y="29813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解释</a:t>
            </a:r>
            <a:endParaRPr sz="975" b="1">
              <a:solidFill>
                <a:srgbClr val="333333"/>
              </a:solidFill>
            </a:endParaRPr>
          </a:p>
        </p:txBody>
      </p:sp>
      <p:sp>
        <p:nvSpPr>
          <p:cNvPr id="235" name="矩形 234"/>
          <p:cNvSpPr>
            <a:spLocks noGrp="1"/>
          </p:cNvSpPr>
          <p:nvPr/>
        </p:nvSpPr>
        <p:spPr>
          <a:xfrm>
            <a:off x="6877050" y="3219450"/>
            <a:ext cx="121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1000">
                <a:solidFill>
                  <a:srgbClr val="4B5563"/>
                </a:solidFill>
              </a:rPr>
              <a:t>OTP-O ring 的 worst-channel CV 最高 3.45%，未超过 5.6% QC；其主要风险来自吸液/泄漏。</a:t>
            </a:r>
            <a:endParaRPr sz="100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9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Mold Oring 类型分析：整体可推进，但需关闭风险机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6905625" y="800100"/>
            <a:ext cx="1476375" cy="209550"/>
          </a:xfrm>
          <a:prstGeom prst="roundRect">
            <a:avLst>
              <a:gd name="adj" fmla="val 50000"/>
            </a:avLst>
          </a:prstGeom>
          <a:solidFill>
            <a:srgbClr val="FFE2A8"/>
          </a:solidFill>
          <a:ln w="0">
            <a:solidFill>
              <a:srgbClr val="FFE2A8"/>
            </a:solidFill>
            <a:prstDash val="solid"/>
          </a:ln>
        </p:spPr>
        <p:txBody>
          <a:bodyPr/>
          <a:lstStyle/>
          <a:p>
            <a:pPr algn="ctr">
              <a:defRPr sz="690" b="1">
                <a:solidFill>
                  <a:srgbClr val="B45309"/>
                </a:solidFill>
              </a:defRPr>
            </a:pPr>
            <a:r>
              <a:rPr sz="690" b="1">
                <a:solidFill>
                  <a:srgbClr val="B45309"/>
                </a:solidFill>
              </a:rPr>
              <a:t>PASS with risk notes</a:t>
            </a:r>
            <a:endParaRPr sz="690" b="1">
              <a:solidFill>
                <a:srgbClr val="B45309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1000" b="1">
                <a:solidFill>
                  <a:srgbClr val="64748B"/>
                </a:solidFill>
              </a:rPr>
              <a:t>样本数量</a:t>
            </a:r>
            <a:endParaRPr sz="100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13 台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1000" b="1">
                <a:solidFill>
                  <a:srgbClr val="64748B"/>
                </a:solidFill>
              </a:rPr>
              <a:t>完成 / PASS</a:t>
            </a:r>
            <a:endParaRPr sz="100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13/13 / 11/13</a:t>
            </a:r>
            <a:endParaRPr sz="1350" b="1">
              <a:solidFill>
                <a:srgbClr val="F59E0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142365"/>
            <a:ext cx="1506855" cy="343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lang="en-US" altLang="zh-CN" sz="1000" b="1">
                <a:solidFill>
                  <a:srgbClr val="64748B"/>
                </a:solidFill>
              </a:rPr>
              <a:t>across all dispenses</a:t>
            </a:r>
            <a:r>
              <a:rPr sz="1000" b="1">
                <a:solidFill>
                  <a:srgbClr val="64748B"/>
                </a:solidFill>
              </a:rPr>
              <a:t> CV</a:t>
            </a:r>
            <a:endParaRPr sz="100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6.60%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1000" b="1">
                <a:solidFill>
                  <a:srgbClr val="64748B"/>
                </a:solidFill>
              </a:rPr>
              <a:t>最大最差通道</a:t>
            </a:r>
            <a:r>
              <a:rPr lang="en-US" sz="1000" b="1">
                <a:solidFill>
                  <a:srgbClr val="64748B"/>
                </a:solidFill>
              </a:rPr>
              <a:t> cv</a:t>
            </a:r>
            <a:endParaRPr lang="en-US" sz="100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55.15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3524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2" name="矩形 231"/>
          <p:cNvSpPr>
            <a:spLocks noGrp="1"/>
          </p:cNvSpPr>
          <p:nvPr/>
        </p:nvSpPr>
        <p:spPr>
          <a:xfrm>
            <a:off x="742950" y="22669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类型结论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3" name="椭圆 232"/>
          <p:cNvSpPr>
            <a:spLocks noGrp="1"/>
          </p:cNvSpPr>
          <p:nvPr/>
        </p:nvSpPr>
        <p:spPr>
          <a:xfrm>
            <a:off x="762000" y="2695575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952500" y="2647950"/>
            <a:ext cx="2737485" cy="393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333333"/>
                </a:solidFill>
              </a:defRPr>
            </a:pPr>
            <a:r>
              <a:rPr sz="1000">
                <a:solidFill>
                  <a:srgbClr val="333333"/>
                </a:solidFill>
              </a:rPr>
              <a:t>本次纳入统计的 13 台均已完成至 392% 或 417%；其中 11 台建议 PASS，2 台保留 QC risk / 返修相关风险。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35" name="椭圆 234"/>
          <p:cNvSpPr>
            <a:spLocks noGrp="1"/>
          </p:cNvSpPr>
          <p:nvPr/>
        </p:nvSpPr>
        <p:spPr>
          <a:xfrm>
            <a:off x="762000" y="3343275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952500" y="32956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25">
                <a:solidFill>
                  <a:srgbClr val="333333"/>
                </a:solidFill>
              </a:defRPr>
            </a:pPr>
            <a:r>
              <a:rPr sz="1000">
                <a:solidFill>
                  <a:srgbClr val="333333"/>
                </a:solidFill>
              </a:rPr>
              <a:t>风险集中在 P2HHV3120250407A01 的 D2 漏液/O-ring replacement，以及 P2HHV3120250702A03 的 H3 low %D 与 worst-channel CV spike。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37" name="圆角矩形 236"/>
          <p:cNvSpPr>
            <a:spLocks noGrp="1"/>
          </p:cNvSpPr>
          <p:nvPr/>
        </p:nvSpPr>
        <p:spPr>
          <a:xfrm>
            <a:off x="4248150" y="2047875"/>
            <a:ext cx="41338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1" name="表格 260"/>
          <p:cNvGraphicFramePr/>
          <p:nvPr>
            <p:custDataLst>
              <p:tags r:id="rId2"/>
            </p:custDataLst>
          </p:nvPr>
        </p:nvGraphicFramePr>
        <p:xfrm>
          <a:off x="4419600" y="2189480"/>
          <a:ext cx="3808095" cy="1663700"/>
        </p:xfrm>
        <a:graphic>
          <a:graphicData uri="http://schemas.openxmlformats.org/drawingml/2006/table">
            <a:tbl>
              <a:tblPr firstRow="1" bandRow="1"/>
              <a:tblGrid>
                <a:gridCol w="1074420"/>
                <a:gridCol w="683260"/>
                <a:gridCol w="2050415"/>
              </a:tblGrid>
              <a:tr h="41592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数量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说明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11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多数完成 392%/417%，CV 满足规格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4159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QC risk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D2 漏液 / H3 low %D 与 worst-channel CV 超限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4159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HOLD/RUNNING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0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本次纳入统计样本中无 HOLD/RUNNING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9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OTP-O ring 类型分析：建议 HOLD 与 RCA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0">
            <a:solidFill>
              <a:srgbClr val="FEE2E2"/>
            </a:solidFill>
            <a:prstDash val="solid"/>
          </a:ln>
        </p:spPr>
        <p:txBody>
          <a:bodyPr/>
          <a:lstStyle/>
          <a:p>
            <a:pPr algn="ctr">
              <a:defRPr sz="690" b="1">
                <a:solidFill>
                  <a:srgbClr val="DC2626"/>
                </a:solidFill>
              </a:defRPr>
            </a:pPr>
            <a:r>
              <a:rPr sz="690" b="1">
                <a:solidFill>
                  <a:srgbClr val="DC2626"/>
                </a:solidFill>
              </a:rPr>
              <a:t>HOLD / RCA</a:t>
            </a:r>
            <a:endParaRPr sz="690" b="1">
              <a:solidFill>
                <a:srgbClr val="DC2626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样本数量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 台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完成 / PASS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3/5 / 2/5</a:t>
            </a:r>
            <a:endParaRPr sz="1350" b="1">
              <a:solidFill>
                <a:srgbClr val="F59E0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6.83%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3.45%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3524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2" name="矩形 231"/>
          <p:cNvSpPr>
            <a:spLocks noGrp="1"/>
          </p:cNvSpPr>
          <p:nvPr/>
        </p:nvSpPr>
        <p:spPr>
          <a:xfrm>
            <a:off x="742950" y="22669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类型结论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3" name="椭圆 232"/>
          <p:cNvSpPr>
            <a:spLocks noGrp="1"/>
          </p:cNvSpPr>
          <p:nvPr/>
        </p:nvSpPr>
        <p:spPr>
          <a:xfrm>
            <a:off x="762000" y="2695575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952500" y="26479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>
                <a:solidFill>
                  <a:srgbClr val="333333"/>
                </a:solidFill>
              </a:defRPr>
            </a:pPr>
            <a:r>
              <a:rPr sz="1000">
                <a:solidFill>
                  <a:srgbClr val="333333"/>
                </a:solidFill>
              </a:rPr>
              <a:t>样本数量较少但风险占比最高：5 台中 2 台 STOP/FAIL、1 台 QC risk，仅 2 台明确 PASS。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35" name="椭圆 234"/>
          <p:cNvSpPr>
            <a:spLocks noGrp="1"/>
          </p:cNvSpPr>
          <p:nvPr/>
        </p:nvSpPr>
        <p:spPr>
          <a:xfrm>
            <a:off x="762000" y="3343275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952500" y="32956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>
                <a:solidFill>
                  <a:srgbClr val="333333"/>
                </a:solidFill>
              </a:defRPr>
            </a:pPr>
            <a:r>
              <a:rPr sz="1000">
                <a:solidFill>
                  <a:srgbClr val="333333"/>
                </a:solidFill>
              </a:rPr>
              <a:t>失效集中在吸液少/不吸液、泄漏率异常和 392% CV 风险；0627A02 与 0627A03 已停止，0701A01 虽 Finish 但 392% CV 4.16%。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37" name="圆角矩形 236"/>
          <p:cNvSpPr>
            <a:spLocks noGrp="1"/>
          </p:cNvSpPr>
          <p:nvPr/>
        </p:nvSpPr>
        <p:spPr>
          <a:xfrm>
            <a:off x="4248150" y="2047875"/>
            <a:ext cx="41338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1" name="表格 260"/>
          <p:cNvGraphicFramePr/>
          <p:nvPr>
            <p:custDataLst>
              <p:tags r:id="rId2"/>
            </p:custDataLst>
          </p:nvPr>
        </p:nvGraphicFramePr>
        <p:xfrm>
          <a:off x="4376420" y="2170430"/>
          <a:ext cx="3970655" cy="1673860"/>
        </p:xfrm>
        <a:graphic>
          <a:graphicData uri="http://schemas.openxmlformats.org/drawingml/2006/table">
            <a:tbl>
              <a:tblPr firstRow="1" bandRow="1"/>
              <a:tblGrid>
                <a:gridCol w="648335"/>
                <a:gridCol w="698500"/>
                <a:gridCol w="558800"/>
                <a:gridCol w="448310"/>
                <a:gridCol w="499745"/>
                <a:gridCol w="1116965"/>
              </a:tblGrid>
              <a:tr h="41846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SN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状态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判定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Max CV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Max worst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备注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P2HHV3220250627A02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STOP 150%-175%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FAIL/STOP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6.83%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0.81%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175% 光学验证 D3/G9 吸液少，拆机/返修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41846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P2HHV3220250627A03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STOP 150%-175%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FAIL/STOP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0.47%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0.66%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E10/B7 不吸液；CH19/CH58 泄漏率高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418465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P2HHV3220250701A01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Finish / 392%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QC RISK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4.16%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2.30%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333333"/>
                          </a:solidFill>
                        </a:rPr>
                        <a:t>H4 LOW %D；200 uL 泄漏率 23.46 pa/s</a:t>
                      </a:r>
                      <a:endParaRPr sz="80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3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最终建议：Mold Oring 有条件推进，OTP-O ring 暂缓放行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666750" y="1238250"/>
            <a:ext cx="7429500" cy="723900"/>
          </a:xfrm>
          <a:prstGeom prst="roundRect">
            <a:avLst>
              <a:gd name="adj" fmla="val 10526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椭圆 218"/>
          <p:cNvSpPr>
            <a:spLocks noGrp="1"/>
          </p:cNvSpPr>
          <p:nvPr/>
        </p:nvSpPr>
        <p:spPr>
          <a:xfrm>
            <a:off x="914400" y="1447800"/>
            <a:ext cx="285750" cy="2857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20" name="矩形 219"/>
          <p:cNvSpPr>
            <a:spLocks noGrp="1"/>
          </p:cNvSpPr>
          <p:nvPr/>
        </p:nvSpPr>
        <p:spPr>
          <a:xfrm>
            <a:off x="914400" y="149542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1409700" y="1409700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有条件 PASS</a:t>
            </a:r>
            <a:endParaRPr sz="1125" b="1">
              <a:solidFill>
                <a:srgbClr val="F59E0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2714625" y="1400175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>
                <a:solidFill>
                  <a:srgbClr val="333333"/>
                </a:solidFill>
              </a:defRPr>
            </a:pPr>
            <a:r>
              <a:rPr sz="765">
                <a:solidFill>
                  <a:srgbClr val="333333"/>
                </a:solidFill>
              </a:rPr>
              <a:t>Mold Oring：11 台正常完成机台可按 PASS 方向推进；0407A01、0702A03 需单独关闭风险项后再归档。</a:t>
            </a:r>
            <a:endParaRPr sz="765">
              <a:solidFill>
                <a:srgbClr val="333333"/>
              </a:solidFill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666750" y="2171700"/>
            <a:ext cx="7429500" cy="723900"/>
          </a:xfrm>
          <a:prstGeom prst="roundRect">
            <a:avLst>
              <a:gd name="adj" fmla="val 10526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4" name="椭圆 223"/>
          <p:cNvSpPr>
            <a:spLocks noGrp="1"/>
          </p:cNvSpPr>
          <p:nvPr/>
        </p:nvSpPr>
        <p:spPr>
          <a:xfrm>
            <a:off x="914400" y="2381250"/>
            <a:ext cx="285750" cy="2857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25" name="矩形 224"/>
          <p:cNvSpPr>
            <a:spLocks noGrp="1"/>
          </p:cNvSpPr>
          <p:nvPr/>
        </p:nvSpPr>
        <p:spPr>
          <a:xfrm>
            <a:off x="914400" y="242887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1409700" y="2343150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HOLD / RCA</a:t>
            </a:r>
            <a:endParaRPr sz="1125" b="1">
              <a:solidFill>
                <a:srgbClr val="DC2626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2714625" y="2333625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>
                <a:solidFill>
                  <a:srgbClr val="333333"/>
                </a:solidFill>
              </a:defRPr>
            </a:pPr>
            <a:r>
              <a:rPr sz="765">
                <a:solidFill>
                  <a:srgbClr val="333333"/>
                </a:solidFill>
              </a:rPr>
              <a:t>OTP-O ring：2/5 STOP/FAIL、1/5 QC risk，建议完成失效件拆解、吸液/泄漏 RCA、结构/装配复核与复测后再判定。</a:t>
            </a:r>
            <a:endParaRPr sz="765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05*159"/>
  <p:tag name="TABLE_ENDDRAG_RECT" val="18*86*605*159"/>
</p:tagLst>
</file>

<file path=ppt/tags/tag2.xml><?xml version="1.0" encoding="utf-8"?>
<p:tagLst xmlns:p="http://schemas.openxmlformats.org/presentationml/2006/main">
  <p:tag name="TABLE_ENDDRAG_ORIGIN_RECT" val="295*112"/>
  <p:tag name="TABLE_ENDDRAG_RECT" val="348*172*295*112"/>
</p:tagLst>
</file>

<file path=ppt/tags/tag3.xml><?xml version="1.0" encoding="utf-8"?>
<p:tagLst xmlns:p="http://schemas.openxmlformats.org/presentationml/2006/main">
  <p:tag name="TABLE_ENDDRAG_ORIGIN_RECT" val="301*112"/>
  <p:tag name="TABLE_ENDDRAG_RECT" val="344*171*301*112"/>
</p:tagLst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2188</Words>
  <Application>WPS 表格</Application>
  <PresentationFormat>Converted Presentation</PresentationFormat>
  <Paragraphs>282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1" baseType="lpstr">
      <vt:lpstr>Arial</vt:lpstr>
      <vt:lpstr>宋体</vt:lpstr>
      <vt:lpstr>Wingdings</vt:lpstr>
      <vt:lpstr>Roboto</vt:lpstr>
      <vt:lpstr>Thonburi</vt:lpstr>
      <vt:lpstr>Arial</vt:lpstr>
      <vt:lpstr>Public Sans</vt:lpstr>
      <vt:lpstr>Public Sans SemiBold</vt:lpstr>
      <vt:lpstr>Nunito Sans Light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Roboto</vt:lpstr>
      <vt:lpstr>苹方-简</vt:lpstr>
      <vt:lpstr>Nunito Sans Light</vt:lpstr>
      <vt:lpstr>Public Sans SemiBold</vt:lpstr>
      <vt:lpstr>Material</vt:lpstr>
      <vt:lpstr>Office 主题​​</vt:lpstr>
      <vt:lpstr>P2HHV32/P2HHV31 96CH LV 两种 O-ring 老化测试对比报告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P2HHV32/P2HHV31 96CH LV 两种 O-ring 老化测试对比报告</dc:title>
  <dc:creator>Walnut Exporter</dc:creator>
  <cp:lastModifiedBy>Wye</cp:lastModifiedBy>
  <cp:revision>15</cp:revision>
  <dcterms:created xsi:type="dcterms:W3CDTF">2026-06-16T03:03:54Z</dcterms:created>
  <dcterms:modified xsi:type="dcterms:W3CDTF">2026-06-16T03:03:54Z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A5ABAF4FF9590E2C57AB306A5081D89E_42</vt:lpwstr>
  </property>
  <property fmtid="{D5CDD505-2E9C-101B-9397-08002B2CF9AE}" pid="3" name="KSOProductBuildVer">
    <vt:lpwstr>2052-12.1.25895.25895</vt:lpwstr>
  </property>
</Properties>
</file>