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CV</c:f>
              <c:strCache>
                <c:ptCount val="1"/>
                <c:pt idx="0">
                  <c:v>Max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{0.54,0.86,0.69,0.72,0.64}</c:f>
              <c:numCache>
                <c:formatCode>0.0</c:formatCode>
                <c:ptCount val="5"/>
                <c:pt idx="0">
                  <c:v>0.54</c:v>
                </c:pt>
                <c:pt idx="1">
                  <c:v>0.86</c:v>
                </c:pt>
                <c:pt idx="2">
                  <c:v>0.69</c:v>
                </c:pt>
                <c:pt idx="3">
                  <c:v>0.72</c:v>
                </c:pt>
                <c:pt idx="4">
                  <c:v>0.64</c:v>
                </c:pt>
              </c:numCache>
            </c:numRef>
          </c:val>
        </c:ser>
        <c:ser>
          <c:idx val="1"/>
          <c:order val="1"/>
          <c:tx>
            <c:strRef>
              <c:f>QC 4%</c:f>
              <c:strCache>
                <c:ptCount val="1"/>
                <c:pt idx="0">
                  <c:v>QC 4%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{4,4,4,4,4}</c:f>
              <c:numCache>
                <c:formatCode>0.0</c:formatCode>
                <c:ptCount val="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Customer 5%</c:f>
              <c:strCache>
                <c:ptCount val="1"/>
                <c:pt idx="0">
                  <c:v>Customer 5%</c:v>
                </c:pt>
              </c:strCache>
            </c:strRef>
          </c:tx>
          <c:spPr>
            <a:solidFill>
              <a:srgbClr val="DBEAFE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{5,5,5,5,5}</c:f>
              <c:numCache>
                <c:formatCode>0.0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5.5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0f55fac-f68b-4a6e-a86c-13ef20f40923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Max worst-channel CV</c:f>
              <c:strCache>
                <c:ptCount val="1"/>
                <c:pt idx="0">
                  <c:v>Max worst-channel CV</c:v>
                </c:pt>
              </c:strCache>
            </c:strRef>
          </c:tx>
          <c:spPr>
            <a:solidFill>
              <a:srgbClr val="4285F4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F59E0B"/>
              </a:solidFill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{3,3.04,2.57,1.15,1.92}</c:f>
              <c:numCache>
                <c:formatCode>0.0</c:formatCode>
                <c:ptCount val="5"/>
                <c:pt idx="0">
                  <c:v>3</c:v>
                </c:pt>
                <c:pt idx="1">
                  <c:v>3.04</c:v>
                </c:pt>
                <c:pt idx="2">
                  <c:v>2.57</c:v>
                </c:pt>
                <c:pt idx="3">
                  <c:v>1.15</c:v>
                </c:pt>
                <c:pt idx="4">
                  <c:v>1.92</c:v>
                </c:pt>
              </c:numCache>
            </c:numRef>
          </c:val>
        </c:ser>
        <c:ser>
          <c:idx val="1"/>
          <c:order val="1"/>
          <c:tx>
            <c:strRef>
              <c:f>QC 5.6%</c:f>
              <c:strCache>
                <c:ptCount val="1"/>
                <c:pt idx="0">
                  <c:v>QC 5.6%</c:v>
                </c:pt>
              </c:strCache>
            </c:strRef>
          </c:tx>
          <c:spPr>
            <a:solidFill>
              <a:srgbClr val="CFF7E1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{"0407A02","0627A05","0701A05","0627A01","0702A04"}</c:f>
              <c:strCache>
                <c:ptCount val="5"/>
                <c:pt idx="0">
                  <c:v>0407A02</c:v>
                </c:pt>
                <c:pt idx="1">
                  <c:v>0627A05</c:v>
                </c:pt>
                <c:pt idx="2">
                  <c:v>0701A05</c:v>
                </c:pt>
                <c:pt idx="3">
                  <c:v>0627A01</c:v>
                </c:pt>
                <c:pt idx="4">
                  <c:v>0702A04</c:v>
                </c:pt>
              </c:strCache>
            </c:strRef>
          </c:cat>
          <c:val>
            <c:numRef>
              <c:f>{5.6,5.6,5.6,5.6,5.6}</c:f>
              <c:numCache>
                <c:formatCode>0.0</c:formatCode>
                <c:ptCount val="5"/>
                <c:pt idx="0">
                  <c:v>5.6</c:v>
                </c:pt>
                <c:pt idx="1">
                  <c:v>5.6</c:v>
                </c:pt>
                <c:pt idx="2">
                  <c:v>5.6</c:v>
                </c:pt>
                <c:pt idx="3">
                  <c:v>5.6</c:v>
                </c:pt>
                <c:pt idx="4">
                  <c:v>5.6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4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.2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75" b="1">
                    <a:solidFill>
                      <a:srgbClr val="4B5563"/>
                    </a:solidFill>
                  </a:rPr>
                  <a:t>CV (%)</a:t>
                </a:r>
                <a:endParaRPr sz="675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75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f9648a5-04fd-4a47-9b75-f3bb59571ed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00A86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{0.44,0.54,0.42,0.54,0.35}</c:f>
              <c:numCache>
                <c:formatCode>0.0</c:formatCode>
                <c:ptCount val="5"/>
                <c:pt idx="0">
                  <c:v>0.44</c:v>
                </c:pt>
                <c:pt idx="1">
                  <c:v>0.54</c:v>
                </c:pt>
                <c:pt idx="2">
                  <c:v>0.42</c:v>
                </c:pt>
                <c:pt idx="3">
                  <c:v>0.54</c:v>
                </c:pt>
                <c:pt idx="4">
                  <c:v>0.35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{0.76,1.01,0.73,3,0.71}</c:f>
              <c:numCache>
                <c:formatCode>0.0</c:formatCode>
                <c:ptCount val="5"/>
                <c:pt idx="0">
                  <c:v>0.76</c:v>
                </c:pt>
                <c:pt idx="1">
                  <c:v>1.01</c:v>
                </c:pt>
                <c:pt idx="2">
                  <c:v>0.73</c:v>
                </c:pt>
                <c:pt idx="3">
                  <c:v>3</c:v>
                </c:pt>
                <c:pt idx="4">
                  <c:v>0.71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040a02a-b1d4-41c8-ab23-c53039712db7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4285F4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{0.36,0.86,0.53,0.36,0.56}</c:f>
              <c:numCache>
                <c:formatCode>0.0</c:formatCode>
                <c:ptCount val="5"/>
                <c:pt idx="0">
                  <c:v>0.36</c:v>
                </c:pt>
                <c:pt idx="1">
                  <c:v>0.86</c:v>
                </c:pt>
                <c:pt idx="2">
                  <c:v>0.53</c:v>
                </c:pt>
                <c:pt idx="3">
                  <c:v>0.36</c:v>
                </c:pt>
                <c:pt idx="4">
                  <c:v>0.56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{0.67,3.04,0.76,0.99,0.8}</c:f>
              <c:numCache>
                <c:formatCode>0.0</c:formatCode>
                <c:ptCount val="5"/>
                <c:pt idx="0">
                  <c:v>0.67</c:v>
                </c:pt>
                <c:pt idx="1">
                  <c:v>3.04</c:v>
                </c:pt>
                <c:pt idx="2">
                  <c:v>0.76</c:v>
                </c:pt>
                <c:pt idx="3">
                  <c:v>0.99</c:v>
                </c:pt>
                <c:pt idx="4">
                  <c:v>0.8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18618d5-7430-4fec-aa17-f68fd5d03961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7C3AED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{0.42,0.69,0.47,0.41,0.37}</c:f>
              <c:numCache>
                <c:formatCode>0.0</c:formatCode>
                <c:ptCount val="5"/>
                <c:pt idx="0">
                  <c:v>0.42</c:v>
                </c:pt>
                <c:pt idx="1">
                  <c:v>0.69</c:v>
                </c:pt>
                <c:pt idx="2">
                  <c:v>0.47</c:v>
                </c:pt>
                <c:pt idx="3">
                  <c:v>0.41</c:v>
                </c:pt>
                <c:pt idx="4">
                  <c:v>0.37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{0.62,2.57,0.87,0.68,0.72}</c:f>
              <c:numCache>
                <c:formatCode>0.0</c:formatCode>
                <c:ptCount val="5"/>
                <c:pt idx="0">
                  <c:v>0.62</c:v>
                </c:pt>
                <c:pt idx="1">
                  <c:v>2.57</c:v>
                </c:pt>
                <c:pt idx="2">
                  <c:v>0.87</c:v>
                </c:pt>
                <c:pt idx="3">
                  <c:v>0.68</c:v>
                </c:pt>
                <c:pt idx="4">
                  <c:v>0.72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4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119aaa7-ac95-4e3a-94fd-cb8c6cc0ba6f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0891B2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{0.49,0.72,0.5,0.35,0.38}</c:f>
              <c:numCache>
                <c:formatCode>0.0</c:formatCode>
                <c:ptCount val="5"/>
                <c:pt idx="0">
                  <c:v>0.49</c:v>
                </c:pt>
                <c:pt idx="1">
                  <c:v>0.72</c:v>
                </c:pt>
                <c:pt idx="2">
                  <c:v>0.5</c:v>
                </c:pt>
                <c:pt idx="3">
                  <c:v>0.35</c:v>
                </c:pt>
                <c:pt idx="4">
                  <c:v>0.38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{0.81,1.15,0.63,0.66,0.54}</c:f>
              <c:numCache>
                <c:formatCode>0.0</c:formatCode>
                <c:ptCount val="5"/>
                <c:pt idx="0">
                  <c:v>0.81</c:v>
                </c:pt>
                <c:pt idx="1">
                  <c:v>1.15</c:v>
                </c:pt>
                <c:pt idx="2">
                  <c:v>0.63</c:v>
                </c:pt>
                <c:pt idx="3">
                  <c:v>0.66</c:v>
                </c:pt>
                <c:pt idx="4">
                  <c:v>0.54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3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b21e640-c1d2-4d85-aa34-e794c2b44ddb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Overall CV</c:f>
              <c:strCache>
                <c:ptCount val="1"/>
                <c:pt idx="0">
                  <c:v>Overall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circle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{0.47,0.64,0.45,0.44,0.37}</c:f>
              <c:numCache>
                <c:formatCode>0.0</c:formatCode>
                <c:ptCount val="5"/>
                <c:pt idx="0">
                  <c:v>0.47</c:v>
                </c:pt>
                <c:pt idx="1">
                  <c:v>0.64</c:v>
                </c:pt>
                <c:pt idx="2">
                  <c:v>0.45</c:v>
                </c:pt>
                <c:pt idx="3">
                  <c:v>0.44</c:v>
                </c:pt>
                <c:pt idx="4">
                  <c:v>0.37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Worst-channel CV</c:f>
              <c:strCache>
                <c:ptCount val="1"/>
                <c:pt idx="0">
                  <c:v>Worst-channel CV</c:v>
                </c:pt>
              </c:strCache>
            </c:strRef>
          </c:tx>
          <c:spPr>
            <a:ln w="23813" cap="rnd">
              <a:solidFill>
                <a:srgbClr val="F59E0B"/>
              </a:solidFill>
              <a:prstDash val="solid"/>
              <a:round/>
            </a:ln>
          </c:spPr>
          <c:marker>
            <c:symbol val="diamond"/>
            <c:size val="5"/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{"0%","100%","200%","315%","392%"}</c:f>
              <c:strCache>
                <c:ptCount val="5"/>
                <c:pt idx="0">
                  <c:v>0%</c:v>
                </c:pt>
                <c:pt idx="1">
                  <c:v>100%</c:v>
                </c:pt>
                <c:pt idx="2">
                  <c:v>200%</c:v>
                </c:pt>
                <c:pt idx="3">
                  <c:v>315%</c:v>
                </c:pt>
                <c:pt idx="4">
                  <c:v>392%</c:v>
                </c:pt>
              </c:strCache>
            </c:strRef>
          </c:cat>
          <c:val>
            <c:numRef>
              <c:f>{0.72,0.82,0.78,1.92,0.61}</c:f>
              <c:numCache>
                <c:formatCode>0.0</c:formatCode>
                <c:ptCount val="5"/>
                <c:pt idx="0">
                  <c:v>0.72</c:v>
                </c:pt>
                <c:pt idx="1">
                  <c:v>0.82</c:v>
                </c:pt>
                <c:pt idx="2">
                  <c:v>0.78</c:v>
                </c:pt>
                <c:pt idx="3">
                  <c:v>1.92</c:v>
                </c:pt>
                <c:pt idx="4">
                  <c:v>0.61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.3"/>
        </c:scaling>
        <c:delete val="0"/>
        <c:axPos val="l"/>
        <c:majorGridlines>
          <c:spPr>
            <a:ln w="9525">
              <a:solidFill>
                <a:srgbClr val="D7E6EF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600" b="1">
                    <a:solidFill>
                      <a:srgbClr val="4B5563"/>
                    </a:solidFill>
                  </a:rPr>
                  <a:t>CV (%)</a:t>
                </a:r>
                <a:endParaRPr sz="600" b="1">
                  <a:solidFill>
                    <a:srgbClr val="4B5563"/>
                  </a:solidFill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600" b="0" i="0" u="none" strike="noStrike" kern="1200" baseline="0">
                <a:solidFill>
                  <a:srgbClr val="4B5563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600" b="0" i="0" u="none" strike="noStrike" kern="1200" baseline="0">
              <a:solidFill>
                <a:srgbClr val="4B5563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f06ab86-09be-4653-8a88-cc31488716e9}"/>
      </c:ext>
    </c:extLst>
  </c:chart>
  <c:spPr>
    <a:solidFill>
      <a:srgbClr val="FFFFFF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"/>
        <p:cNvGrpSpPr/>
        <p:nvPr/>
      </p:nvGrpSpPr>
      <p:grpSpPr/>
      <p:sp>
        <p:nvSpPr>
          <p:cNvPr id="10" name="Google Shape;10;p2"/>
          <p:cNvSpPr>
            <a:spLocks noGrp="1"/>
          </p:cNvSpPr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>
            <a:spLocks noGrp="1"/>
          </p:cNvSpPr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3" name="Google Shape;13;p2"/>
          <p:cNvSpPr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"/>
        <p:cNvGrpSpPr/>
        <p:nvPr/>
      </p:nvGrpSpPr>
      <p:grpSpPr/>
      <p:sp>
        <p:nvSpPr>
          <p:cNvPr id="16" name="Google Shape;16;p3"/>
          <p:cNvSpPr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/>
        </p:txBody>
      </p:sp>
      <p:sp>
        <p:nvSpPr>
          <p:cNvPr id="17" name="Google Shape;17;p3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/>
      <p:sp>
        <p:nvSpPr>
          <p:cNvPr id="19" name="Google Shape;19;p4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4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4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" name="Google Shape;22;p4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23" name="Google Shape;23;p4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/>
      <p:sp>
        <p:nvSpPr>
          <p:cNvPr id="25" name="Google Shape;25;p5"/>
          <p:cNvSpPr>
            <a:spLocks noGrp="1"/>
          </p:cNvSpPr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" name="Google Shape;26;p5"/>
          <p:cNvSpPr>
            <a:spLocks noGrp="1"/>
          </p:cNvSpPr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8" name="Google Shape;28;p5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"/>
        <p:cNvGrpSpPr/>
        <p:nvPr/>
      </p:nvGrpSpPr>
      <p:grpSpPr/>
      <p:sp>
        <p:nvSpPr>
          <p:cNvPr id="32" name="Google Shape;32;p6"/>
          <p:cNvSpPr>
            <a:spLocks noGrp="1"/>
          </p:cNvSpPr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" name="Google Shape;33;p6"/>
          <p:cNvSpPr>
            <a:spLocks noGrp="1"/>
          </p:cNvSpPr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6"/>
          <p:cNvSpPr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5" name="Google Shape;35;p6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/>
      <p:sp>
        <p:nvSpPr>
          <p:cNvPr id="37" name="Google Shape;37;p7"/>
          <p:cNvSpPr>
            <a:spLocks noGrp="1"/>
          </p:cNvSpPr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" name="Google Shape;38;p7"/>
          <p:cNvSpPr>
            <a:spLocks noGrp="1"/>
          </p:cNvSpPr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7"/>
          <p:cNvSpPr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40" name="Google Shape;40;p7"/>
          <p:cNvSpPr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lt1"/>
                </a:solidFill>
              </a:defRPr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lt1"/>
                </a:solidFill>
              </a:defRPr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/>
      <p:sp>
        <p:nvSpPr>
          <p:cNvPr id="43" name="Google Shape;43;p8"/>
          <p:cNvSpPr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44" name="Google Shape;44;p8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/>
      <p:sp>
        <p:nvSpPr>
          <p:cNvPr id="46" name="Google Shape;46;p9"/>
          <p:cNvSpPr>
            <a:spLocks noGrp="1"/>
          </p:cNvSpPr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9"/>
          <p:cNvSpPr>
            <a:spLocks noGrp="1"/>
          </p:cNvSpPr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" name="Google Shape;48;p9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/>
        </p:txBody>
      </p:sp>
      <p:sp>
        <p:nvSpPr>
          <p:cNvPr id="50" name="Google Shape;50;p9"/>
          <p:cNvSpPr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1"/>
                </a:solidFill>
              </a:defRPr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1"/>
                </a:solidFill>
              </a:defRPr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/>
      <p:sp>
        <p:nvSpPr>
          <p:cNvPr id="53" name="Google Shape;53;p10"/>
          <p:cNvSpPr>
            <a:spLocks noGrp="1"/>
          </p:cNvSpPr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0"/>
          <p:cNvSpPr>
            <a:spLocks noGrp="1"/>
          </p:cNvSpPr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0"/>
          <p:cNvSpPr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>
                <a:solidFill>
                  <a:schemeClr val="lt1"/>
                </a:solidFill>
              </a:defRPr>
            </a:lvl1pPr>
            <a:lvl2pPr>
              <a:buNone/>
              <a:defRPr>
                <a:solidFill>
                  <a:schemeClr val="lt1"/>
                </a:solidFill>
              </a:defRPr>
            </a:lvl2pPr>
            <a:lvl3pPr>
              <a:buNone/>
              <a:defRPr>
                <a:solidFill>
                  <a:schemeClr val="lt1"/>
                </a:solidFill>
              </a:defRPr>
            </a:lvl3pPr>
            <a:lvl4pPr>
              <a:buNone/>
              <a:defRPr>
                <a:solidFill>
                  <a:schemeClr val="lt1"/>
                </a:solidFill>
              </a:defRPr>
            </a:lvl4pPr>
            <a:lvl5pPr>
              <a:buNone/>
              <a:defRPr>
                <a:solidFill>
                  <a:schemeClr val="lt1"/>
                </a:solidFill>
              </a:defRPr>
            </a:lvl5pPr>
            <a:lvl6pPr>
              <a:buNone/>
              <a:defRPr>
                <a:solidFill>
                  <a:schemeClr val="lt1"/>
                </a:solidFill>
              </a:defRPr>
            </a:lvl6pPr>
            <a:lvl7pPr>
              <a:buNone/>
              <a:defRPr>
                <a:solidFill>
                  <a:schemeClr val="lt1"/>
                </a:solidFill>
              </a:defRPr>
            </a:lvl7pPr>
            <a:lvl8pPr>
              <a:buNone/>
              <a:defRPr>
                <a:solidFill>
                  <a:schemeClr val="lt1"/>
                </a:solidFill>
              </a:defRPr>
            </a:lvl8pPr>
            <a:lvl9pPr>
              <a:buNone/>
              <a:defRPr>
                <a:solidFill>
                  <a:schemeClr val="lt1"/>
                </a:solidFill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Google Shape;58;p11"/>
          <p:cNvSpPr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/>
        </p:txBody>
      </p:sp>
      <p:sp>
        <p:nvSpPr>
          <p:cNvPr id="60" name="Google Shape;60;p1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" name="Google Shape;62;p12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" name="Google Shape;64;p13"/>
          <p:cNvSpPr>
            <a:spLocks noGrp="1"/>
          </p:cNvSpPr>
          <p:nvPr/>
        </p:nvSpPr>
        <p:spPr>
          <a:xfrm>
            <a:off x="3147875" y="-7225"/>
            <a:ext cx="5992800" cy="113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13"/>
          <p:cNvSpPr>
            <a:spLocks noGrp="1"/>
          </p:cNvSpPr>
          <p:nvPr>
            <p:ph type="pic" idx="2"/>
          </p:nvPr>
        </p:nvSpPr>
        <p:spPr>
          <a:xfrm>
            <a:off x="-3325" y="-7225"/>
            <a:ext cx="3151200" cy="51507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3"/>
          <p:cNvSpPr>
            <a:spLocks noGrp="1"/>
          </p:cNvSpPr>
          <p:nvPr>
            <p:ph type="title"/>
          </p:nvPr>
        </p:nvSpPr>
        <p:spPr>
          <a:xfrm>
            <a:off x="3804125" y="1709775"/>
            <a:ext cx="4657200" cy="15582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600">
                <a:latin typeface="Public Sans"/>
                <a:ea typeface="Public Sans"/>
                <a:cs typeface="Public Sans"/>
              </a:defRPr>
            </a:lvl9pPr>
          </a:lstStyle>
          <a:p/>
        </p:txBody>
      </p:sp>
      <p:sp>
        <p:nvSpPr>
          <p:cNvPr id="67" name="Google Shape;67;p13"/>
          <p:cNvSpPr>
            <a:spLocks noGrp="1"/>
          </p:cNvSpPr>
          <p:nvPr>
            <p:ph type="subTitle" idx="1"/>
          </p:nvPr>
        </p:nvSpPr>
        <p:spPr>
          <a:xfrm>
            <a:off x="3804125" y="3562650"/>
            <a:ext cx="35271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68" name="Google Shape;68;p13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3807449" y="373242"/>
            <a:ext cx="1338752" cy="373266"/>
          </a:xfrm>
          <a:prstGeom prst="rect">
            <a:avLst/>
          </a:prstGeom>
          <a:ln>
            <a:noFill/>
          </a:ln>
        </p:spPr>
      </p:pic>
      <p:sp>
        <p:nvSpPr>
          <p:cNvPr id="69" name="Google Shape;69;p13"/>
          <p:cNvSpPr>
            <a:spLocks noGrp="1"/>
          </p:cNvSpPr>
          <p:nvPr>
            <p:ph type="subTitle" idx="3"/>
          </p:nvPr>
        </p:nvSpPr>
        <p:spPr>
          <a:xfrm>
            <a:off x="3807450" y="4231250"/>
            <a:ext cx="3119100" cy="2280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cxnSp>
        <p:nvCxnSpPr>
          <p:cNvPr id="70" name="Google Shape;70;p13"/>
          <p:cNvCxnSpPr/>
          <p:nvPr/>
        </p:nvCxnSpPr>
        <p:spPr>
          <a:xfrm>
            <a:off x="3804125" y="1553188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Option 2">
  <p:cSld name="CUSTOM_3_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2" name="Google Shape;72;p14"/>
          <p:cNvSpPr>
            <a:spLocks noGrp="1"/>
          </p:cNvSpPr>
          <p:nvPr/>
        </p:nvSpPr>
        <p:spPr>
          <a:xfrm>
            <a:off x="0" y="-7225"/>
            <a:ext cx="9144000" cy="51507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3" name="Google Shape;73;p14"/>
          <p:cNvSpPr>
            <a:spLocks noGrp="1"/>
          </p:cNvSpPr>
          <p:nvPr>
            <p:ph type="title"/>
          </p:nvPr>
        </p:nvSpPr>
        <p:spPr>
          <a:xfrm>
            <a:off x="659575" y="1810950"/>
            <a:ext cx="5355900" cy="1521600"/>
          </a:xfrm>
          <a:prstGeom prst="rect">
            <a:avLst/>
          </a:prstGeom>
        </p:spPr>
        <p:txBody>
          <a:bodyPr spcFirstLastPara="1" wrap="square" lIns="91425" tIns="91425" rIns="91425" bIns="91425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4"/>
          <p:cNvSpPr>
            <a:spLocks noGrp="1"/>
          </p:cNvSpPr>
          <p:nvPr>
            <p:ph type="subTitle" idx="1"/>
          </p:nvPr>
        </p:nvSpPr>
        <p:spPr>
          <a:xfrm>
            <a:off x="659575" y="4008175"/>
            <a:ext cx="2469900" cy="450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sp>
        <p:nvSpPr>
          <p:cNvPr id="75" name="Google Shape;75;p14"/>
          <p:cNvSpPr>
            <a:spLocks noGrp="1"/>
          </p:cNvSpPr>
          <p:nvPr>
            <p:ph type="subTitle" idx="2"/>
          </p:nvPr>
        </p:nvSpPr>
        <p:spPr>
          <a:xfrm>
            <a:off x="3344675" y="4041205"/>
            <a:ext cx="1791000" cy="4179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76" name="Google Shape;76;p14"/>
          <p:cNvCxnSpPr/>
          <p:nvPr/>
        </p:nvCxnSpPr>
        <p:spPr>
          <a:xfrm>
            <a:off x="682300" y="1629963"/>
            <a:ext cx="462900" cy="0"/>
          </a:xfrm>
          <a:prstGeom prst="straightConnector1">
            <a:avLst/>
          </a:prstGeom>
          <a:ln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" name="Google Shape;77;p14"/>
          <p:cNvSpPr>
            <a:spLocks noGrp="1"/>
          </p:cNvSpPr>
          <p:nvPr>
            <p:ph type="subTitle" idx="3"/>
          </p:nvPr>
        </p:nvSpPr>
        <p:spPr>
          <a:xfrm>
            <a:off x="682300" y="1313400"/>
            <a:ext cx="1155600" cy="1356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lt2"/>
                </a:solidFill>
                <a:latin typeface="Public Sans SemiBold"/>
                <a:ea typeface="Public Sans SemiBold"/>
                <a:cs typeface="Public Sans SemiBold"/>
              </a:defRPr>
            </a:lvl9pPr>
          </a:lstStyle>
          <a:p/>
        </p:txBody>
      </p:sp>
      <p:pic>
        <p:nvPicPr>
          <p:cNvPr id="78" name="Google Shape;78;p14"/>
          <p:cNvPicPr>
            <a:picLocks noChangeAspect="1"/>
          </p:cNvPicPr>
          <p:nvPr/>
        </p:nvPicPr>
        <p:blipFill rotWithShape="1">
          <a:blip r:embed="rId2"/>
          <a:srcRect r="10"/>
          <a:stretch>
            <a:fillRect/>
          </a:stretch>
        </p:blipFill>
        <p:spPr>
          <a:xfrm>
            <a:off x="7335754" y="313824"/>
            <a:ext cx="1125551" cy="313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86" name="Google Shape;86;p16"/>
          <p:cNvSpPr>
            <a:spLocks noGrp="1"/>
          </p:cNvSpPr>
          <p:nvPr>
            <p:ph type="ctrTitle"/>
          </p:nvPr>
        </p:nvSpPr>
        <p:spPr>
          <a:xfrm>
            <a:off x="899100" y="685800"/>
            <a:ext cx="7349400" cy="1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6"/>
          <p:cNvSpPr>
            <a:spLocks noGrp="1"/>
          </p:cNvSpPr>
          <p:nvPr>
            <p:ph type="subTitle" idx="1"/>
          </p:nvPr>
        </p:nvSpPr>
        <p:spPr>
          <a:xfrm>
            <a:off x="899100" y="2670300"/>
            <a:ext cx="7349400" cy="11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88" name="Google Shape;88;p1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9" name="Google Shape;89;p1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0" name="Google Shape;90;p1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92" name="Google Shape;92;p17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17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94" name="Google Shape;94;p17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17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17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98" name="Google Shape;98;p18"/>
          <p:cNvSpPr>
            <a:spLocks noGrp="1"/>
          </p:cNvSpPr>
          <p:nvPr>
            <p:ph type="title"/>
          </p:nvPr>
        </p:nvSpPr>
        <p:spPr>
          <a:xfrm>
            <a:off x="1493100" y="2886300"/>
            <a:ext cx="58266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3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18"/>
          <p:cNvSpPr>
            <a:spLocks noGrp="1"/>
          </p:cNvSpPr>
          <p:nvPr>
            <p:ph type="body" idx="1"/>
          </p:nvPr>
        </p:nvSpPr>
        <p:spPr>
          <a:xfrm>
            <a:off x="1493100" y="3461400"/>
            <a:ext cx="5826600" cy="6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595959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8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18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18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104" name="Google Shape;104;p19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5" name="Google Shape;105;p19"/>
          <p:cNvSpPr>
            <a:spLocks noGrp="1"/>
          </p:cNvSpPr>
          <p:nvPr>
            <p:ph type="body" idx="1"/>
          </p:nvPr>
        </p:nvSpPr>
        <p:spPr>
          <a:xfrm>
            <a:off x="4563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6" name="Google Shape;106;p19"/>
          <p:cNvSpPr>
            <a:spLocks noGrp="1"/>
          </p:cNvSpPr>
          <p:nvPr>
            <p:ph type="body" idx="2"/>
          </p:nvPr>
        </p:nvSpPr>
        <p:spPr>
          <a:xfrm>
            <a:off x="4808700" y="1125900"/>
            <a:ext cx="3882600" cy="3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07" name="Google Shape;107;p19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8" name="Google Shape;108;p19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9" name="Google Shape;109;p19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111" name="Google Shape;111;p20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2" name="Google Shape;112;p20"/>
          <p:cNvSpPr>
            <a:spLocks noGrp="1"/>
          </p:cNvSpPr>
          <p:nvPr>
            <p:ph type="body" idx="1"/>
          </p:nvPr>
        </p:nvSpPr>
        <p:spPr>
          <a:xfrm>
            <a:off x="456300" y="1071900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3" name="Google Shape;113;p20"/>
          <p:cNvSpPr>
            <a:spLocks noGrp="1"/>
          </p:cNvSpPr>
          <p:nvPr>
            <p:ph type="body" idx="2"/>
          </p:nvPr>
        </p:nvSpPr>
        <p:spPr>
          <a:xfrm>
            <a:off x="456300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4" name="Google Shape;114;p20"/>
          <p:cNvSpPr>
            <a:spLocks noGrp="1"/>
          </p:cNvSpPr>
          <p:nvPr>
            <p:ph type="body" idx="3"/>
          </p:nvPr>
        </p:nvSpPr>
        <p:spPr>
          <a:xfrm>
            <a:off x="4676813" y="1066297"/>
            <a:ext cx="4006800" cy="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28575" rIns="57150" bIns="28575" anchor="t">
            <a:normAutofit/>
          </a:bodyPr>
          <a:lstStyle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3F3F3F"/>
                </a:solidFill>
              </a:defRPr>
            </a:lvl1pPr>
            <a:lvl2pPr marL="914400" indent="-2286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/>
        </p:txBody>
      </p:sp>
      <p:sp>
        <p:nvSpPr>
          <p:cNvPr id="115" name="Google Shape;115;p20"/>
          <p:cNvSpPr>
            <a:spLocks noGrp="1"/>
          </p:cNvSpPr>
          <p:nvPr>
            <p:ph type="body" idx="4"/>
          </p:nvPr>
        </p:nvSpPr>
        <p:spPr>
          <a:xfrm>
            <a:off x="4676813" y="1390500"/>
            <a:ext cx="4006800" cy="3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61925" bIns="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16" name="Google Shape;116;p20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7" name="Google Shape;117;p20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8" name="Google Shape;118;p20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120" name="Google Shape;120;p21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1" name="Google Shape;121;p21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2" name="Google Shape;122;p21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1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125" name="Google Shape;125;p22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6" name="Google Shape;126;p22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7" name="Google Shape;127;p22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>
  <p:cSld name="图片与标题">
    <p:spTree>
      <p:nvGrpSpPr>
        <p:cNvPr id="1" name=""/>
        <p:cNvGrpSpPr/>
        <p:nvPr/>
      </p:nvGrpSpPr>
      <p:grpSpPr/>
      <p:sp>
        <p:nvSpPr>
          <p:cNvPr id="129" name="Google Shape;129;p23"/>
          <p:cNvSpPr>
            <a:spLocks noGrp="1"/>
          </p:cNvSpPr>
          <p:nvPr>
            <p:ph type="pic" idx="2"/>
          </p:nvPr>
        </p:nvSpPr>
        <p:spPr>
          <a:xfrm>
            <a:off x="456247" y="1166336"/>
            <a:ext cx="3924600" cy="3456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3"/>
          <p:cNvSpPr>
            <a:spLocks noGrp="1"/>
          </p:cNvSpPr>
          <p:nvPr>
            <p:ph type="body" idx="1"/>
          </p:nvPr>
        </p:nvSpPr>
        <p:spPr>
          <a:xfrm>
            <a:off x="4762800" y="1166400"/>
            <a:ext cx="39204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1" name="Google Shape;131;p23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2" name="Google Shape;132;p23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3" name="Google Shape;133;p23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34" name="Google Shape;134;p23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3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137" name="Google Shape;137;p24"/>
          <p:cNvSpPr>
            <a:spLocks noGrp="1"/>
          </p:cNvSpPr>
          <p:nvPr>
            <p:ph type="title"/>
          </p:nvPr>
        </p:nvSpPr>
        <p:spPr>
          <a:xfrm rot="5400000">
            <a:off x="6181650" y="2180250"/>
            <a:ext cx="3771900" cy="7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8" name="Google Shape;138;p24"/>
          <p:cNvSpPr>
            <a:spLocks noGrp="1"/>
          </p:cNvSpPr>
          <p:nvPr>
            <p:ph type="body" idx="1"/>
          </p:nvPr>
        </p:nvSpPr>
        <p:spPr>
          <a:xfrm rot="5400000">
            <a:off x="2238300" y="-866700"/>
            <a:ext cx="3771900" cy="68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100" tIns="35100" rIns="351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sp>
        <p:nvSpPr>
          <p:cNvPr id="139" name="Google Shape;139;p24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4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4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pic>
        <p:nvPicPr>
          <p:cNvPr id="142" name="Google Shape;142;p24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"/>
        <p:cNvGrpSpPr/>
        <p:nvPr/>
      </p:nvGrpSpPr>
      <p:grpSpPr/>
      <p:sp>
        <p:nvSpPr>
          <p:cNvPr id="144" name="Google Shape;144;p2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5" name="Google Shape;145;p2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6" name="Google Shape;146;p2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47" name="Google Shape;147;p25"/>
          <p:cNvSpPr>
            <a:spLocks noGrp="1"/>
          </p:cNvSpPr>
          <p:nvPr>
            <p:ph type="body" idx="1"/>
          </p:nvPr>
        </p:nvSpPr>
        <p:spPr>
          <a:xfrm>
            <a:off x="456300" y="580500"/>
            <a:ext cx="8229600" cy="41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48" name="Google Shape;148;p25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末尾幻灯片">
  <p:cSld name="末尾幻灯片">
    <p:spTree>
      <p:nvGrpSpPr>
        <p:cNvPr id="1" name=""/>
        <p:cNvGrpSpPr/>
        <p:nvPr/>
      </p:nvGrpSpPr>
      <p:grpSpPr/>
      <p:sp>
        <p:nvSpPr>
          <p:cNvPr id="150" name="Google Shape;150;p26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1" name="Google Shape;151;p26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2" name="Google Shape;152;p26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sp>
        <p:nvSpPr>
          <p:cNvPr id="153" name="Google Shape;153;p26"/>
          <p:cNvSpPr>
            <a:spLocks noGrp="1"/>
          </p:cNvSpPr>
          <p:nvPr>
            <p:ph type="title"/>
          </p:nvPr>
        </p:nvSpPr>
        <p:spPr>
          <a:xfrm>
            <a:off x="899100" y="1863000"/>
            <a:ext cx="7349400" cy="7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4" name="Google Shape;154;p26"/>
          <p:cNvSpPr>
            <a:spLocks noGrp="1"/>
          </p:cNvSpPr>
          <p:nvPr>
            <p:ph type="body" idx="1"/>
          </p:nvPr>
        </p:nvSpPr>
        <p:spPr>
          <a:xfrm>
            <a:off x="899100" y="2670300"/>
            <a:ext cx="7349400" cy="3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914400" indent="-3175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/>
            </a:lvl2pPr>
            <a:lvl3pPr marL="13716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/>
            </a:lvl3pPr>
            <a:lvl4pPr marL="1828800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/>
        </p:txBody>
      </p:sp>
      <p:pic>
        <p:nvPicPr>
          <p:cNvPr id="155" name="Google Shape;155;p26"/>
          <p:cNvPicPr>
            <a:picLocks noChangeAspect="1"/>
          </p:cNvPicPr>
          <p:nvPr/>
        </p:nvPicPr>
        <p:blipFill rotWithShape="1">
          <a:blip r:embed="rId2">
            <a:alphaModFix amt="12000"/>
          </a:blip>
          <a:srcRect/>
          <a:stretch>
            <a:fillRect/>
          </a:stretch>
        </p:blipFill>
        <p:spPr>
          <a:xfrm rot="6359999">
            <a:off x="5222411" y="1096804"/>
            <a:ext cx="4736305" cy="412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"/>
        <p:cNvGrpSpPr/>
        <p:nvPr/>
      </p:nvGrpSpPr>
      <p:grpSpPr/>
      <p:sp>
        <p:nvSpPr>
          <p:cNvPr id="157" name="Google Shape;157;p27"/>
          <p:cNvSpPr>
            <a:spLocks noGrp="1"/>
          </p:cNvSpPr>
          <p:nvPr>
            <p:ph type="sldNum" idx="12"/>
          </p:nvPr>
        </p:nvSpPr>
        <p:spPr>
          <a:xfrm>
            <a:off x="8353559" y="4632722"/>
            <a:ext cx="504600" cy="5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3pPr>
            <a:lvl4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4pPr>
            <a:lvl5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5pPr>
            <a:lvl6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6pPr>
            <a:lvl7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7pPr>
            <a:lvl8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8pPr>
            <a:lvl9pPr marL="0" indent="0" algn="r">
              <a:spcBef>
                <a:spcPts val="0"/>
              </a:spcBef>
              <a:spcAft>
                <a:spcPts val="0"/>
              </a:spcAft>
              <a:buNone/>
              <a:defRPr sz="700" b="0" i="0" u="none" cap="none">
                <a:solidFill>
                  <a:schemeClr val="accent1"/>
                </a:solidFill>
                <a:latin typeface="Nunito Sans Light"/>
                <a:ea typeface="Nunito Sans Light"/>
                <a:cs typeface="Nunito Sans Light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  <p:cxnSp>
        <p:nvCxnSpPr>
          <p:cNvPr id="158" name="Google Shape;158;p27"/>
          <p:cNvCxnSpPr/>
          <p:nvPr/>
        </p:nvCxnSpPr>
        <p:spPr>
          <a:xfrm>
            <a:off x="457200" y="528712"/>
            <a:ext cx="685800" cy="0"/>
          </a:xfrm>
          <a:prstGeom prst="straightConnector1">
            <a:avLst/>
          </a:prstGeom>
          <a:ln w="38100" cap="flat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159" name="Google Shape;159;p27"/>
          <p:cNvSpPr>
            <a:spLocks noGrp="1"/>
          </p:cNvSpPr>
          <p:nvPr>
            <p:ph type="title"/>
          </p:nvPr>
        </p:nvSpPr>
        <p:spPr>
          <a:xfrm>
            <a:off x="457201" y="699165"/>
            <a:ext cx="7543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Nunito Sans Light"/>
                <a:ea typeface="Nunito Sans Light"/>
                <a:cs typeface="Nunito Sans Ligh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Google Shape;6;p1"/>
          <p:cNvSpPr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7" name="Google Shape;7;p1"/>
          <p:cNvSpPr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/>
        </p:txBody>
      </p:sp>
      <p:sp>
        <p:nvSpPr>
          <p:cNvPr id="8" name="Google Shape;8;p1"/>
          <p:cNvSpPr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1pPr>
            <a:lvl2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2pPr>
            <a:lvl3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3pPr>
            <a:lvl4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4pPr>
            <a:lvl5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5pPr>
            <a:lvl6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6pPr>
            <a:lvl7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7pPr>
            <a:lvl8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8pPr>
            <a:lvl9pPr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rgbClr val="E7F5FB"/>
            </a:gs>
          </a:gsLst>
          <a:lin ang="5400012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80" name="Google Shape;80;p15"/>
          <p:cNvSpPr>
            <a:spLocks noGrp="1"/>
          </p:cNvSpPr>
          <p:nvPr>
            <p:ph type="title"/>
          </p:nvPr>
        </p:nvSpPr>
        <p:spPr>
          <a:xfrm>
            <a:off x="456300" y="456300"/>
            <a:ext cx="82269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625" tIns="35225" rIns="67625" bIns="352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700" b="1" i="0" u="none" cap="none">
                <a:solidFill>
                  <a:srgbClr val="26262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81" name="Google Shape;81;p15"/>
          <p:cNvSpPr>
            <a:spLocks noGrp="1"/>
          </p:cNvSpPr>
          <p:nvPr>
            <p:ph type="body" idx="1"/>
          </p:nvPr>
        </p:nvSpPr>
        <p:spPr>
          <a:xfrm>
            <a:off x="456300" y="1117800"/>
            <a:ext cx="8226900" cy="3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t">
            <a:normAutofit/>
          </a:bodyPr>
          <a:lstStyle>
            <a:lvl1pPr marL="45720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914400" indent="-3048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1371600" indent="-30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●"/>
              <a:defRPr sz="12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1828800" indent="-2984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2286000" indent="-29845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har char="•"/>
              <a:defRPr sz="1100" b="0" i="0" u="none" cap="none">
                <a:solidFill>
                  <a:srgbClr val="59595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2" name="Google Shape;82;p15"/>
          <p:cNvSpPr>
            <a:spLocks noGrp="1"/>
          </p:cNvSpPr>
          <p:nvPr>
            <p:ph type="dt" idx="10"/>
          </p:nvPr>
        </p:nvSpPr>
        <p:spPr>
          <a:xfrm>
            <a:off x="4590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3" name="Google Shape;83;p15"/>
          <p:cNvSpPr>
            <a:spLocks noGrp="1"/>
          </p:cNvSpPr>
          <p:nvPr>
            <p:ph type="ftr" idx="11"/>
          </p:nvPr>
        </p:nvSpPr>
        <p:spPr>
          <a:xfrm>
            <a:off x="3087000" y="4735800"/>
            <a:ext cx="2970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/>
        </p:txBody>
      </p:sp>
      <p:sp>
        <p:nvSpPr>
          <p:cNvPr id="84" name="Google Shape;84;p15"/>
          <p:cNvSpPr>
            <a:spLocks noGrp="1"/>
          </p:cNvSpPr>
          <p:nvPr>
            <p:ph type="sldNum" idx="12"/>
          </p:nvPr>
        </p:nvSpPr>
        <p:spPr>
          <a:xfrm>
            <a:off x="6658200" y="4735800"/>
            <a:ext cx="2025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marL="0" indent="0" algn="r">
              <a:spcBef>
                <a:spcPts val="0"/>
              </a:spcBef>
              <a:buNone/>
              <a:defRPr sz="800" b="0" i="0" u="non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.png"/><Relationship Id="rId1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" name="Google Shape;167;p28"/>
          <p:cNvSpPr>
            <a:spLocks noGrp="1"/>
          </p:cNvSpPr>
          <p:nvPr>
            <p:ph type="ctrTitle"/>
          </p:nvPr>
        </p:nvSpPr>
        <p:spPr>
          <a:xfrm>
            <a:off x="3181350" y="1707900"/>
            <a:ext cx="5801400" cy="1182600"/>
          </a:xfrm>
          <a:prstGeom prst="rect">
            <a:avLst/>
          </a:prstGeom>
        </p:spPr>
        <p:txBody>
          <a:bodyPr spcFirstLastPara="1" wrap="square" lIns="91425" tIns="91425" rIns="91425" bIns="91425" anchor="b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P2HHV32 96CH LV Mold Seal Aging Test Report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68" name="Google Shape;168;p28"/>
          <p:cNvSpPr>
            <a:spLocks noGrp="1"/>
          </p:cNvSpPr>
          <p:nvPr>
            <p:ph type="subTitle" idx="1"/>
          </p:nvPr>
        </p:nvSpPr>
        <p:spPr>
          <a:xfrm>
            <a:off x="7023625" y="3748200"/>
            <a:ext cx="3054300" cy="494400"/>
          </a:xfrm>
          <a:prstGeom prst="rect">
            <a:avLst/>
          </a:prstGeom>
        </p:spPr>
        <p:txBody>
          <a:bodyPr spcFirstLastPara="1" wrap="square" lIns="91425" tIns="91425" rIns="91425" bIns="91425" anchor="t">
            <a:normAutofit fontScale="75714" lnSpcReduction="2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2026.06.15</a:t>
            </a:r>
            <a:endParaRPr sz="1350">
              <a:solidFill>
                <a:srgbClr val="FFFFFF"/>
              </a:solidFill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SZ ENG</a:t>
            </a:r>
            <a:endParaRPr sz="1350">
              <a:solidFill>
                <a:srgbClr val="FFFFFF"/>
              </a:solidFill>
            </a:endParaRPr>
          </a:p>
        </p:txBody>
      </p:sp>
      <p:pic>
        <p:nvPicPr>
          <p:cNvPr id="172" name="Google Shape;169;p28"/>
          <p:cNvPicPr>
            <a:picLocks noChangeAspect="1"/>
          </p:cNvPicPr>
          <p:nvPr>
            <p:ph type="pic" idx="2"/>
          </p:nvPr>
        </p:nvPicPr>
        <p:blipFill rotWithShape="1">
          <a:blip r:embed="rId1"/>
          <a:srcRect l="1393" r="65272" b="22654"/>
          <a:stretch>
            <a:fillRect/>
          </a:stretch>
        </p:blipFill>
        <p:spPr>
          <a:xfrm>
            <a:off x="0" y="0"/>
            <a:ext cx="3181348" cy="51435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Executive Summary: All 5 Mold Seal Pipettes Completed; PASS Recommended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9" name="矩形 218"/>
          <p:cNvSpPr>
            <a:spLocks noGrp="1"/>
          </p:cNvSpPr>
          <p:nvPr/>
        </p:nvSpPr>
        <p:spPr>
          <a:xfrm>
            <a:off x="6096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Total units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5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1" name="圆角矩形 220"/>
          <p:cNvSpPr>
            <a:spLocks noGrp="1"/>
          </p:cNvSpPr>
          <p:nvPr/>
        </p:nvSpPr>
        <p:spPr>
          <a:xfrm>
            <a:off x="21145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2" name="矩形 221"/>
          <p:cNvSpPr>
            <a:spLocks noGrp="1"/>
          </p:cNvSpPr>
          <p:nvPr/>
        </p:nvSpPr>
        <p:spPr>
          <a:xfrm>
            <a:off x="22288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Finish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22288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5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373380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384810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Stop / Fail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384810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5353050" y="12192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5467350" y="12954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5467350" y="14763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30" name="圆角矩形 229"/>
          <p:cNvSpPr>
            <a:spLocks noGrp="1"/>
          </p:cNvSpPr>
          <p:nvPr/>
        </p:nvSpPr>
        <p:spPr>
          <a:xfrm>
            <a:off x="495300" y="2038350"/>
            <a:ext cx="4953000" cy="200025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1" name="矩形 230"/>
          <p:cNvSpPr>
            <a:spLocks noGrp="1"/>
          </p:cNvSpPr>
          <p:nvPr/>
        </p:nvSpPr>
        <p:spPr>
          <a:xfrm>
            <a:off x="742950" y="22669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rPr sz="1200" b="1">
                <a:solidFill>
                  <a:srgbClr val="333333"/>
                </a:solidFill>
              </a:rPr>
              <a:t>Overall conclusion</a:t>
            </a:r>
            <a:endParaRPr sz="1200" b="1">
              <a:solidFill>
                <a:srgbClr val="333333"/>
              </a:solidFill>
            </a:endParaRPr>
          </a:p>
        </p:txBody>
      </p:sp>
      <p:sp>
        <p:nvSpPr>
          <p:cNvPr id="232" name="椭圆 231"/>
          <p:cNvSpPr>
            <a:spLocks noGrp="1"/>
          </p:cNvSpPr>
          <p:nvPr/>
        </p:nvSpPr>
        <p:spPr>
          <a:xfrm>
            <a:off x="781050" y="267652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3" name="矩形 232"/>
          <p:cNvSpPr>
            <a:spLocks noGrp="1"/>
          </p:cNvSpPr>
          <p:nvPr/>
        </p:nvSpPr>
        <p:spPr>
          <a:xfrm>
            <a:off x="971550" y="26289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All 5 units are marked Finish in the RD Lifetime detail sheet and reached 392% / 1,020,000 cycles.</a:t>
            </a:r>
            <a:endParaRPr sz="790">
              <a:solidFill>
                <a:srgbClr val="333333"/>
              </a:solidFill>
            </a:endParaRPr>
          </a:p>
        </p:txBody>
      </p:sp>
      <p:sp>
        <p:nvSpPr>
          <p:cNvPr id="234" name="椭圆 233"/>
          <p:cNvSpPr>
            <a:spLocks noGrp="1"/>
          </p:cNvSpPr>
          <p:nvPr/>
        </p:nvSpPr>
        <p:spPr>
          <a:xfrm>
            <a:off x="781050" y="3124200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5" name="矩形 234"/>
          <p:cNvSpPr>
            <a:spLocks noGrp="1"/>
          </p:cNvSpPr>
          <p:nvPr/>
        </p:nvSpPr>
        <p:spPr>
          <a:xfrm>
            <a:off x="971550" y="30765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All available 5 uL CV results are below the 4% QC and 5% customer limits; the maximum CV is 0.86% at 100% for 0627A05.</a:t>
            </a:r>
            <a:endParaRPr sz="790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781050" y="3571875"/>
            <a:ext cx="76200" cy="76200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971550" y="35242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90">
                <a:solidFill>
                  <a:srgbClr val="333333"/>
                </a:solidFill>
              </a:defRPr>
            </a:pPr>
            <a:r>
              <a:rPr sz="790">
                <a:solidFill>
                  <a:srgbClr val="333333"/>
                </a:solidFill>
              </a:rPr>
              <a:t>The maximum worst-channel CV is 3.04% at 100% for 0627A05, below the 5.6% QC and 7% customer limits.</a:t>
            </a:r>
            <a:endParaRPr sz="79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" name="Google Shape;212;p33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Status Check: Detail Sheet Shows Finish; Summary Sheet Still Needs Sync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graphicFrame>
        <p:nvGraphicFramePr>
          <p:cNvPr id="227" name="表格 226"/>
          <p:cNvGraphicFramePr/>
          <p:nvPr/>
        </p:nvGraphicFramePr>
        <p:xfrm>
          <a:off x="495300" y="1200150"/>
          <a:ext cx="8048625" cy="1952628"/>
        </p:xfrm>
        <a:graphic>
          <a:graphicData uri="http://schemas.openxmlformats.org/drawingml/2006/table">
            <a:tbl>
              <a:tblPr firstRow="1" bandRow="1"/>
              <a:tblGrid>
                <a:gridCol w="2171700"/>
                <a:gridCol w="1571625"/>
                <a:gridCol w="1571625"/>
                <a:gridCol w="1190625"/>
                <a:gridCol w="1543050"/>
              </a:tblGrid>
              <a:tr h="325438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SN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Aging summary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RD detail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Highest point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Report judgment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P2HHV3220250407A02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P2HHV3220250627A05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P2HHV3220250701A05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P2HHV3220250627A01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P2HHV3220250702A04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200% running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Finish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392% / 1.02M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55">
                          <a:solidFill>
                            <a:srgbClr val="333333"/>
                          </a:solidFill>
                        </a:rPr>
                        <a:t>PASS</a:t>
                      </a:r>
                      <a:endParaRPr sz="555">
                        <a:solidFill>
                          <a:srgbClr val="333333"/>
                        </a:solidFill>
                      </a:endParaRPr>
                    </a:p>
                  </a:txBody>
                  <a:tcPr>
                    <a:solidFill>
                      <a:srgbClr val="E8F7EF"/>
                    </a:solidFill>
                  </a:tcPr>
                </a:tc>
              </a:tr>
            </a:tbl>
          </a:graphicData>
        </a:graphic>
      </p:graphicFrame>
      <p:sp>
        <p:nvSpPr>
          <p:cNvPr id="219" name="圆角矩形 218"/>
          <p:cNvSpPr>
            <a:spLocks noGrp="1"/>
          </p:cNvSpPr>
          <p:nvPr/>
        </p:nvSpPr>
        <p:spPr>
          <a:xfrm>
            <a:off x="495300" y="3429000"/>
            <a:ext cx="3810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704850" y="3629025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Sync gap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704850" y="3857625"/>
            <a:ext cx="3190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00">
                <a:solidFill>
                  <a:srgbClr val="4B5563"/>
                </a:solidFill>
              </a:defRPr>
            </a:pPr>
            <a:r>
              <a:rPr sz="700">
                <a:solidFill>
                  <a:srgbClr val="4B5563"/>
                </a:solidFill>
              </a:rPr>
              <a:t>All 5 units are Finish in the RD detail sheet, while the aging summary still shows 200% (520000) and 200%-238% running.</a:t>
            </a:r>
            <a:endParaRPr sz="700">
              <a:solidFill>
                <a:srgbClr val="4B5563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4667250" y="3429000"/>
            <a:ext cx="3714750" cy="742950"/>
          </a:xfrm>
          <a:prstGeom prst="roundRect">
            <a:avLst>
              <a:gd name="adj" fmla="val 10256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4876800" y="36290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33333"/>
                </a:solidFill>
              </a:defRPr>
            </a:pPr>
            <a:r>
              <a:rPr sz="1050" b="1">
                <a:solidFill>
                  <a:srgbClr val="333333"/>
                </a:solidFill>
              </a:rPr>
              <a:t>Judgment basis</a:t>
            </a:r>
            <a:endParaRPr sz="1050" b="1">
              <a:solidFill>
                <a:srgbClr val="333333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4876800" y="38576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15">
                <a:solidFill>
                  <a:srgbClr val="4B5563"/>
                </a:solidFill>
              </a:defRPr>
            </a:pPr>
            <a:r>
              <a:rPr sz="715">
                <a:solidFill>
                  <a:srgbClr val="4B5563"/>
                </a:solidFill>
              </a:rPr>
              <a:t>This report uses the RD Lifetime detail sheet, optical CV sheet top metrics, and staged PASS records as the judgment basis.</a:t>
            </a:r>
            <a:endParaRPr sz="71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0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5 uL Optical CV: Maximum 0.86%, Well Below the 4% QC Limit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90550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3" name="Chart"/>
          <p:cNvGraphicFramePr/>
          <p:nvPr/>
        </p:nvGraphicFramePr>
        <p:xfrm>
          <a:off x="762000" y="1466850"/>
          <a:ext cx="528637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762750" y="135255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42875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CV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60972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953250" y="1962150"/>
            <a:ext cx="10953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 b="1">
                <a:solidFill>
                  <a:srgbClr val="4285F4"/>
                </a:solidFill>
              </a:defRPr>
            </a:pPr>
            <a:r>
              <a:rPr sz="675" b="1">
                <a:solidFill>
                  <a:srgbClr val="4285F4"/>
                </a:solidFill>
              </a:rPr>
              <a:t>0627A05 / 100%</a:t>
            </a:r>
            <a:endParaRPr sz="675" b="1">
              <a:solidFill>
                <a:srgbClr val="4285F4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762750" y="2286000"/>
            <a:ext cx="14287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362200"/>
            <a:ext cx="1200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QC limit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25431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4.0%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7" name="圆角矩形 226"/>
          <p:cNvSpPr>
            <a:spLocks noGrp="1"/>
          </p:cNvSpPr>
          <p:nvPr/>
        </p:nvSpPr>
        <p:spPr>
          <a:xfrm>
            <a:off x="6762750" y="3257550"/>
            <a:ext cx="1428750" cy="704850"/>
          </a:xfrm>
          <a:prstGeom prst="roundRect">
            <a:avLst>
              <a:gd name="adj" fmla="val 10811"/>
            </a:avLst>
          </a:prstGeom>
          <a:solidFill>
            <a:srgbClr val="F4FBFE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8" name="矩形 227"/>
          <p:cNvSpPr>
            <a:spLocks noGrp="1"/>
          </p:cNvSpPr>
          <p:nvPr/>
        </p:nvSpPr>
        <p:spPr>
          <a:xfrm>
            <a:off x="6934200" y="3429000"/>
            <a:ext cx="10001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333333"/>
                </a:solidFill>
              </a:defRPr>
            </a:pPr>
            <a:r>
              <a:rPr sz="975" b="1">
                <a:solidFill>
                  <a:srgbClr val="333333"/>
                </a:solidFill>
              </a:rPr>
              <a:t>Observation</a:t>
            </a:r>
            <a:endParaRPr sz="975" b="1">
              <a:solidFill>
                <a:srgbClr val="333333"/>
              </a:solidFill>
            </a:endParaRPr>
          </a:p>
        </p:txBody>
      </p:sp>
      <p:sp>
        <p:nvSpPr>
          <p:cNvPr id="229" name="矩形 228"/>
          <p:cNvSpPr>
            <a:spLocks noGrp="1"/>
          </p:cNvSpPr>
          <p:nvPr/>
        </p:nvSpPr>
        <p:spPr>
          <a:xfrm>
            <a:off x="6934200" y="3648075"/>
            <a:ext cx="1095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55">
                <a:solidFill>
                  <a:srgbClr val="4B5563"/>
                </a:solidFill>
              </a:defRPr>
            </a:pPr>
            <a:r>
              <a:rPr sz="655">
                <a:solidFill>
                  <a:srgbClr val="4B5563"/>
                </a:solidFill>
              </a:rPr>
              <a:t>Every unit's maximum CV is below 1%, leaving strong specification margin.</a:t>
            </a:r>
            <a:endParaRPr sz="655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7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Worst-Channel CV: Maximum 3.04%, Below the 5.6% QC Limit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495300" y="1200150"/>
            <a:ext cx="5810250" cy="287655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30" name="Chart"/>
          <p:cNvGraphicFramePr/>
          <p:nvPr/>
        </p:nvGraphicFramePr>
        <p:xfrm>
          <a:off x="762000" y="1466850"/>
          <a:ext cx="5191125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0" name="圆角矩形 219"/>
          <p:cNvSpPr>
            <a:spLocks noGrp="1"/>
          </p:cNvSpPr>
          <p:nvPr/>
        </p:nvSpPr>
        <p:spPr>
          <a:xfrm>
            <a:off x="6667500" y="14287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1" name="矩形 220"/>
          <p:cNvSpPr>
            <a:spLocks noGrp="1"/>
          </p:cNvSpPr>
          <p:nvPr/>
        </p:nvSpPr>
        <p:spPr>
          <a:xfrm>
            <a:off x="6877050" y="161925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Highest value</a:t>
            </a:r>
            <a:endParaRPr sz="975" b="1">
              <a:solidFill>
                <a:srgbClr val="B45309"/>
              </a:solidFill>
            </a:endParaRPr>
          </a:p>
        </p:txBody>
      </p:sp>
      <p:sp>
        <p:nvSpPr>
          <p:cNvPr id="222" name="矩形 221"/>
          <p:cNvSpPr>
            <a:spLocks noGrp="1"/>
          </p:cNvSpPr>
          <p:nvPr/>
        </p:nvSpPr>
        <p:spPr>
          <a:xfrm>
            <a:off x="6877050" y="188595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75" b="1">
                <a:solidFill>
                  <a:srgbClr val="B45309"/>
                </a:solidFill>
              </a:defRPr>
            </a:pPr>
            <a:r>
              <a:rPr sz="2175" b="1">
                <a:solidFill>
                  <a:srgbClr val="B45309"/>
                </a:solidFill>
              </a:rPr>
              <a:t>3.04%</a:t>
            </a:r>
            <a:endParaRPr sz="2175" b="1">
              <a:solidFill>
                <a:srgbClr val="B45309"/>
              </a:solidFill>
            </a:endParaRPr>
          </a:p>
        </p:txBody>
      </p:sp>
      <p:sp>
        <p:nvSpPr>
          <p:cNvPr id="223" name="矩形 222"/>
          <p:cNvSpPr>
            <a:spLocks noGrp="1"/>
          </p:cNvSpPr>
          <p:nvPr/>
        </p:nvSpPr>
        <p:spPr>
          <a:xfrm>
            <a:off x="6877050" y="22383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>
                <a:solidFill>
                  <a:srgbClr val="4B5563"/>
                </a:solidFill>
              </a:defRPr>
            </a:pPr>
            <a:r>
              <a:rPr sz="660">
                <a:solidFill>
                  <a:srgbClr val="4B5563"/>
                </a:solidFill>
              </a:rPr>
              <a:t>0627A05 / 100%, with a C8 LOW %D note.</a:t>
            </a:r>
            <a:endParaRPr sz="660">
              <a:solidFill>
                <a:srgbClr val="4B5563"/>
              </a:solidFill>
            </a:endParaRPr>
          </a:p>
        </p:txBody>
      </p:sp>
      <p:sp>
        <p:nvSpPr>
          <p:cNvPr id="224" name="圆角矩形 223"/>
          <p:cNvSpPr>
            <a:spLocks noGrp="1"/>
          </p:cNvSpPr>
          <p:nvPr/>
        </p:nvSpPr>
        <p:spPr>
          <a:xfrm>
            <a:off x="6667500" y="2762250"/>
            <a:ext cx="1666875" cy="1000125"/>
          </a:xfrm>
          <a:prstGeom prst="roundRect">
            <a:avLst>
              <a:gd name="adj" fmla="val 7619"/>
            </a:avLst>
          </a:prstGeom>
          <a:solidFill>
            <a:srgbClr val="E8F7E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5" name="矩形 224"/>
          <p:cNvSpPr>
            <a:spLocks noGrp="1"/>
          </p:cNvSpPr>
          <p:nvPr/>
        </p:nvSpPr>
        <p:spPr>
          <a:xfrm>
            <a:off x="6877050" y="2981325"/>
            <a:ext cx="90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0A86B"/>
                </a:solidFill>
              </a:defRPr>
            </a:pPr>
            <a:r>
              <a:rPr sz="975" b="1">
                <a:solidFill>
                  <a:srgbClr val="00A86B"/>
                </a:solidFill>
              </a:rPr>
              <a:t>Conclusion</a:t>
            </a:r>
            <a:endParaRPr sz="975" b="1">
              <a:solidFill>
                <a:srgbClr val="00A86B"/>
              </a:solidFill>
            </a:endParaRPr>
          </a:p>
        </p:txBody>
      </p:sp>
      <p:sp>
        <p:nvSpPr>
          <p:cNvPr id="226" name="矩形 225"/>
          <p:cNvSpPr>
            <a:spLocks noGrp="1"/>
          </p:cNvSpPr>
          <p:nvPr/>
        </p:nvSpPr>
        <p:spPr>
          <a:xfrm>
            <a:off x="6877050" y="323850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60">
                <a:solidFill>
                  <a:srgbClr val="333333"/>
                </a:solidFill>
              </a:defRPr>
            </a:pPr>
            <a:r>
              <a:rPr sz="660">
                <a:solidFill>
                  <a:srgbClr val="333333"/>
                </a:solidFill>
              </a:rPr>
              <a:t>All units' worst-channel CV values are below the 5.6% QC and 7% customer limits.</a:t>
            </a:r>
            <a:endParaRPr sz="66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0407A02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 / 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0.54%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3.00%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Judgment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">
                <a:solidFill>
                  <a:srgbClr val="64748B"/>
                </a:solidFill>
              </a:defRPr>
            </a:pPr>
            <a:r>
              <a:rPr sz="540">
                <a:solidFill>
                  <a:srgbClr val="64748B"/>
                </a:solidFill>
              </a:rPr>
              <a:t>Spec reference: 5 uL CV QC 4% / customer 5%; worst-channel CV QC 5.6% / customer 7%.</a:t>
            </a:r>
            <a:endParaRPr sz="54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Trend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CV remained between 0.35% and 0.54% across all stages, well below the 4% QC limit; worst-channel CV peaked at 3.00% at 315%, still below the 5.6% QC limit.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Data note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392% plate4/plate5 are #DIV/0!.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Conclusion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The detailed sheet shows Finish at 392% / 1,020,000 cycles. Current CV results meet the specification; recommend PASS for archive.</a:t>
            </a:r>
            <a:endParaRPr sz="52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 ch.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1.01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3.00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0627A05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4285F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4285F4"/>
                </a:solidFill>
              </a:defRPr>
            </a:pPr>
            <a:r>
              <a:rPr sz="1350" b="1">
                <a:solidFill>
                  <a:srgbClr val="4285F4"/>
                </a:solidFill>
              </a:rPr>
              <a:t>0.86%</a:t>
            </a:r>
            <a:endParaRPr sz="1350" b="1">
              <a:solidFill>
                <a:srgbClr val="4285F4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3.04%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Judgment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">
                <a:solidFill>
                  <a:srgbClr val="64748B"/>
                </a:solidFill>
              </a:defRPr>
            </a:pPr>
            <a:r>
              <a:rPr sz="540">
                <a:solidFill>
                  <a:srgbClr val="64748B"/>
                </a:solidFill>
              </a:rPr>
              <a:t>Spec reference: 5 uL CV QC 4% / customer 5%; worst-channel CV QC 5.6% / customer 7%.</a:t>
            </a:r>
            <a:endParaRPr sz="54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4285F4"/>
          </a:solidFill>
          <a:ln w="0">
            <a:solidFill>
              <a:srgbClr val="4285F4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Trend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CV and worst-channel CV peaked at 100%, but 0.86% CV and 3.04% worst-channel CV remain below the limits.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Data note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100% has a C8 LOW %D in plate1 note; 315% notes the new validation with only 3 plates tested; 315%/392% plate4/plate5 are #DIV/0!.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Conclusion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The detailed sheet shows Finish and current CV results meet the specification. Recommend PASS, retaining the C8 D% and 3-plate scope notes.</a:t>
            </a:r>
            <a:endParaRPr sz="52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 ch.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3.04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0.99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0701A05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0.69%</a:t>
            </a:r>
            <a:endParaRPr sz="1350" b="1">
              <a:solidFill>
                <a:srgbClr val="7C3AED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2.57%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Judgment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">
                <a:solidFill>
                  <a:srgbClr val="64748B"/>
                </a:solidFill>
              </a:defRPr>
            </a:pPr>
            <a:r>
              <a:rPr sz="540">
                <a:solidFill>
                  <a:srgbClr val="64748B"/>
                </a:solidFill>
              </a:rPr>
              <a:t>Spec reference: 5 uL CV QC 4% / customer 5%; worst-channel CV QC 5.6% / customer 7%.</a:t>
            </a:r>
            <a:endParaRPr sz="54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Trend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A temporary increase was observed at 100%; values then returned lower and stayed stable from 200% to 392%. Maximum CV was 0.69%.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Data note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392% plate4/plate5 are #DIV/0!.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Conclusion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The detailed sheet shows Finish. Current CV and worst-channel CV results are within specification; recommend PASS.</a:t>
            </a:r>
            <a:endParaRPr sz="52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 ch.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2.57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0627A01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891B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891B2"/>
                </a:solidFill>
              </a:defRPr>
            </a:pPr>
            <a:r>
              <a:rPr sz="1350" b="1">
                <a:solidFill>
                  <a:srgbClr val="0891B2"/>
                </a:solidFill>
              </a:rPr>
              <a:t>0.72%</a:t>
            </a:r>
            <a:endParaRPr sz="1350" b="1">
              <a:solidFill>
                <a:srgbClr val="0891B2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1.15%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Judgment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">
                <a:solidFill>
                  <a:srgbClr val="64748B"/>
                </a:solidFill>
              </a:defRPr>
            </a:pPr>
            <a:r>
              <a:rPr sz="540">
                <a:solidFill>
                  <a:srgbClr val="64748B"/>
                </a:solidFill>
              </a:rPr>
              <a:t>Spec reference: 5 uL CV QC 4% / customer 5%; worst-channel CV QC 5.6% / customer 7%.</a:t>
            </a:r>
            <a:endParaRPr sz="54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0891B2"/>
          </a:solidFill>
          <a:ln w="0">
            <a:solidFill>
              <a:srgbClr val="0891B2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Trend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CV peaked at 0.72% at 100%, then decreased to 0.35%-0.50%; maximum worst-channel CV was 1.15%, leaving strong margin.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Data note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315% notes the new validation with only 3 plates tested; 315%/392% plate4/plate5 are #DIV/0!.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Conclusion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The detailed sheet shows Finish. Current CV data are stable and meet the specification; recommend PASS.</a:t>
            </a:r>
            <a:endParaRPr sz="52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0.49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0.50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 ch.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1.15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0.63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0.66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0.54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6" name="Google Shape;212;p3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385685" y="336709"/>
            <a:ext cx="1302546" cy="513397"/>
          </a:xfrm>
          <a:prstGeom prst="rect">
            <a:avLst/>
          </a:prstGeom>
          <a:ln>
            <a:noFill/>
          </a:ln>
        </p:spPr>
      </p:pic>
      <p:sp>
        <p:nvSpPr>
          <p:cNvPr id="216" name="Google Shape;216;p33"/>
          <p:cNvSpPr>
            <a:spLocks noGrp="1"/>
          </p:cNvSpPr>
          <p:nvPr/>
        </p:nvSpPr>
        <p:spPr>
          <a:xfrm>
            <a:off x="476250" y="590550"/>
            <a:ext cx="7000875" cy="54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spAutoFit/>
          </a:bodyPr>
          <a:lstStyle/>
          <a:p>
            <a:pPr marL="0" indent="0" algn="l">
              <a:lnSpc>
                <a:spcPct val="109000"/>
              </a:lnSpc>
              <a:spcBef>
                <a:spcPts val="1200"/>
              </a:spcBef>
              <a:spcAft>
                <a:spcPts val="0"/>
              </a:spcAft>
              <a:buNone/>
              <a:defRPr sz="1275" b="1">
                <a:solidFill>
                  <a:srgbClr val="333333"/>
                </a:solidFill>
              </a:defRPr>
            </a:pPr>
            <a:r>
              <a:rPr sz="1275" b="1">
                <a:solidFill>
                  <a:srgbClr val="333333"/>
                </a:solidFill>
                <a:highlight>
                  <a:schemeClr val="lt1"/>
                </a:highlight>
              </a:rPr>
              <a:t>0702A04 Unit Summary: PASS</a:t>
            </a:r>
            <a:endParaRPr sz="1275" b="1">
              <a:solidFill>
                <a:srgbClr val="333333"/>
              </a:solidFill>
              <a:highlight>
                <a:schemeClr val="lt1"/>
              </a:highlight>
            </a:endParaRPr>
          </a:p>
        </p:txBody>
      </p:sp>
      <p:sp>
        <p:nvSpPr>
          <p:cNvPr id="218" name="圆角矩形 217"/>
          <p:cNvSpPr>
            <a:spLocks noGrp="1"/>
          </p:cNvSpPr>
          <p:nvPr/>
        </p:nvSpPr>
        <p:spPr>
          <a:xfrm>
            <a:off x="7191375" y="800100"/>
            <a:ext cx="1190625" cy="209550"/>
          </a:xfrm>
          <a:prstGeom prst="roundRect">
            <a:avLst>
              <a:gd name="adj" fmla="val 50000"/>
            </a:avLst>
          </a:prstGeom>
          <a:solidFill>
            <a:srgbClr val="CFF7E1"/>
          </a:solidFill>
          <a:ln w="0">
            <a:solidFill>
              <a:srgbClr val="CFF7E1"/>
            </a:solidFill>
            <a:prstDash val="solid"/>
          </a:ln>
        </p:spPr>
        <p:txBody>
          <a:bodyPr/>
          <a:lstStyle/>
          <a:p>
            <a:pPr algn="ctr">
              <a:defRPr sz="715" b="1">
                <a:solidFill>
                  <a:srgbClr val="00A86B"/>
                </a:solidFill>
              </a:defRPr>
            </a:pPr>
            <a:r>
              <a:rPr sz="715" b="1">
                <a:solidFill>
                  <a:srgbClr val="00A86B"/>
                </a:solidFill>
              </a:rPr>
              <a:t>Finish / 392%</a:t>
            </a:r>
            <a:endParaRPr sz="715" b="1">
              <a:solidFill>
                <a:srgbClr val="00A86B"/>
              </a:solidFill>
            </a:endParaRPr>
          </a:p>
        </p:txBody>
      </p:sp>
      <p:sp>
        <p:nvSpPr>
          <p:cNvPr id="219" name="圆角矩形 218"/>
          <p:cNvSpPr>
            <a:spLocks noGrp="1"/>
          </p:cNvSpPr>
          <p:nvPr/>
        </p:nvSpPr>
        <p:spPr>
          <a:xfrm>
            <a:off x="4953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0" name="矩形 219"/>
          <p:cNvSpPr>
            <a:spLocks noGrp="1"/>
          </p:cNvSpPr>
          <p:nvPr/>
        </p:nvSpPr>
        <p:spPr>
          <a:xfrm>
            <a:off x="6096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Highest point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1" name="矩形 220"/>
          <p:cNvSpPr>
            <a:spLocks noGrp="1"/>
          </p:cNvSpPr>
          <p:nvPr/>
        </p:nvSpPr>
        <p:spPr>
          <a:xfrm>
            <a:off x="6096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392% / 1.02M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22" name="圆角矩形 221"/>
          <p:cNvSpPr>
            <a:spLocks noGrp="1"/>
          </p:cNvSpPr>
          <p:nvPr/>
        </p:nvSpPr>
        <p:spPr>
          <a:xfrm>
            <a:off x="24574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3" name="矩形 222"/>
          <p:cNvSpPr>
            <a:spLocks noGrp="1"/>
          </p:cNvSpPr>
          <p:nvPr/>
        </p:nvSpPr>
        <p:spPr>
          <a:xfrm>
            <a:off x="25717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CV (100%)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4" name="矩形 223"/>
          <p:cNvSpPr>
            <a:spLocks noGrp="1"/>
          </p:cNvSpPr>
          <p:nvPr/>
        </p:nvSpPr>
        <p:spPr>
          <a:xfrm>
            <a:off x="25717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0.64%</a:t>
            </a:r>
            <a:endParaRPr sz="1350" b="1">
              <a:solidFill>
                <a:srgbClr val="F59E0B"/>
              </a:solidFill>
            </a:endParaRPr>
          </a:p>
        </p:txBody>
      </p:sp>
      <p:sp>
        <p:nvSpPr>
          <p:cNvPr id="225" name="圆角矩形 224"/>
          <p:cNvSpPr>
            <a:spLocks noGrp="1"/>
          </p:cNvSpPr>
          <p:nvPr/>
        </p:nvSpPr>
        <p:spPr>
          <a:xfrm>
            <a:off x="441960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B4530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6" name="矩形 225"/>
          <p:cNvSpPr>
            <a:spLocks noGrp="1"/>
          </p:cNvSpPr>
          <p:nvPr/>
        </p:nvSpPr>
        <p:spPr>
          <a:xfrm>
            <a:off x="453390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Max worst ch. (315%)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27" name="矩形 226"/>
          <p:cNvSpPr>
            <a:spLocks noGrp="1"/>
          </p:cNvSpPr>
          <p:nvPr/>
        </p:nvSpPr>
        <p:spPr>
          <a:xfrm>
            <a:off x="453390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1.92%</a:t>
            </a:r>
            <a:endParaRPr sz="1350" b="1">
              <a:solidFill>
                <a:srgbClr val="B45309"/>
              </a:solidFill>
            </a:endParaRPr>
          </a:p>
        </p:txBody>
      </p:sp>
      <p:sp>
        <p:nvSpPr>
          <p:cNvPr id="228" name="圆角矩形 227"/>
          <p:cNvSpPr>
            <a:spLocks noGrp="1"/>
          </p:cNvSpPr>
          <p:nvPr/>
        </p:nvSpPr>
        <p:spPr>
          <a:xfrm>
            <a:off x="6381750" y="1219200"/>
            <a:ext cx="1762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9" name="矩形 228"/>
          <p:cNvSpPr>
            <a:spLocks noGrp="1"/>
          </p:cNvSpPr>
          <p:nvPr/>
        </p:nvSpPr>
        <p:spPr>
          <a:xfrm>
            <a:off x="6496050" y="1295400"/>
            <a:ext cx="1533525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15" b="1">
                <a:solidFill>
                  <a:srgbClr val="64748B"/>
                </a:solidFill>
              </a:defRPr>
            </a:pPr>
            <a:r>
              <a:rPr sz="615" b="1">
                <a:solidFill>
                  <a:srgbClr val="64748B"/>
                </a:solidFill>
              </a:rPr>
              <a:t>Judgment</a:t>
            </a:r>
            <a:endParaRPr sz="615" b="1">
              <a:solidFill>
                <a:srgbClr val="64748B"/>
              </a:solidFill>
            </a:endParaRPr>
          </a:p>
        </p:txBody>
      </p:sp>
      <p:sp>
        <p:nvSpPr>
          <p:cNvPr id="230" name="矩形 229"/>
          <p:cNvSpPr>
            <a:spLocks noGrp="1"/>
          </p:cNvSpPr>
          <p:nvPr/>
        </p:nvSpPr>
        <p:spPr>
          <a:xfrm>
            <a:off x="6496050" y="1476375"/>
            <a:ext cx="15335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00A86B"/>
                </a:solidFill>
              </a:defRPr>
            </a:pPr>
            <a:r>
              <a:rPr sz="1350" b="1">
                <a:solidFill>
                  <a:srgbClr val="00A86B"/>
                </a:solidFill>
              </a:rPr>
              <a:t>PASS</a:t>
            </a:r>
            <a:endParaRPr sz="1350" b="1">
              <a:solidFill>
                <a:srgbClr val="00A86B"/>
              </a:solidFill>
            </a:endParaRPr>
          </a:p>
        </p:txBody>
      </p:sp>
      <p:sp>
        <p:nvSpPr>
          <p:cNvPr id="231" name="圆角矩形 230"/>
          <p:cNvSpPr>
            <a:spLocks noGrp="1"/>
          </p:cNvSpPr>
          <p:nvPr/>
        </p:nvSpPr>
        <p:spPr>
          <a:xfrm>
            <a:off x="495300" y="2047875"/>
            <a:ext cx="4381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graphicFrame>
        <p:nvGraphicFramePr>
          <p:cNvPr id="262" name="Chart"/>
          <p:cNvGraphicFramePr/>
          <p:nvPr/>
        </p:nvGraphicFramePr>
        <p:xfrm>
          <a:off x="742950" y="2266950"/>
          <a:ext cx="3857625" cy="1428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3" name="矩形 232"/>
          <p:cNvSpPr>
            <a:spLocks noGrp="1"/>
          </p:cNvSpPr>
          <p:nvPr/>
        </p:nvSpPr>
        <p:spPr>
          <a:xfrm>
            <a:off x="714375" y="3752850"/>
            <a:ext cx="3905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">
                <a:solidFill>
                  <a:srgbClr val="64748B"/>
                </a:solidFill>
              </a:defRPr>
            </a:pPr>
            <a:r>
              <a:rPr sz="540">
                <a:solidFill>
                  <a:srgbClr val="64748B"/>
                </a:solidFill>
              </a:rPr>
              <a:t>Spec reference: 5 uL CV QC 4% / customer 5%; worst-channel CV QC 5.6% / customer 7%.</a:t>
            </a:r>
            <a:endParaRPr sz="540">
              <a:solidFill>
                <a:srgbClr val="64748B"/>
              </a:solidFill>
            </a:endParaRPr>
          </a:p>
        </p:txBody>
      </p:sp>
      <p:sp>
        <p:nvSpPr>
          <p:cNvPr id="234" name="圆角矩形 233"/>
          <p:cNvSpPr>
            <a:spLocks noGrp="1"/>
          </p:cNvSpPr>
          <p:nvPr/>
        </p:nvSpPr>
        <p:spPr>
          <a:xfrm>
            <a:off x="5143500" y="2047875"/>
            <a:ext cx="3238500" cy="1952625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D7E6EF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5" name="矩形 234"/>
          <p:cNvSpPr>
            <a:spLocks noGrp="1"/>
          </p:cNvSpPr>
          <p:nvPr/>
        </p:nvSpPr>
        <p:spPr>
          <a:xfrm>
            <a:off x="5429250" y="22669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333333"/>
                </a:solidFill>
              </a:defRPr>
            </a:pPr>
            <a:r>
              <a:rPr sz="1125" b="1">
                <a:solidFill>
                  <a:srgbClr val="333333"/>
                </a:solidFill>
              </a:rPr>
              <a:t>Unit summary</a:t>
            </a:r>
            <a:endParaRPr sz="1125" b="1">
              <a:solidFill>
                <a:srgbClr val="333333"/>
              </a:solidFill>
            </a:endParaRPr>
          </a:p>
        </p:txBody>
      </p:sp>
      <p:sp>
        <p:nvSpPr>
          <p:cNvPr id="236" name="椭圆 235"/>
          <p:cNvSpPr>
            <a:spLocks noGrp="1"/>
          </p:cNvSpPr>
          <p:nvPr/>
        </p:nvSpPr>
        <p:spPr>
          <a:xfrm>
            <a:off x="5448300" y="26574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5619750" y="26098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Trend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38" name="矩形 237"/>
          <p:cNvSpPr>
            <a:spLocks noGrp="1"/>
          </p:cNvSpPr>
          <p:nvPr/>
        </p:nvSpPr>
        <p:spPr>
          <a:xfrm>
            <a:off x="5619750" y="27717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CV peaked at 0.64% and then decreased to 0.37%; worst-channel CV was 1.92% at 315%, still well below the 5.6% QC limit.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39" name="椭圆 238"/>
          <p:cNvSpPr>
            <a:spLocks noGrp="1"/>
          </p:cNvSpPr>
          <p:nvPr/>
        </p:nvSpPr>
        <p:spPr>
          <a:xfrm>
            <a:off x="5448300" y="3114675"/>
            <a:ext cx="85725" cy="85725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0" name="矩形 239"/>
          <p:cNvSpPr>
            <a:spLocks noGrp="1"/>
          </p:cNvSpPr>
          <p:nvPr/>
        </p:nvSpPr>
        <p:spPr>
          <a:xfrm>
            <a:off x="5619750" y="30670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Data note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1" name="矩形 240"/>
          <p:cNvSpPr>
            <a:spLocks noGrp="1"/>
          </p:cNvSpPr>
          <p:nvPr/>
        </p:nvSpPr>
        <p:spPr>
          <a:xfrm>
            <a:off x="5619750" y="32289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75% is skipped/#REF; 315% notes the new validation with only 3 plates tested; 315%/392% plate4/plate5 are #DIV/0!.</a:t>
            </a:r>
            <a:endParaRPr sz="520">
              <a:solidFill>
                <a:srgbClr val="4B5563"/>
              </a:solidFill>
            </a:endParaRPr>
          </a:p>
        </p:txBody>
      </p:sp>
      <p:sp>
        <p:nvSpPr>
          <p:cNvPr id="242" name="椭圆 241"/>
          <p:cNvSpPr>
            <a:spLocks noGrp="1"/>
          </p:cNvSpPr>
          <p:nvPr/>
        </p:nvSpPr>
        <p:spPr>
          <a:xfrm>
            <a:off x="5448300" y="3571875"/>
            <a:ext cx="85725" cy="85725"/>
          </a:xfrm>
          <a:prstGeom prst="ellipse">
            <a:avLst/>
          </a:prstGeom>
          <a:solidFill>
            <a:srgbClr val="00A86B"/>
          </a:solidFill>
          <a:ln w="0">
            <a:solidFill>
              <a:srgbClr val="00A86B"/>
            </a:solidFill>
            <a:prstDash val="solid"/>
          </a:ln>
        </p:spPr>
      </p:sp>
      <p:sp>
        <p:nvSpPr>
          <p:cNvPr id="243" name="矩形 242"/>
          <p:cNvSpPr>
            <a:spLocks noGrp="1"/>
          </p:cNvSpPr>
          <p:nvPr/>
        </p:nvSpPr>
        <p:spPr>
          <a:xfrm>
            <a:off x="5619750" y="3524250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65" b="1">
                <a:solidFill>
                  <a:srgbClr val="333333"/>
                </a:solidFill>
              </a:defRPr>
            </a:pPr>
            <a:r>
              <a:rPr sz="765" b="1">
                <a:solidFill>
                  <a:srgbClr val="333333"/>
                </a:solidFill>
              </a:rPr>
              <a:t>Conclusion</a:t>
            </a:r>
            <a:endParaRPr sz="765" b="1">
              <a:solidFill>
                <a:srgbClr val="333333"/>
              </a:solidFill>
            </a:endParaRPr>
          </a:p>
        </p:txBody>
      </p:sp>
      <p:sp>
        <p:nvSpPr>
          <p:cNvPr id="244" name="矩形 243"/>
          <p:cNvSpPr>
            <a:spLocks noGrp="1"/>
          </p:cNvSpPr>
          <p:nvPr/>
        </p:nvSpPr>
        <p:spPr>
          <a:xfrm>
            <a:off x="5619750" y="36861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20">
                <a:solidFill>
                  <a:srgbClr val="4B5563"/>
                </a:solidFill>
              </a:defRPr>
            </a:pPr>
            <a:r>
              <a:rPr sz="520">
                <a:solidFill>
                  <a:srgbClr val="4B5563"/>
                </a:solidFill>
              </a:rPr>
              <a:t>The detailed sheet shows Finish and current CV metrics meet the specification; recommend PASS.</a:t>
            </a:r>
            <a:endParaRPr sz="520">
              <a:solidFill>
                <a:srgbClr val="4B5563"/>
              </a:solidFill>
            </a:endParaRPr>
          </a:p>
        </p:txBody>
      </p:sp>
      <p:graphicFrame>
        <p:nvGraphicFramePr>
          <p:cNvPr id="275" name="表格 274"/>
          <p:cNvGraphicFramePr/>
          <p:nvPr/>
        </p:nvGraphicFramePr>
        <p:xfrm>
          <a:off x="495300" y="4238625"/>
          <a:ext cx="8048625" cy="419100"/>
        </p:xfrm>
        <a:graphic>
          <a:graphicData uri="http://schemas.openxmlformats.org/drawingml/2006/table">
            <a:tbl>
              <a:tblPr firstRow="1" bandRow="1"/>
              <a:tblGrid>
                <a:gridCol w="809625"/>
                <a:gridCol w="1447800"/>
                <a:gridCol w="1447800"/>
                <a:gridCol w="1447800"/>
                <a:gridCol w="1447800"/>
                <a:gridCol w="1447800"/>
              </a:tblGrid>
              <a:tr h="1397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Stage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100%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200%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315%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</a:rPr>
                        <a:t>392%</a:t>
                      </a:r>
                      <a:endParaRPr sz="6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26374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CV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0.45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0.44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0.37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  <a:tr h="139700"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Worst ch.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0.82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0.78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1.92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540">
                          <a:solidFill>
                            <a:srgbClr val="333333"/>
                          </a:solidFill>
                        </a:rPr>
                        <a:t>0.61</a:t>
                      </a:r>
                      <a:endParaRPr sz="540">
                        <a:solidFill>
                          <a:srgbClr val="333333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te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4712</Words>
  <Application>WPS 表格</Application>
  <PresentationFormat>Converted Presentation</PresentationFormat>
  <Paragraphs>489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宋体</vt:lpstr>
      <vt:lpstr>Wingdings</vt:lpstr>
      <vt:lpstr>Roboto</vt:lpstr>
      <vt:lpstr>Thonburi</vt:lpstr>
      <vt:lpstr>Arial</vt:lpstr>
      <vt:lpstr>Public Sans</vt:lpstr>
      <vt:lpstr>Public Sans SemiBold</vt:lpstr>
      <vt:lpstr>Nunito Sans Light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Roboto</vt:lpstr>
      <vt:lpstr>苹方-简</vt:lpstr>
      <vt:lpstr>Material</vt:lpstr>
      <vt:lpstr>Office 主题​​</vt:lpstr>
      <vt:lpstr>P2HHV32 96CH LV Mold Seal Aging Test Report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P2HHV32 96CH LV Mold Seal Aging Test Report</dc:title>
  <dc:creator>Walnut Exporter</dc:creator>
  <cp:lastModifiedBy>Wye</cp:lastModifiedBy>
  <cp:revision>1</cp:revision>
  <dcterms:created xsi:type="dcterms:W3CDTF">2026-06-15T07:11:06Z</dcterms:created>
  <dcterms:modified xsi:type="dcterms:W3CDTF">2026-06-15T07:11:06Z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ECBE8CA3EAF48E1089A52F6ACDF095D4_42</vt:lpwstr>
  </property>
  <property fmtid="{D5CDD505-2E9C-101B-9397-08002B2CF9AE}" pid="3" name="KSOProductBuildVer">
    <vt:lpwstr>2052-12.1.25895.25895</vt:lpwstr>
  </property>
</Properties>
</file>