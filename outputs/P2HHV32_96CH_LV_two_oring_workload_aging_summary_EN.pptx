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238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96CH LV Aging Test Workload and Result Overview</a:t>
            </a:r>
            <a:endParaRPr sz="2100" b="1">
              <a:solidFill>
                <a:srgbClr val="26374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477500" y="4572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opentrons</a:t>
            </a:r>
            <a:endParaRPr sz="1350" b="1">
              <a:solidFill>
                <a:srgbClr val="26374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33400" y="1162050"/>
            <a:ext cx="14287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676275" y="12763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6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6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Types covered</a:t>
            </a:r>
            <a:endParaRPr sz="86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76275" y="152400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4285F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4285F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1800" b="1">
              <a:solidFill>
                <a:srgbClr val="4285F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152650" y="1162050"/>
            <a:ext cx="1619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2295525" y="127635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6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6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Units tested</a:t>
            </a:r>
            <a:endParaRPr sz="86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95525" y="152400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4285F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4285F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19</a:t>
            </a:r>
            <a:endParaRPr sz="1800" b="1">
              <a:solidFill>
                <a:srgbClr val="4285F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962400" y="1162050"/>
            <a:ext cx="1905000" cy="742950"/>
          </a:xfrm>
          <a:prstGeom prst="roundRect">
            <a:avLst>
              <a:gd name="adj" fmla="val 10256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4105275" y="127635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6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6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Reached 1,020,000/1,085,000</a:t>
            </a:r>
            <a:endParaRPr sz="86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105275" y="15240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A86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00A86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16</a:t>
            </a:r>
            <a:endParaRPr sz="1800" b="1">
              <a:solidFill>
                <a:srgbClr val="00A86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057900" y="1162050"/>
            <a:ext cx="2133600" cy="742950"/>
          </a:xfrm>
          <a:prstGeom prst="roundRect">
            <a:avLst>
              <a:gd name="adj" fmla="val 10256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6200775" y="1276350"/>
            <a:ext cx="1847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6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6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 / Overall rate</a:t>
            </a:r>
            <a:endParaRPr sz="86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00775" y="1524000"/>
            <a:ext cx="1847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A86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00A86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15 / 79%</a:t>
            </a:r>
            <a:endParaRPr sz="1800" b="1">
              <a:solidFill>
                <a:srgbClr val="00A86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416925" y="1162050"/>
            <a:ext cx="1428750" cy="742950"/>
          </a:xfrm>
          <a:prstGeom prst="roundRect">
            <a:avLst>
              <a:gd name="adj" fmla="val 10256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559800" y="12763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6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6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Fail closed</a:t>
            </a:r>
            <a:endParaRPr sz="86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59800" y="152400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80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lang="en-US" sz="1800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533400" y="2190750"/>
            <a:ext cx="2609850" cy="325755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矩形 24"/>
          <p:cNvSpPr>
            <a:spLocks noGrp="1"/>
          </p:cNvSpPr>
          <p:nvPr/>
        </p:nvSpPr>
        <p:spPr>
          <a:xfrm>
            <a:off x="800100" y="2476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Work Completed</a:t>
            </a:r>
            <a:endParaRPr sz="1500" b="1">
              <a:solidFill>
                <a:srgbClr val="26374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857250" y="306705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28700" y="30099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5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5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Re-matched 19 listed units and summarized them under two groups: Mold Oring and OTP-O ring.</a:t>
            </a:r>
            <a:endParaRPr sz="850">
              <a:solidFill>
                <a:srgbClr val="26374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857250" y="3752850"/>
            <a:ext cx="76200" cy="76200"/>
          </a:xfrm>
          <a:prstGeom prst="ellipse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028700" y="36957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05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05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Reviewed RD detail status, maximum aging node, CV, worst-channel CV, LOW %D, aspiration, no-aspiration, and leakage notes.</a:t>
            </a:r>
            <a:endParaRPr sz="805">
              <a:solidFill>
                <a:srgbClr val="26374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857250" y="4591050"/>
            <a:ext cx="76200" cy="76200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28700" y="45339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Coverage spans 0 to 1,020,000/1,085,000 cycles; 16 units reached endpoint and 15 units are counted as PASS.</a:t>
            </a:r>
            <a:endParaRPr sz="825">
              <a:solidFill>
                <a:srgbClr val="26374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23900" y="5167630"/>
            <a:ext cx="2190750" cy="247650"/>
          </a:xfrm>
          <a:prstGeom prst="roundRect">
            <a:avLst>
              <a:gd name="adj" fmla="val 50000"/>
            </a:avLst>
          </a:prstGeom>
          <a:solidFill>
            <a:srgbClr val="DDF6FB"/>
          </a:solidFill>
          <a:ln w="0">
            <a:solidFill>
              <a:srgbClr val="DDF6FB"/>
            </a:solidFill>
            <a:prstDash val="solid"/>
          </a:ln>
        </p:spPr>
        <p:txBody>
          <a:bodyPr/>
          <a:lstStyle/>
          <a:p>
            <a:pPr algn="ctr">
              <a:defRPr sz="765" b="1">
                <a:solidFill>
                  <a:srgbClr val="0891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65" b="1">
                <a:solidFill>
                  <a:srgbClr val="0891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Core workload: 19 units x multi-node validation</a:t>
            </a:r>
            <a:endParaRPr sz="765" b="1">
              <a:solidFill>
                <a:srgbClr val="0891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3429000" y="2190750"/>
            <a:ext cx="3905250" cy="3409950"/>
          </a:xfrm>
          <a:prstGeom prst="roundRect">
            <a:avLst>
              <a:gd name="adj" fmla="val 2235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4" name="矩形 33"/>
          <p:cNvSpPr>
            <a:spLocks noGrp="1"/>
          </p:cNvSpPr>
          <p:nvPr/>
        </p:nvSpPr>
        <p:spPr>
          <a:xfrm>
            <a:off x="3638550" y="23812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Type 1: Mold Oring</a:t>
            </a:r>
            <a:endParaRPr sz="1425" b="1">
              <a:solidFill>
                <a:srgbClr val="26374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638550" y="26670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20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20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 units: all counted as Mold Oring</a:t>
            </a:r>
            <a:endParaRPr sz="720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5772150" y="2390775"/>
            <a:ext cx="12573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580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580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 with risk closure</a:t>
            </a:r>
            <a:endParaRPr sz="580" b="1">
              <a:solidFill>
                <a:srgbClr val="F59E0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657600" y="3057525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Units</a:t>
            </a:r>
            <a:endParaRPr sz="70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657600" y="32480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</a:t>
            </a:r>
            <a:endParaRPr sz="1425" b="1">
              <a:solidFill>
                <a:srgbClr val="F59E0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400550" y="3057525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Endpoint</a:t>
            </a:r>
            <a:endParaRPr sz="70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400550" y="32480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13/14</a:t>
            </a:r>
            <a:endParaRPr sz="1425" b="1">
              <a:solidFill>
                <a:srgbClr val="F59E0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143500" y="3057525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</a:t>
            </a:r>
            <a:endParaRPr sz="70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143500" y="32480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13/14</a:t>
            </a:r>
            <a:endParaRPr sz="1425" b="1">
              <a:solidFill>
                <a:srgbClr val="F59E0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886450" y="3057525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 rate</a:t>
            </a:r>
            <a:endParaRPr sz="70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886450" y="32480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93%</a:t>
            </a:r>
            <a:endParaRPr sz="1425" b="1">
              <a:solidFill>
                <a:srgbClr val="F59E0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629400" y="3057525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Risk/Fail</a:t>
            </a:r>
            <a:endParaRPr sz="70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629400" y="32480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1425" b="1">
              <a:solidFill>
                <a:srgbClr val="F59E0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3657600" y="3743325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Completion</a:t>
            </a:r>
            <a:endParaRPr sz="82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4686300" y="3743325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F59E0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93%</a:t>
            </a:r>
            <a:endParaRPr sz="900" b="1">
              <a:solidFill>
                <a:srgbClr val="F59E0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3657600" y="3962400"/>
            <a:ext cx="1524000" cy="104775"/>
          </a:xfrm>
          <a:prstGeom prst="roundRect">
            <a:avLst>
              <a:gd name="adj" fmla="val 50000"/>
            </a:avLst>
          </a:prstGeom>
          <a:solidFill>
            <a:srgbClr val="E5EDF2"/>
          </a:solidFill>
          <a:ln w="0">
            <a:solidFill>
              <a:srgbClr val="E5EDF2"/>
            </a:solidFill>
            <a:prstDash val="solid"/>
          </a:ln>
        </p:spPr>
      </p:sp>
      <p:sp>
        <p:nvSpPr>
          <p:cNvPr id="50" name="圆角矩形 49"/>
          <p:cNvSpPr>
            <a:spLocks noGrp="1"/>
          </p:cNvSpPr>
          <p:nvPr/>
        </p:nvSpPr>
        <p:spPr>
          <a:xfrm>
            <a:off x="3657600" y="3962400"/>
            <a:ext cx="1417320" cy="1047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5524500" y="3743325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 rate</a:t>
            </a:r>
            <a:endParaRPr sz="82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553200" y="3743325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00A86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00A86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93%</a:t>
            </a:r>
            <a:endParaRPr sz="900" b="1">
              <a:solidFill>
                <a:srgbClr val="00A86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5524500" y="3962400"/>
            <a:ext cx="1524000" cy="104775"/>
          </a:xfrm>
          <a:prstGeom prst="roundRect">
            <a:avLst>
              <a:gd name="adj" fmla="val 50000"/>
            </a:avLst>
          </a:prstGeom>
          <a:solidFill>
            <a:srgbClr val="E5EDF2"/>
          </a:solidFill>
          <a:ln w="0">
            <a:solidFill>
              <a:srgbClr val="E5EDF2"/>
            </a:solidFill>
            <a:prstDash val="solid"/>
          </a:ln>
        </p:spPr>
      </p:sp>
      <p:sp>
        <p:nvSpPr>
          <p:cNvPr id="54" name="圆角矩形 53"/>
          <p:cNvSpPr>
            <a:spLocks noGrp="1"/>
          </p:cNvSpPr>
          <p:nvPr/>
        </p:nvSpPr>
        <p:spPr>
          <a:xfrm>
            <a:off x="5524500" y="3962400"/>
            <a:ext cx="1417320" cy="104775"/>
          </a:xfrm>
          <a:prstGeom prst="roundRect">
            <a:avLst>
              <a:gd name="adj" fmla="val 50000"/>
            </a:avLst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3657600" y="420052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20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20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Max coverage: 1,085,000 cycles; main endpoint: 1,020,000 cycles</a:t>
            </a:r>
            <a:endParaRPr sz="720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6" name="椭圆 55"/>
          <p:cNvSpPr>
            <a:spLocks noGrp="1"/>
          </p:cNvSpPr>
          <p:nvPr/>
        </p:nvSpPr>
        <p:spPr>
          <a:xfrm>
            <a:off x="3695700" y="459105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3867150" y="45339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3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Workload: 14 units included; 13 units reached 1,020,000 or 1,085,000 cycles.</a:t>
            </a:r>
            <a:endParaRPr sz="730">
              <a:solidFill>
                <a:srgbClr val="26374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8" name="椭圆 57"/>
          <p:cNvSpPr>
            <a:spLocks noGrp="1"/>
          </p:cNvSpPr>
          <p:nvPr/>
        </p:nvSpPr>
        <p:spPr>
          <a:xfrm>
            <a:off x="3695700" y="4933950"/>
            <a:ext cx="76200" cy="76200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3867150" y="48768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3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 rate: 13/14 PASS; 0702A03 and 0410A04 are counted as passed.</a:t>
            </a:r>
            <a:endParaRPr sz="730">
              <a:solidFill>
                <a:srgbClr val="26374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0" name="椭圆 59"/>
          <p:cNvSpPr>
            <a:spLocks noGrp="1"/>
          </p:cNvSpPr>
          <p:nvPr/>
        </p:nvSpPr>
        <p:spPr>
          <a:xfrm>
            <a:off x="3695700" y="5276850"/>
            <a:ext cx="76200" cy="7620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3867150" y="52197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3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Risk review: 0407A01 D2 leakage</a:t>
            </a:r>
            <a:r>
              <a:rPr lang="en-US" sz="73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- 1</a:t>
            </a:r>
            <a:r>
              <a:rPr sz="73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endParaRPr sz="730">
              <a:solidFill>
                <a:srgbClr val="26374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7734300" y="2190750"/>
            <a:ext cx="3905250" cy="3409950"/>
          </a:xfrm>
          <a:prstGeom prst="roundRect">
            <a:avLst>
              <a:gd name="adj" fmla="val 2235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3" name="矩形 62"/>
          <p:cNvSpPr>
            <a:spLocks noGrp="1"/>
          </p:cNvSpPr>
          <p:nvPr/>
        </p:nvSpPr>
        <p:spPr>
          <a:xfrm>
            <a:off x="7943850" y="23812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Type 2: OTP-O ring</a:t>
            </a:r>
            <a:endParaRPr sz="1425" b="1">
              <a:solidFill>
                <a:srgbClr val="26374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7943850" y="26670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20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20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 units: ROD SEAL PIPETTE (10433+10425+10026OTP)</a:t>
            </a:r>
            <a:endParaRPr sz="720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10077450" y="2390775"/>
            <a:ext cx="12573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58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58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FAIL closed / HOLD</a:t>
            </a:r>
            <a:endParaRPr sz="580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7962900" y="3057525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Units</a:t>
            </a:r>
            <a:endParaRPr sz="70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7962900" y="32480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1425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705850" y="3057525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Endpoint</a:t>
            </a:r>
            <a:endParaRPr sz="70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8705850" y="32480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3/5</a:t>
            </a:r>
            <a:endParaRPr sz="1425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9448800" y="3057525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</a:t>
            </a:r>
            <a:endParaRPr sz="70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9448800" y="32480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2/5</a:t>
            </a:r>
            <a:endParaRPr sz="1425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0191750" y="3057525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 rate</a:t>
            </a:r>
            <a:endParaRPr sz="70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10191750" y="32480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40%</a:t>
            </a:r>
            <a:endParaRPr sz="1425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10934700" y="3057525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0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Risk/Fail</a:t>
            </a:r>
            <a:endParaRPr sz="70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10934700" y="32480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1425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7962900" y="3743325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Completion</a:t>
            </a:r>
            <a:endParaRPr sz="82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8991600" y="3743325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60%</a:t>
            </a:r>
            <a:endParaRPr sz="900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7962900" y="3962400"/>
            <a:ext cx="1524000" cy="104775"/>
          </a:xfrm>
          <a:prstGeom prst="roundRect">
            <a:avLst>
              <a:gd name="adj" fmla="val 50000"/>
            </a:avLst>
          </a:prstGeom>
          <a:solidFill>
            <a:srgbClr val="E5EDF2"/>
          </a:solidFill>
          <a:ln w="0">
            <a:solidFill>
              <a:srgbClr val="E5EDF2"/>
            </a:solidFill>
            <a:prstDash val="solid"/>
          </a:ln>
        </p:spPr>
      </p:sp>
      <p:sp>
        <p:nvSpPr>
          <p:cNvPr id="79" name="圆角矩形 78"/>
          <p:cNvSpPr>
            <a:spLocks noGrp="1"/>
          </p:cNvSpPr>
          <p:nvPr/>
        </p:nvSpPr>
        <p:spPr>
          <a:xfrm>
            <a:off x="7962900" y="3962400"/>
            <a:ext cx="914400" cy="10477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9829800" y="3743325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 rate</a:t>
            </a:r>
            <a:endParaRPr sz="825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10858500" y="3743325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DC262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40%</a:t>
            </a:r>
            <a:endParaRPr sz="900" b="1">
              <a:solidFill>
                <a:srgbClr val="DC262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9829800" y="3962400"/>
            <a:ext cx="1524000" cy="104775"/>
          </a:xfrm>
          <a:prstGeom prst="roundRect">
            <a:avLst>
              <a:gd name="adj" fmla="val 50000"/>
            </a:avLst>
          </a:prstGeom>
          <a:solidFill>
            <a:srgbClr val="E5EDF2"/>
          </a:solidFill>
          <a:ln w="0">
            <a:solidFill>
              <a:srgbClr val="E5EDF2"/>
            </a:solidFill>
            <a:prstDash val="solid"/>
          </a:ln>
        </p:spPr>
      </p:sp>
      <p:sp>
        <p:nvSpPr>
          <p:cNvPr id="83" name="圆角矩形 82"/>
          <p:cNvSpPr>
            <a:spLocks noGrp="1"/>
          </p:cNvSpPr>
          <p:nvPr/>
        </p:nvSpPr>
        <p:spPr>
          <a:xfrm>
            <a:off x="9829800" y="3962400"/>
            <a:ext cx="609600" cy="10477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7962900" y="420052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20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20" b="1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 units reached 1,020,000 cycles; 2 stopped at 150%-175%</a:t>
            </a:r>
            <a:endParaRPr sz="720" b="1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5" name="椭圆 84"/>
          <p:cNvSpPr>
            <a:spLocks noGrp="1"/>
          </p:cNvSpPr>
          <p:nvPr/>
        </p:nvSpPr>
        <p:spPr>
          <a:xfrm>
            <a:off x="8001000" y="459105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8172450" y="45339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3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Workload: 5 units included; coverage from 0 to 1,020,000 cycles, with 2 STOP/FAIL units.</a:t>
            </a:r>
            <a:endParaRPr sz="730">
              <a:solidFill>
                <a:srgbClr val="26374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7" name="椭圆 86"/>
          <p:cNvSpPr>
            <a:spLocks noGrp="1"/>
          </p:cNvSpPr>
          <p:nvPr/>
        </p:nvSpPr>
        <p:spPr>
          <a:xfrm>
            <a:off x="8001000" y="4933950"/>
            <a:ext cx="76200" cy="76200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8172450" y="48768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3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 rate: 2/5 PASS; 1 QC risk; 2 units have analysis reports and closed Fail disposition.</a:t>
            </a:r>
            <a:endParaRPr sz="730">
              <a:solidFill>
                <a:srgbClr val="26374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9" name="椭圆 88"/>
          <p:cNvSpPr>
            <a:spLocks noGrp="1"/>
          </p:cNvSpPr>
          <p:nvPr/>
        </p:nvSpPr>
        <p:spPr>
          <a:xfrm>
            <a:off x="8001000" y="5276850"/>
            <a:ext cx="76200" cy="7620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8172450" y="52197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3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30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Main risks: D3/G9 low aspiration, E10/B7 no aspiration, leakage, and 4.16% CV at 1,020,000 cycles.</a:t>
            </a:r>
            <a:endParaRPr sz="730">
              <a:solidFill>
                <a:srgbClr val="26374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533400" y="5753100"/>
            <a:ext cx="11106150" cy="723900"/>
          </a:xfrm>
          <a:prstGeom prst="roundRect">
            <a:avLst>
              <a:gd name="adj" fmla="val 10526"/>
            </a:avLst>
          </a:prstGeom>
          <a:solidFill>
            <a:srgbClr val="EAF7FC"/>
          </a:solidFill>
          <a:ln w="9525">
            <a:solidFill>
              <a:srgbClr val="0891B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2" name="圆角矩形 91"/>
          <p:cNvSpPr>
            <a:spLocks noGrp="1"/>
          </p:cNvSpPr>
          <p:nvPr/>
        </p:nvSpPr>
        <p:spPr>
          <a:xfrm>
            <a:off x="800100" y="598170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DDF6FB"/>
          </a:solidFill>
          <a:ln w="0">
            <a:solidFill>
              <a:srgbClr val="DDF6F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891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0891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Conclusion</a:t>
            </a:r>
            <a:endParaRPr sz="975" b="1">
              <a:solidFill>
                <a:srgbClr val="0891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2095500" y="5829300"/>
            <a:ext cx="885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85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85">
                <a:solidFill>
                  <a:srgbClr val="26374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Mold Oring aging validation shows a clear lifetime improvement: compared with the original 270,000-cycle design life, current units passed 1,020,000-1,085,000 cycles, reaching about 3.8-4.0x life (approximately 278%-302% improvement). </a:t>
            </a:r>
            <a:endParaRPr lang="zh-CN" sz="885">
              <a:solidFill>
                <a:srgbClr val="263746"/>
              </a:solidFill>
              <a:latin typeface="Arial" panose="020B0604020202090204"/>
              <a:ea typeface="宋体" charset="0"/>
              <a:cs typeface="Arial" panose="020B0604020202090204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752475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75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675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Note: Some P2HHV32 rows in the aging summary table lag behind; final statistics use the latest RD detail nodes.</a:t>
            </a:r>
            <a:endParaRPr sz="675">
              <a:solidFill>
                <a:srgbClr val="6474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1767</Words>
  <Application>WPS 表格</Application>
  <PresentationFormat>Converted Presentation</PresentationFormat>
  <Paragraphs>124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Arial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Calibri Light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Wye</cp:lastModifiedBy>
  <cp:revision>5</cp:revision>
  <dcterms:created xsi:type="dcterms:W3CDTF">2026-06-17T06:28:25Z</dcterms:created>
  <dcterms:modified xsi:type="dcterms:W3CDTF">2026-06-17T06:28:25Z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FEB01E681D0E6DB41F3D326A7920DF35_42</vt:lpwstr>
  </property>
  <property fmtid="{D5CDD505-2E9C-101B-9397-08002B2CF9AE}" pid="3" name="KSOProductBuildVer">
    <vt:lpwstr>2052-12.1.25895.25895</vt:lpwstr>
  </property>
</Properties>
</file>