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Max CV</c:f>
              <c:strCache>
                <c:ptCount val="1"/>
                <c:pt idx="0">
                  <c:v>Max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</c:spPr>
          </c:dPt>
          <c:dPt>
            <c:idx val="4"/>
            <c:invertIfNegative val="0"/>
            <c:bubble3D val="0"/>
            <c:spPr>
              <a:solidFill>
                <a:srgbClr val="B45309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{6.83,0.52,0.74,0.47,4.16}</c:f>
              <c:numCache>
                <c:formatCode>0.0</c:formatCode>
                <c:ptCount val="5"/>
                <c:pt idx="0">
                  <c:v>6.83</c:v>
                </c:pt>
                <c:pt idx="1">
                  <c:v>0.52</c:v>
                </c:pt>
                <c:pt idx="2">
                  <c:v>0.74</c:v>
                </c:pt>
                <c:pt idx="3">
                  <c:v>0.47</c:v>
                </c:pt>
                <c:pt idx="4">
                  <c:v>4.16</c:v>
                </c:pt>
              </c:numCache>
            </c:numRef>
          </c:val>
        </c:ser>
        <c:ser>
          <c:idx val="1"/>
          <c:order val="1"/>
          <c:tx>
            <c:strRef>
              <c:f>QC 4%</c:f>
              <c:strCache>
                <c:ptCount val="1"/>
                <c:pt idx="0">
                  <c:v>QC 4%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{4,4,4,4,4}</c:f>
              <c:numCache>
                <c:formatCode>0.0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Customer 5%</c:f>
              <c:strCache>
                <c:ptCount val="1"/>
                <c:pt idx="0">
                  <c:v>Customer 5%</c:v>
                </c:pt>
              </c:strCache>
            </c:strRef>
          </c:tx>
          <c:spPr>
            <a:solidFill>
              <a:srgbClr val="DBEAFE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{5,5,5,5,5}</c:f>
              <c:numCache>
                <c:formatCode>0.0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.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5361148-b004-4b17-ab39-3eba9fc4bae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Max worst-channel CV</c:f>
              <c:strCache>
                <c:ptCount val="1"/>
                <c:pt idx="0">
                  <c:v>Max worst-channel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2"/>
            <c:invertIfNegative val="0"/>
            <c:bubble3D val="0"/>
            <c:spPr>
              <a:solidFill>
                <a:srgbClr val="F59E0B"/>
              </a:solidFill>
            </c:spPr>
          </c:dPt>
          <c:dPt>
            <c:idx val="4"/>
            <c:invertIfNegative val="0"/>
            <c:bubble3D val="0"/>
            <c:spPr>
              <a:solidFill>
                <a:srgbClr val="B45309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{0.81,1.07,3.45,0.66,2.3}</c:f>
              <c:numCache>
                <c:formatCode>0.0</c:formatCode>
                <c:ptCount val="5"/>
                <c:pt idx="0">
                  <c:v>0.81</c:v>
                </c:pt>
                <c:pt idx="1">
                  <c:v>1.07</c:v>
                </c:pt>
                <c:pt idx="2">
                  <c:v>3.45</c:v>
                </c:pt>
                <c:pt idx="3">
                  <c:v>0.66</c:v>
                </c:pt>
                <c:pt idx="4">
                  <c:v>2.3</c:v>
                </c:pt>
              </c:numCache>
            </c:numRef>
          </c:val>
        </c:ser>
        <c:ser>
          <c:idx val="1"/>
          <c:order val="1"/>
          <c:tx>
            <c:strRef>
              <c:f>QC 5.6%</c:f>
              <c:strCache>
                <c:ptCount val="1"/>
                <c:pt idx="0">
                  <c:v>QC 5.6%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{5.6,5.6,5.6,5.6,5.6}</c:f>
              <c:numCache>
                <c:formatCode>0.0</c:formatCode>
                <c:ptCount val="5"/>
                <c:pt idx="0">
                  <c:v>5.6</c:v>
                </c:pt>
                <c:pt idx="1">
                  <c:v>5.6</c:v>
                </c:pt>
                <c:pt idx="2">
                  <c:v>5.6</c:v>
                </c:pt>
                <c:pt idx="3">
                  <c:v>5.6</c:v>
                </c:pt>
                <c:pt idx="4">
                  <c:v>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.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91c6c56-80ac-4616-9a6e-9fd10f0d4453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DC2626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{"0%","100%","175%"}</c:f>
              <c:strCache>
                <c:ptCount val="3"/>
                <c:pt idx="0">
                  <c:v>0%</c:v>
                </c:pt>
                <c:pt idx="1">
                  <c:v>100%</c:v>
                </c:pt>
                <c:pt idx="2">
                  <c:v>175%</c:v>
                </c:pt>
              </c:strCache>
            </c:strRef>
          </c:cat>
          <c:val>
            <c:numRef>
              <c:f>{0.46,0.65,6.83}</c:f>
              <c:numCache>
                <c:formatCode>0.0</c:formatCode>
                <c:ptCount val="3"/>
                <c:pt idx="0">
                  <c:v>0.46</c:v>
                </c:pt>
                <c:pt idx="1">
                  <c:v>0.65</c:v>
                </c:pt>
                <c:pt idx="2">
                  <c:v>6.83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{"0%","100%","175%"}</c:f>
              <c:strCache>
                <c:ptCount val="3"/>
                <c:pt idx="0">
                  <c:v>0%</c:v>
                </c:pt>
                <c:pt idx="1">
                  <c:v>100%</c:v>
                </c:pt>
                <c:pt idx="2">
                  <c:v>175%</c:v>
                </c:pt>
              </c:strCache>
            </c:strRef>
          </c:cat>
          <c:val>
            <c:numRef>
              <c:f>{0.78,0.81,0.77}</c:f>
              <c:numCache>
                <c:formatCode>0.0</c:formatCode>
                <c:ptCount val="3"/>
                <c:pt idx="0">
                  <c:v>0.78</c:v>
                </c:pt>
                <c:pt idx="1">
                  <c:v>0.81</c:v>
                </c:pt>
                <c:pt idx="2">
                  <c:v>0.77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.5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dcb0791-2421-43e2-ba2d-35ecefd31ed4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00A86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{0.43,0.51,0.52,0.52,0.41}</c:f>
              <c:numCache>
                <c:formatCode>0.0</c:formatCode>
                <c:ptCount val="5"/>
                <c:pt idx="0">
                  <c:v>0.43</c:v>
                </c:pt>
                <c:pt idx="1">
                  <c:v>0.51</c:v>
                </c:pt>
                <c:pt idx="2">
                  <c:v>0.52</c:v>
                </c:pt>
                <c:pt idx="3">
                  <c:v>0.52</c:v>
                </c:pt>
                <c:pt idx="4">
                  <c:v>0.41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{0.7,0.94,1.07,0.73,0.64}</c:f>
              <c:numCache>
                <c:formatCode>0.0</c:formatCode>
                <c:ptCount val="5"/>
                <c:pt idx="0">
                  <c:v>0.7</c:v>
                </c:pt>
                <c:pt idx="1">
                  <c:v>0.94</c:v>
                </c:pt>
                <c:pt idx="2">
                  <c:v>1.07</c:v>
                </c:pt>
                <c:pt idx="3">
                  <c:v>0.73</c:v>
                </c:pt>
                <c:pt idx="4">
                  <c:v>0.64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6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7b0ce78-94a7-4f7e-a7f0-4fb7f877645f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4285F4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{0.47,0.58,0.74,0.42,0.43}</c:f>
              <c:numCache>
                <c:formatCode>0.0</c:formatCode>
                <c:ptCount val="5"/>
                <c:pt idx="0">
                  <c:v>0.47</c:v>
                </c:pt>
                <c:pt idx="1">
                  <c:v>0.58</c:v>
                </c:pt>
                <c:pt idx="2">
                  <c:v>0.74</c:v>
                </c:pt>
                <c:pt idx="3">
                  <c:v>0.42</c:v>
                </c:pt>
                <c:pt idx="4">
                  <c:v>0.43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{0.73,0.91,3.45,0.65,0.75}</c:f>
              <c:numCache>
                <c:formatCode>0.0</c:formatCode>
                <c:ptCount val="5"/>
                <c:pt idx="0">
                  <c:v>0.73</c:v>
                </c:pt>
                <c:pt idx="1">
                  <c:v>0.91</c:v>
                </c:pt>
                <c:pt idx="2">
                  <c:v>3.45</c:v>
                </c:pt>
                <c:pt idx="3">
                  <c:v>0.65</c:v>
                </c:pt>
                <c:pt idx="4">
                  <c:v>0.75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f72d921-276a-43aa-a2b4-1958e7f757a7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{"0%","100%"}</c:f>
              <c:strCache>
                <c:ptCount val="2"/>
                <c:pt idx="0">
                  <c:v>0%</c:v>
                </c:pt>
                <c:pt idx="1">
                  <c:v>100%</c:v>
                </c:pt>
              </c:strCache>
            </c:strRef>
          </c:cat>
          <c:val>
            <c:numRef>
              <c:f>{0.43,0.47}</c:f>
              <c:numCache>
                <c:formatCode>0.0</c:formatCode>
                <c:ptCount val="2"/>
                <c:pt idx="0">
                  <c:v>0.43</c:v>
                </c:pt>
                <c:pt idx="1">
                  <c:v>0.47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{"0%","100%"}</c:f>
              <c:strCache>
                <c:ptCount val="2"/>
                <c:pt idx="0">
                  <c:v>0%</c:v>
                </c:pt>
                <c:pt idx="1">
                  <c:v>100%</c:v>
                </c:pt>
              </c:strCache>
            </c:strRef>
          </c:cat>
          <c:val>
            <c:numRef>
              <c:f>{0.66,0.61}</c:f>
              <c:numCache>
                <c:formatCode>0.0</c:formatCode>
                <c:ptCount val="2"/>
                <c:pt idx="0">
                  <c:v>0.66</c:v>
                </c:pt>
                <c:pt idx="1">
                  <c:v>0.61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6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30b98d3-18cf-49c6-b583-f6efef306e8d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{0.4,0.74,1.08,1.4,4.16}</c:f>
              <c:numCache>
                <c:formatCode>0.0</c:formatCode>
                <c:ptCount val="5"/>
                <c:pt idx="0">
                  <c:v>0.4</c:v>
                </c:pt>
                <c:pt idx="1">
                  <c:v>0.74</c:v>
                </c:pt>
                <c:pt idx="2">
                  <c:v>1.08</c:v>
                </c:pt>
                <c:pt idx="3">
                  <c:v>1.4</c:v>
                </c:pt>
                <c:pt idx="4">
                  <c:v>4.16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{0.73,1.73,0.78,2.3,0.93}</c:f>
              <c:numCache>
                <c:formatCode>0.0</c:formatCode>
                <c:ptCount val="5"/>
                <c:pt idx="0">
                  <c:v>0.73</c:v>
                </c:pt>
                <c:pt idx="1">
                  <c:v>1.73</c:v>
                </c:pt>
                <c:pt idx="2">
                  <c:v>0.78</c:v>
                </c:pt>
                <c:pt idx="3">
                  <c:v>2.3</c:v>
                </c:pt>
                <c:pt idx="4">
                  <c:v>0.93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6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1610f6a-bacc-4acd-8774-fce6f12f60b4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0" name="Google Shape;10;p2"/>
          <p:cNvSpPr>
            <a:spLocks noGrp="1"/>
          </p:cNvSpPr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>
            <a:spLocks noGrp="1"/>
          </p:cNvSpPr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3" name="Google Shape;13;p2"/>
          <p:cNvSpPr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16" name="Google Shape;16;p3"/>
          <p:cNvSpPr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17" name="Google Shape;17;p3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19" name="Google Shape;19;p4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Google Shape;22;p4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23" name="Google Shape;23;p4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25" name="Google Shape;25;p5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32" name="Google Shape;32;p6"/>
          <p:cNvSpPr>
            <a:spLocks noGrp="1"/>
          </p:cNvSpPr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>
            <a:spLocks noGrp="1"/>
          </p:cNvSpPr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5" name="Google Shape;35;p6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37" name="Google Shape;37;p7"/>
          <p:cNvSpPr>
            <a:spLocks noGrp="1"/>
          </p:cNvSpPr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>
            <a:spLocks noGrp="1"/>
          </p:cNvSpPr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0" name="Google Shape;40;p7"/>
          <p:cNvSpPr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43" name="Google Shape;43;p8"/>
          <p:cNvSpPr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4" name="Google Shape;44;p8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46" name="Google Shape;46;p9"/>
          <p:cNvSpPr>
            <a:spLocks noGrp="1"/>
          </p:cNvSpPr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>
            <a:spLocks noGrp="1"/>
          </p:cNvSpPr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50" name="Google Shape;50;p9"/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53" name="Google Shape;53;p10"/>
          <p:cNvSpPr>
            <a:spLocks noGrp="1"/>
          </p:cNvSpPr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>
            <a:spLocks noGrp="1"/>
          </p:cNvSpPr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Google Shape;58;p11"/>
          <p:cNvSpPr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60" name="Google Shape;60;p1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" name="Google Shape;62;p1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" name="Google Shape;64;p13"/>
          <p:cNvSpPr>
            <a:spLocks noGrp="1"/>
          </p:cNvSpPr>
          <p:nvPr/>
        </p:nvSpPr>
        <p:spPr>
          <a:xfrm>
            <a:off x="3147875" y="-7225"/>
            <a:ext cx="5992800" cy="11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-3325" y="-7225"/>
            <a:ext cx="31512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title"/>
          </p:nvPr>
        </p:nvSpPr>
        <p:spPr>
          <a:xfrm>
            <a:off x="3804125" y="1709775"/>
            <a:ext cx="4657200" cy="1558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/>
        </p:txBody>
      </p:sp>
      <p:sp>
        <p:nvSpPr>
          <p:cNvPr id="67" name="Google Shape;67;p13"/>
          <p:cNvSpPr>
            <a:spLocks noGrp="1"/>
          </p:cNvSpPr>
          <p:nvPr>
            <p:ph type="subTitle" idx="1"/>
          </p:nvPr>
        </p:nvSpPr>
        <p:spPr>
          <a:xfrm>
            <a:off x="3804125" y="3562650"/>
            <a:ext cx="35271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68" name="Google Shape;68;p13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3807449" y="373242"/>
            <a:ext cx="1338752" cy="373266"/>
          </a:xfrm>
          <a:prstGeom prst="rect">
            <a:avLst/>
          </a:prstGeom>
          <a:ln>
            <a:noFill/>
          </a:ln>
        </p:spPr>
      </p:pic>
      <p:sp>
        <p:nvSpPr>
          <p:cNvPr id="69" name="Google Shape;69;p13"/>
          <p:cNvSpPr>
            <a:spLocks noGrp="1"/>
          </p:cNvSpPr>
          <p:nvPr>
            <p:ph type="subTitle" idx="3"/>
          </p:nvPr>
        </p:nvSpPr>
        <p:spPr>
          <a:xfrm>
            <a:off x="3807450" y="4231250"/>
            <a:ext cx="3119100" cy="228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3804125" y="1553188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Option 2">
  <p:cSld name="CUSTOM_3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Google Shape;72;p14"/>
          <p:cNvSpPr>
            <a:spLocks noGrp="1"/>
          </p:cNvSpPr>
          <p:nvPr/>
        </p:nvSpPr>
        <p:spPr>
          <a:xfrm>
            <a:off x="0" y="-7225"/>
            <a:ext cx="9144000" cy="51507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4"/>
          <p:cNvSpPr>
            <a:spLocks noGrp="1"/>
          </p:cNvSpPr>
          <p:nvPr>
            <p:ph type="title"/>
          </p:nvPr>
        </p:nvSpPr>
        <p:spPr>
          <a:xfrm>
            <a:off x="659575" y="1810950"/>
            <a:ext cx="5355900" cy="1521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4"/>
          <p:cNvSpPr>
            <a:spLocks noGrp="1"/>
          </p:cNvSpPr>
          <p:nvPr>
            <p:ph type="subTitle" idx="1"/>
          </p:nvPr>
        </p:nvSpPr>
        <p:spPr>
          <a:xfrm>
            <a:off x="659575" y="4008175"/>
            <a:ext cx="24699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sp>
        <p:nvSpPr>
          <p:cNvPr id="75" name="Google Shape;75;p14"/>
          <p:cNvSpPr>
            <a:spLocks noGrp="1"/>
          </p:cNvSpPr>
          <p:nvPr>
            <p:ph type="subTitle" idx="2"/>
          </p:nvPr>
        </p:nvSpPr>
        <p:spPr>
          <a:xfrm>
            <a:off x="3344675" y="4041205"/>
            <a:ext cx="1791000" cy="417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6" name="Google Shape;76;p14"/>
          <p:cNvCxnSpPr/>
          <p:nvPr/>
        </p:nvCxnSpPr>
        <p:spPr>
          <a:xfrm>
            <a:off x="682300" y="1629963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/>
          <p:cNvSpPr>
            <a:spLocks noGrp="1"/>
          </p:cNvSpPr>
          <p:nvPr>
            <p:ph type="subTitle" idx="3"/>
          </p:nvPr>
        </p:nvSpPr>
        <p:spPr>
          <a:xfrm>
            <a:off x="682300" y="1313400"/>
            <a:ext cx="1155600" cy="135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78" name="Google Shape;78;p14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7335754" y="313824"/>
            <a:ext cx="1125551" cy="313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86" name="Google Shape;86;p16"/>
          <p:cNvSpPr>
            <a:spLocks noGrp="1"/>
          </p:cNvSpPr>
          <p:nvPr>
            <p:ph type="ctrTitle"/>
          </p:nvPr>
        </p:nvSpPr>
        <p:spPr>
          <a:xfrm>
            <a:off x="899100" y="685800"/>
            <a:ext cx="73494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6"/>
          <p:cNvSpPr>
            <a:spLocks noGrp="1"/>
          </p:cNvSpPr>
          <p:nvPr>
            <p:ph type="subTitle" idx="1"/>
          </p:nvPr>
        </p:nvSpPr>
        <p:spPr>
          <a:xfrm>
            <a:off x="899100" y="2670300"/>
            <a:ext cx="73494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88" name="Google Shape;88;p1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92" name="Google Shape;92;p17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17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94" name="Google Shape;94;p17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17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17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98" name="Google Shape;98;p18"/>
          <p:cNvSpPr>
            <a:spLocks noGrp="1"/>
          </p:cNvSpPr>
          <p:nvPr>
            <p:ph type="title"/>
          </p:nvPr>
        </p:nvSpPr>
        <p:spPr>
          <a:xfrm>
            <a:off x="1493100" y="2886300"/>
            <a:ext cx="58266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18"/>
          <p:cNvSpPr>
            <a:spLocks noGrp="1"/>
          </p:cNvSpPr>
          <p:nvPr>
            <p:ph type="body" idx="1"/>
          </p:nvPr>
        </p:nvSpPr>
        <p:spPr>
          <a:xfrm>
            <a:off x="1493100" y="3461400"/>
            <a:ext cx="58266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8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8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104" name="Google Shape;104;p19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19"/>
          <p:cNvSpPr>
            <a:spLocks noGrp="1"/>
          </p:cNvSpPr>
          <p:nvPr>
            <p:ph type="body" idx="1"/>
          </p:nvPr>
        </p:nvSpPr>
        <p:spPr>
          <a:xfrm>
            <a:off x="4563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6" name="Google Shape;106;p19"/>
          <p:cNvSpPr>
            <a:spLocks noGrp="1"/>
          </p:cNvSpPr>
          <p:nvPr>
            <p:ph type="body" idx="2"/>
          </p:nvPr>
        </p:nvSpPr>
        <p:spPr>
          <a:xfrm>
            <a:off x="48087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7" name="Google Shape;107;p19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9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19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111" name="Google Shape;111;p20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20"/>
          <p:cNvSpPr>
            <a:spLocks noGrp="1"/>
          </p:cNvSpPr>
          <p:nvPr>
            <p:ph type="body" idx="1"/>
          </p:nvPr>
        </p:nvSpPr>
        <p:spPr>
          <a:xfrm>
            <a:off x="456300" y="1071900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3" name="Google Shape;113;p20"/>
          <p:cNvSpPr>
            <a:spLocks noGrp="1"/>
          </p:cNvSpPr>
          <p:nvPr>
            <p:ph type="body" idx="2"/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4" name="Google Shape;114;p20"/>
          <p:cNvSpPr>
            <a:spLocks noGrp="1"/>
          </p:cNvSpPr>
          <p:nvPr>
            <p:ph type="body" idx="3"/>
          </p:nvPr>
        </p:nvSpPr>
        <p:spPr>
          <a:xfrm>
            <a:off x="4676813" y="1066297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5" name="Google Shape;115;p20"/>
          <p:cNvSpPr>
            <a:spLocks noGrp="1"/>
          </p:cNvSpPr>
          <p:nvPr>
            <p:ph type="body" idx="4"/>
          </p:nvPr>
        </p:nvSpPr>
        <p:spPr>
          <a:xfrm>
            <a:off x="4676813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6" name="Google Shape;116;p20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7" name="Google Shape;117;p20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20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120" name="Google Shape;120;p21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" name="Google Shape;121;p21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1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1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125" name="Google Shape;125;p22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6" name="Google Shape;126;p22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7" name="Google Shape;127;p22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/>
      <p:sp>
        <p:nvSpPr>
          <p:cNvPr id="129" name="Google Shape;129;p23"/>
          <p:cNvSpPr>
            <a:spLocks noGrp="1"/>
          </p:cNvSpPr>
          <p:nvPr>
            <p:ph type="pic" idx="2"/>
          </p:nvPr>
        </p:nvSpPr>
        <p:spPr>
          <a:xfrm>
            <a:off x="456247" y="1166336"/>
            <a:ext cx="3924600" cy="3456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3"/>
          <p:cNvSpPr>
            <a:spLocks noGrp="1"/>
          </p:cNvSpPr>
          <p:nvPr>
            <p:ph type="body" idx="1"/>
          </p:nvPr>
        </p:nvSpPr>
        <p:spPr>
          <a:xfrm>
            <a:off x="4762800" y="1166400"/>
            <a:ext cx="39204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1" name="Google Shape;131;p23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2" name="Google Shape;132;p23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3" name="Google Shape;133;p23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3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137" name="Google Shape;137;p24"/>
          <p:cNvSpPr>
            <a:spLocks noGrp="1"/>
          </p:cNvSpPr>
          <p:nvPr>
            <p:ph type="title"/>
          </p:nvPr>
        </p:nvSpPr>
        <p:spPr>
          <a:xfrm rot="5400000">
            <a:off x="6181650" y="2180250"/>
            <a:ext cx="3771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4"/>
          <p:cNvSpPr>
            <a:spLocks noGrp="1"/>
          </p:cNvSpPr>
          <p:nvPr>
            <p:ph type="body" idx="1"/>
          </p:nvPr>
        </p:nvSpPr>
        <p:spPr>
          <a:xfrm rot="5400000">
            <a:off x="2238300" y="-866700"/>
            <a:ext cx="3771900" cy="68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100" tIns="35100" rIns="351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9" name="Google Shape;139;p24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4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4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142" name="Google Shape;142;p24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"/>
        <p:cNvGrpSpPr/>
        <p:nvPr/>
      </p:nvGrpSpPr>
      <p:grpSpPr/>
      <p:sp>
        <p:nvSpPr>
          <p:cNvPr id="144" name="Google Shape;144;p2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5" name="Google Shape;145;p2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Google Shape;146;p2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body" idx="1"/>
          </p:nvPr>
        </p:nvSpPr>
        <p:spPr>
          <a:xfrm>
            <a:off x="456300" y="580500"/>
            <a:ext cx="82296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48" name="Google Shape;148;p25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/>
      <p:sp>
        <p:nvSpPr>
          <p:cNvPr id="150" name="Google Shape;150;p2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1" name="Google Shape;151;p2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53" name="Google Shape;153;p26"/>
          <p:cNvSpPr>
            <a:spLocks noGrp="1"/>
          </p:cNvSpPr>
          <p:nvPr>
            <p:ph type="title"/>
          </p:nvPr>
        </p:nvSpPr>
        <p:spPr>
          <a:xfrm>
            <a:off x="899100" y="1863000"/>
            <a:ext cx="73494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" name="Google Shape;154;p26"/>
          <p:cNvSpPr>
            <a:spLocks noGrp="1"/>
          </p:cNvSpPr>
          <p:nvPr>
            <p:ph type="body" idx="1"/>
          </p:nvPr>
        </p:nvSpPr>
        <p:spPr>
          <a:xfrm>
            <a:off x="899100" y="2670300"/>
            <a:ext cx="7349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55" name="Google Shape;155;p26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/>
      <p:sp>
        <p:nvSpPr>
          <p:cNvPr id="157" name="Google Shape;157;p27"/>
          <p:cNvSpPr>
            <a:spLocks noGrp="1"/>
          </p:cNvSpPr>
          <p:nvPr>
            <p:ph type="sldNum" idx="12"/>
          </p:nvPr>
        </p:nvSpPr>
        <p:spPr>
          <a:xfrm>
            <a:off x="8353559" y="4632722"/>
            <a:ext cx="504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cxnSp>
        <p:nvCxnSpPr>
          <p:cNvPr id="158" name="Google Shape;158;p27"/>
          <p:cNvCxnSpPr/>
          <p:nvPr/>
        </p:nvCxnSpPr>
        <p:spPr>
          <a:xfrm>
            <a:off x="457200" y="528712"/>
            <a:ext cx="685800" cy="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/>
          <p:cNvSpPr>
            <a:spLocks noGrp="1"/>
          </p:cNvSpPr>
          <p:nvPr>
            <p:ph type="title"/>
          </p:nvPr>
        </p:nvSpPr>
        <p:spPr>
          <a:xfrm>
            <a:off x="457201" y="699165"/>
            <a:ext cx="7543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0" name="Google Shape;80;p15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1" name="Google Shape;81;p15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2" name="Google Shape;82;p1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3" name="Google Shape;83;p1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4" name="Google Shape;84;p1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" name="Google Shape;167;p28"/>
          <p:cNvSpPr>
            <a:spLocks noGrp="1"/>
          </p:cNvSpPr>
          <p:nvPr>
            <p:ph type="ctrTitle"/>
          </p:nvPr>
        </p:nvSpPr>
        <p:spPr>
          <a:xfrm>
            <a:off x="3181350" y="1707900"/>
            <a:ext cx="5801400" cy="118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P2HHV32 96CH LV Rod Seal Aging Test Report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168" name="Google Shape;168;p28"/>
          <p:cNvSpPr>
            <a:spLocks noGrp="1"/>
          </p:cNvSpPr>
          <p:nvPr>
            <p:ph type="subTitle" idx="1"/>
          </p:nvPr>
        </p:nvSpPr>
        <p:spPr>
          <a:xfrm>
            <a:off x="7023625" y="3748200"/>
            <a:ext cx="3054300" cy="49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5714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2026.06.15</a:t>
            </a:r>
            <a:endParaRPr sz="1350">
              <a:solidFill>
                <a:srgbClr val="FFFFFF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72" name="Google Shape;169;p28"/>
          <p:cNvPicPr>
            <a:picLocks noChangeAspect="1"/>
          </p:cNvPicPr>
          <p:nvPr>
            <p:ph type="pic" idx="2"/>
          </p:nvPr>
        </p:nvPicPr>
        <p:blipFill rotWithShape="1">
          <a:blip r:embed="rId1"/>
          <a:srcRect l="1393" r="65272" b="22654"/>
          <a:stretch>
            <a:fillRect/>
          </a:stretch>
        </p:blipFill>
        <p:spPr>
          <a:xfrm>
            <a:off x="0" y="0"/>
            <a:ext cx="3181348" cy="5143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1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Executive Summary: Aging Test Conclusions for 5 Rod Seal Pipettes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矩形 218"/>
          <p:cNvSpPr>
            <a:spLocks noGrp="1"/>
          </p:cNvSpPr>
          <p:nvPr/>
        </p:nvSpPr>
        <p:spPr>
          <a:xfrm>
            <a:off x="60960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Total Units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1" name="圆角矩形 220"/>
          <p:cNvSpPr>
            <a:spLocks noGrp="1"/>
          </p:cNvSpPr>
          <p:nvPr/>
        </p:nvSpPr>
        <p:spPr>
          <a:xfrm>
            <a:off x="211455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2" name="矩形 221"/>
          <p:cNvSpPr>
            <a:spLocks noGrp="1"/>
          </p:cNvSpPr>
          <p:nvPr/>
        </p:nvSpPr>
        <p:spPr>
          <a:xfrm>
            <a:off x="222885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222885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373380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384810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Fail / Stop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384810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2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535305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546735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QC Risk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546735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1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30" name="圆角矩形 229"/>
          <p:cNvSpPr>
            <a:spLocks noGrp="1"/>
          </p:cNvSpPr>
          <p:nvPr/>
        </p:nvSpPr>
        <p:spPr>
          <a:xfrm>
            <a:off x="495300" y="2038350"/>
            <a:ext cx="4953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1" name="矩形 230"/>
          <p:cNvSpPr>
            <a:spLocks noGrp="1"/>
          </p:cNvSpPr>
          <p:nvPr/>
        </p:nvSpPr>
        <p:spPr>
          <a:xfrm>
            <a:off x="742950" y="2266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5" b="1">
                <a:solidFill>
                  <a:srgbClr val="333333"/>
                </a:solidFill>
              </a:defRPr>
            </a:pPr>
            <a:r>
              <a:rPr sz="1165" b="1">
                <a:solidFill>
                  <a:srgbClr val="333333"/>
                </a:solidFill>
              </a:rPr>
              <a:t>Overall Conclusion</a:t>
            </a:r>
            <a:endParaRPr sz="1165" b="1">
              <a:solidFill>
                <a:srgbClr val="333333"/>
              </a:solidFill>
            </a:endParaRPr>
          </a:p>
        </p:txBody>
      </p:sp>
      <p:sp>
        <p:nvSpPr>
          <p:cNvPr id="232" name="椭圆 231"/>
          <p:cNvSpPr>
            <a:spLocks noGrp="1"/>
          </p:cNvSpPr>
          <p:nvPr/>
        </p:nvSpPr>
        <p:spPr>
          <a:xfrm>
            <a:off x="781050" y="2676525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971550" y="26289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333333"/>
                </a:solidFill>
              </a:defRPr>
            </a:pPr>
            <a:r>
              <a:rPr sz="790">
                <a:solidFill>
                  <a:srgbClr val="333333"/>
                </a:solidFill>
              </a:rPr>
              <a:t>0409A03 and 0409A02 completed 392% / 1,020,000 cycles; available CV and worst-channel CV meet QC/customer specifications.</a:t>
            </a:r>
            <a:endParaRPr sz="790">
              <a:solidFill>
                <a:srgbClr val="333333"/>
              </a:solidFill>
            </a:endParaRPr>
          </a:p>
        </p:txBody>
      </p:sp>
      <p:sp>
        <p:nvSpPr>
          <p:cNvPr id="234" name="椭圆 233"/>
          <p:cNvSpPr>
            <a:spLocks noGrp="1"/>
          </p:cNvSpPr>
          <p:nvPr/>
        </p:nvSpPr>
        <p:spPr>
          <a:xfrm>
            <a:off x="781050" y="3124200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5" name="矩形 234"/>
          <p:cNvSpPr>
            <a:spLocks noGrp="1"/>
          </p:cNvSpPr>
          <p:nvPr/>
        </p:nvSpPr>
        <p:spPr>
          <a:xfrm>
            <a:off x="971550" y="30765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333333"/>
                </a:solidFill>
              </a:defRPr>
            </a:pPr>
            <a:r>
              <a:rPr sz="790">
                <a:solidFill>
                  <a:srgbClr val="333333"/>
                </a:solidFill>
              </a:rPr>
              <a:t>0627A02 reached 6.83% CV at 175% optical verification and had D3/G9 aspiration issues; classify as stopped / failed.</a:t>
            </a:r>
            <a:endParaRPr sz="790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781050" y="3571875"/>
            <a:ext cx="76200" cy="76200"/>
          </a:xfrm>
          <a:prstGeom prst="ellipse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971550" y="35242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333333"/>
                </a:solidFill>
              </a:defRPr>
            </a:pPr>
            <a:r>
              <a:rPr sz="790">
                <a:solidFill>
                  <a:srgbClr val="333333"/>
                </a:solidFill>
              </a:rPr>
              <a:t>0627A03 had aspiration failures at 50%/175%; 0701A01 finished but 392% CV reached 4.155%-4.16%, above the 4% QC limit.</a:t>
            </a:r>
            <a:endParaRPr sz="79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Status Check: Detailed Table and Summary Sheet Are Not Fully Synchronized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7" name="表格 226"/>
          <p:cNvGraphicFramePr/>
          <p:nvPr/>
        </p:nvGraphicFramePr>
        <p:xfrm>
          <a:off x="495300" y="1200150"/>
          <a:ext cx="8048625" cy="1952628"/>
        </p:xfrm>
        <a:graphic>
          <a:graphicData uri="http://schemas.openxmlformats.org/drawingml/2006/table">
            <a:tbl>
              <a:tblPr firstRow="1" bandRow="1"/>
              <a:tblGrid>
                <a:gridCol w="2143125"/>
                <a:gridCol w="1571625"/>
                <a:gridCol w="1619250"/>
                <a:gridCol w="1143000"/>
                <a:gridCol w="1571625"/>
              </a:tblGrid>
              <a:tr h="325438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SN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Summary Sheet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RD Detailed Table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Highest Point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Report Decision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P2HHV3220250627A02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175% stopped; rework/FA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STOPED-(150%-175%)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175% / 455k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FAIL / STOP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P2HHV3220250409A03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P2HHV3220250409A02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P2HHV3220250627A03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150%-175% stopped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stopped-(150%-175%)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175% / 455k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FAIL / STOP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P2HHV3220250701A01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QC RISK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  <p:sp>
        <p:nvSpPr>
          <p:cNvPr id="219" name="圆角矩形 218"/>
          <p:cNvSpPr>
            <a:spLocks noGrp="1"/>
          </p:cNvSpPr>
          <p:nvPr/>
        </p:nvSpPr>
        <p:spPr>
          <a:xfrm>
            <a:off x="495300" y="3429000"/>
            <a:ext cx="3810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704850" y="362902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5" b="1">
                <a:solidFill>
                  <a:srgbClr val="333333"/>
                </a:solidFill>
              </a:defRPr>
            </a:pPr>
            <a:r>
              <a:rPr sz="1015" b="1">
                <a:solidFill>
                  <a:srgbClr val="333333"/>
                </a:solidFill>
              </a:rPr>
              <a:t>Synchronization Gap</a:t>
            </a:r>
            <a:endParaRPr sz="1015" b="1">
              <a:solidFill>
                <a:srgbClr val="333333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704850" y="3867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>
                <a:solidFill>
                  <a:srgbClr val="4B5563"/>
                </a:solidFill>
              </a:defRPr>
            </a:pPr>
            <a:r>
              <a:rPr sz="735">
                <a:solidFill>
                  <a:srgbClr val="4B5563"/>
                </a:solidFill>
              </a:rPr>
              <a:t>0409A03, 0409A02, and 0701A01 are Finish in the detailed table, while the summary sheet still shows 200% running.</a:t>
            </a:r>
            <a:endParaRPr sz="735">
              <a:solidFill>
                <a:srgbClr val="4B5563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4667250" y="3429000"/>
            <a:ext cx="3714750" cy="742950"/>
          </a:xfrm>
          <a:prstGeom prst="roundRect">
            <a:avLst>
              <a:gd name="adj" fmla="val 10256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4876800" y="3629025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5" b="1">
                <a:solidFill>
                  <a:srgbClr val="333333"/>
                </a:solidFill>
              </a:defRPr>
            </a:pPr>
            <a:r>
              <a:rPr sz="1015" b="1">
                <a:solidFill>
                  <a:srgbClr val="333333"/>
                </a:solidFill>
              </a:rPr>
              <a:t>Decision Basis</a:t>
            </a:r>
            <a:endParaRPr sz="1015" b="1">
              <a:solidFill>
                <a:srgbClr val="333333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4876800" y="38671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>
                <a:solidFill>
                  <a:srgbClr val="4B5563"/>
                </a:solidFill>
              </a:defRPr>
            </a:pPr>
            <a:r>
              <a:rPr sz="735">
                <a:solidFill>
                  <a:srgbClr val="4B5563"/>
                </a:solidFill>
              </a:rPr>
              <a:t>This report uses the RD Lifetime detailed table, optical CV sheets, and explicit fail notes as the decision basis.</a:t>
            </a:r>
            <a:endParaRPr sz="735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1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5 uL Optical CV: Two Stopped/Risk Units Need Priority Handling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905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4" name="Chart"/>
          <p:cNvGraphicFramePr/>
          <p:nvPr/>
        </p:nvGraphicFramePr>
        <p:xfrm>
          <a:off x="762000" y="1466850"/>
          <a:ext cx="528637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762750" y="135255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4287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CV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60972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6.83%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953250" y="1962150"/>
            <a:ext cx="1095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DC2626"/>
                </a:solidFill>
              </a:defRPr>
            </a:pPr>
            <a:r>
              <a:rPr sz="675" b="1">
                <a:solidFill>
                  <a:srgbClr val="DC2626"/>
                </a:solidFill>
              </a:rPr>
              <a:t>0627A02 / 175%</a:t>
            </a:r>
            <a:endParaRPr sz="675" b="1">
              <a:solidFill>
                <a:srgbClr val="DC2626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762750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3622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QC Risk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25431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4.16%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6953250" y="2895600"/>
            <a:ext cx="1095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B45309"/>
                </a:solidFill>
              </a:defRPr>
            </a:pPr>
            <a:r>
              <a:rPr sz="675" b="1">
                <a:solidFill>
                  <a:srgbClr val="B45309"/>
                </a:solidFill>
              </a:rPr>
              <a:t>0701A01 / 392%</a:t>
            </a:r>
            <a:endParaRPr sz="675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762750" y="3257550"/>
            <a:ext cx="1428750" cy="704850"/>
          </a:xfrm>
          <a:prstGeom prst="roundRect">
            <a:avLst>
              <a:gd name="adj" fmla="val 10811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934200" y="342900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Note</a:t>
            </a:r>
            <a:endParaRPr sz="975" b="1">
              <a:solidFill>
                <a:srgbClr val="333333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934200" y="36576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4B5563"/>
                </a:solidFill>
              </a:defRPr>
            </a:pPr>
            <a:r>
              <a:rPr sz="675">
                <a:solidFill>
                  <a:srgbClr val="4B5563"/>
                </a:solidFill>
              </a:rPr>
              <a:t>0409A03/0409A02 CV stayed far below the 4% QC limit.</a:t>
            </a:r>
            <a:endParaRPr sz="675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7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Worst-Channel CV: Maximum 3.45%, Below the 5.6% QC Limit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8102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0" name="Chart"/>
          <p:cNvGraphicFramePr/>
          <p:nvPr/>
        </p:nvGraphicFramePr>
        <p:xfrm>
          <a:off x="762000" y="1466850"/>
          <a:ext cx="519112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667500" y="1428750"/>
            <a:ext cx="1666875" cy="1000125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619250"/>
            <a:ext cx="95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 b="1">
                <a:solidFill>
                  <a:srgbClr val="B45309"/>
                </a:solidFill>
              </a:defRPr>
            </a:pPr>
            <a:r>
              <a:rPr sz="940" b="1">
                <a:solidFill>
                  <a:srgbClr val="B45309"/>
                </a:solidFill>
              </a:rPr>
              <a:t>Highest Value</a:t>
            </a:r>
            <a:endParaRPr sz="940" b="1">
              <a:solidFill>
                <a:srgbClr val="B45309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885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>
                <a:solidFill>
                  <a:srgbClr val="B45309"/>
                </a:solidFill>
              </a:defRPr>
            </a:pPr>
            <a:r>
              <a:rPr sz="2175" b="1">
                <a:solidFill>
                  <a:srgbClr val="B45309"/>
                </a:solidFill>
              </a:rPr>
              <a:t>3.45%</a:t>
            </a:r>
            <a:endParaRPr sz="2175" b="1">
              <a:solidFill>
                <a:srgbClr val="B45309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877050" y="223837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80">
                <a:solidFill>
                  <a:srgbClr val="4B5563"/>
                </a:solidFill>
              </a:defRPr>
            </a:pPr>
            <a:r>
              <a:rPr sz="680">
                <a:solidFill>
                  <a:srgbClr val="4B5563"/>
                </a:solidFill>
              </a:rPr>
              <a:t>0409A02 / 200%, with B5 LOW %D note.</a:t>
            </a:r>
            <a:endParaRPr sz="680">
              <a:solidFill>
                <a:srgbClr val="4B5563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667500" y="2762250"/>
            <a:ext cx="1666875" cy="1000125"/>
          </a:xfrm>
          <a:prstGeom prst="roundRect">
            <a:avLst>
              <a:gd name="adj" fmla="val 7619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981325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60" b="1">
                <a:solidFill>
                  <a:srgbClr val="00A86B"/>
                </a:solidFill>
              </a:defRPr>
            </a:pPr>
            <a:r>
              <a:rPr sz="960" b="1">
                <a:solidFill>
                  <a:srgbClr val="00A86B"/>
                </a:solidFill>
              </a:rPr>
              <a:t>Conclusion</a:t>
            </a:r>
            <a:endParaRPr sz="960" b="1">
              <a:solidFill>
                <a:srgbClr val="00A86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3238500"/>
            <a:ext cx="121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0">
                <a:solidFill>
                  <a:srgbClr val="333333"/>
                </a:solidFill>
              </a:defRPr>
            </a:pPr>
            <a:r>
              <a:rPr sz="670">
                <a:solidFill>
                  <a:srgbClr val="333333"/>
                </a:solidFill>
              </a:rPr>
              <a:t>Worst-channel CV did not exceed 5.6% QC. Failed units are driven mainly by aspiration/leak and overall CV issues.</a:t>
            </a:r>
            <a:endParaRPr sz="67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1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Failure and Risk Evidence: 2 Stopped Units, 1 Finish Unit Requiring Review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3" name="表格 222"/>
          <p:cNvGraphicFramePr/>
          <p:nvPr/>
        </p:nvGraphicFramePr>
        <p:xfrm>
          <a:off x="495300" y="1200150"/>
          <a:ext cx="8048625" cy="2381250"/>
        </p:xfrm>
        <a:graphic>
          <a:graphicData uri="http://schemas.openxmlformats.org/drawingml/2006/table">
            <a:tbl>
              <a:tblPr firstRow="1" bandRow="1"/>
              <a:tblGrid>
                <a:gridCol w="904875"/>
                <a:gridCol w="904875"/>
                <a:gridCol w="3143250"/>
                <a:gridCol w="1476375"/>
                <a:gridCol w="1619250"/>
              </a:tblGrid>
              <a:tr h="396875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SN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Evidence / Note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Impact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0627A02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175%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CV 6.83%; D3/G9 aspiration issue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Above QC/customer; stopped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0627A03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50%-175%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E10 aspiration fail; CH19/CH58 high leak; B7 aspiration FAIL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Process failure; stopped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0701A01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392%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CV 4.155%-4.16%; H4 LOW %D; leak 23.46 pa/s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Above 4% QC; below 5% customer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0409A02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200%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B5 LOW %D; worst-channel CV 3.45%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CV in spec; single-point risk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0409A03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All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No failure record; max CV 0.52%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Stable pass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0627A02 Unit Summary: FAIL / STOP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 w="0">
            <a:solidFill>
              <a:srgbClr val="FECACA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DC2626"/>
                </a:solidFill>
              </a:defRPr>
            </a:pPr>
            <a:r>
              <a:rPr sz="715" b="1">
                <a:solidFill>
                  <a:srgbClr val="DC2626"/>
                </a:solidFill>
              </a:rPr>
              <a:t>STOPED-(150%-175%)</a:t>
            </a:r>
            <a:endParaRPr sz="715" b="1">
              <a:solidFill>
                <a:srgbClr val="DC2626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175% / 455k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(175%)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6.83%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0.81%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Decision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FAIL / STOP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0">
                <a:solidFill>
                  <a:srgbClr val="64748B"/>
                </a:solidFill>
              </a:defRPr>
            </a:pPr>
            <a:r>
              <a:rPr sz="550">
                <a:solidFill>
                  <a:srgbClr val="64748B"/>
                </a:solidFill>
              </a:rPr>
              <a:t>Reference: 5 uL CV QC 4% / customer 5%; worst-channel CV QC 5.6% / customer 7%.</a:t>
            </a:r>
            <a:endParaRPr sz="55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Trend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CV reached 6.83% at 175% optical verification, above both the 4% QC limit and 5% customer limit.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Data Note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Main table notes D3 low/failed aspiration; optical verification records D3/G9 aspiration issues. Summary indicates stopped test with rework/disassembly analysis.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Decision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Fail/stop. Do not archive this unit as aging-test pass.</a:t>
            </a:r>
            <a:endParaRPr sz="5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2413000"/>
                <a:gridCol w="2413000"/>
                <a:gridCol w="24130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175%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CV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0.46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0.65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6.83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0.78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0.81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0.77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0409A03 Unit Summary: 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(200% / 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0.52%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(200%)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1.07%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Decision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0">
                <a:solidFill>
                  <a:srgbClr val="64748B"/>
                </a:solidFill>
              </a:defRPr>
            </a:pPr>
            <a:r>
              <a:rPr sz="550">
                <a:solidFill>
                  <a:srgbClr val="64748B"/>
                </a:solidFill>
              </a:rPr>
              <a:t>Reference: 5 uL CV QC 4% / customer 5%; worst-channel CV QC 5.6% / customer 7%.</a:t>
            </a:r>
            <a:endParaRPr sz="55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Trend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CV stayed stable at 0.41%-0.52%, far below the 4% QC limit.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Data Note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At 392%, plate4/plate5 are #DIV/0!. Retest or document that the final optical summary uses the first three plates only.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Decision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Detailed table is Finish and available CV / worst-channel CV are within specification. Recommend pass.</a:t>
            </a:r>
            <a:endParaRPr sz="5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CV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0.51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0.52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0.52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0.41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0.70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0.94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1.07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0.64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0409A02 Unit Summary: 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(200%)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0.74%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(200%)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3.45%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Decision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0">
                <a:solidFill>
                  <a:srgbClr val="64748B"/>
                </a:solidFill>
              </a:defRPr>
            </a:pPr>
            <a:r>
              <a:rPr sz="550">
                <a:solidFill>
                  <a:srgbClr val="64748B"/>
                </a:solidFill>
              </a:rPr>
              <a:t>Reference: 5 uL CV QC 4% / customer 5%; worst-channel CV QC 5.6% / customer 7%.</a:t>
            </a:r>
            <a:endParaRPr sz="55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Trend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Maximum CV was 0.74%, well below the 4% QC limit; CV recovered to 0.42%-0.43% at 315%-392%.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Data Note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200% note: B5 LOW %D in plate3. Worst-channel CV peaked at 3.45%, still below the 5.6% QC limit.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Decision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Completed 392% and CV criteria passed. Recommend pass, with B5 D% note retained.</a:t>
            </a:r>
            <a:endParaRPr sz="5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CV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0.47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0.58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0.74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0.42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0.91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3.45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0.65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0.75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0627A03 Unit Summary: FAIL / STOP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 w="0">
            <a:solidFill>
              <a:srgbClr val="FECACA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DC2626"/>
                </a:solidFill>
              </a:defRPr>
            </a:pPr>
            <a:r>
              <a:rPr sz="715" b="1">
                <a:solidFill>
                  <a:srgbClr val="DC2626"/>
                </a:solidFill>
              </a:rPr>
              <a:t>stopped-(150%-175%)</a:t>
            </a:r>
            <a:endParaRPr sz="715" b="1">
              <a:solidFill>
                <a:srgbClr val="DC2626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175% / 455k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0.47%</a:t>
            </a:r>
            <a:endParaRPr sz="1350" b="1">
              <a:solidFill>
                <a:srgbClr val="F59E0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(0%)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0.66%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Decision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FAIL / STOP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0">
                <a:solidFill>
                  <a:srgbClr val="64748B"/>
                </a:solidFill>
              </a:defRPr>
            </a:pPr>
            <a:r>
              <a:rPr sz="550">
                <a:solidFill>
                  <a:srgbClr val="64748B"/>
                </a:solidFill>
              </a:rPr>
              <a:t>Reference: 5 uL CV QC 4% / customer 5%; worst-channel CV QC 5.6% / customer 7%.</a:t>
            </a:r>
            <a:endParaRPr sz="55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Trend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Available optical CV was normal at 0%-100%, but the lifetime process recorded repeated aspiration/leak issues.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Data Note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50% E10 aspiration failure followed by rework continuation; 150% CH19/CH58 high leak rate; 175% B7 aspiration failure with FAIL record.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Decision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Although available CV did not exceed limits, the explicit 175% FAIL record drives fail/stop decision.</a:t>
            </a:r>
            <a:endParaRPr sz="5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3619500"/>
                <a:gridCol w="36195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CV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0.47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0.66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0.61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14375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0701A01 Unit Summary: QC RISK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FFE2A8"/>
          </a:solidFill>
          <a:ln w="0">
            <a:solidFill>
              <a:srgbClr val="FFE2A8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B45309"/>
                </a:solidFill>
              </a:defRPr>
            </a:pPr>
            <a:r>
              <a:rPr sz="715" b="1">
                <a:solidFill>
                  <a:srgbClr val="B45309"/>
                </a:solidFill>
              </a:rPr>
              <a:t>Finish</a:t>
            </a:r>
            <a:endParaRPr sz="715" b="1">
              <a:solidFill>
                <a:srgbClr val="B45309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(392%)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4.16%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(315%)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2.30%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Decision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QC RISK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0">
                <a:solidFill>
                  <a:srgbClr val="64748B"/>
                </a:solidFill>
              </a:defRPr>
            </a:pPr>
            <a:r>
              <a:rPr sz="550">
                <a:solidFill>
                  <a:srgbClr val="64748B"/>
                </a:solidFill>
              </a:rPr>
              <a:t>Reference: 5 uL CV QC 4% / customer 5%; worst-channel CV QC 5.6% / customer 7%.</a:t>
            </a:r>
            <a:endParaRPr sz="55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Trend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CV increased with aging and reached 4.155%-4.16% at 392%, above the 4% QC limit but below the 5% customer limit.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Data Note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200%/354% notes: H4 LOW %D. At 354%, pressure fixture leak rate was recorded as 23.46 pa/s for 200 uL.</a:t>
            </a:r>
            <a:endParaRPr sz="55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75" b="1">
                <a:solidFill>
                  <a:srgbClr val="333333"/>
                </a:solidFill>
              </a:defRPr>
            </a:pPr>
            <a:r>
              <a:rPr sz="775" b="1">
                <a:solidFill>
                  <a:srgbClr val="333333"/>
                </a:solidFill>
              </a:rPr>
              <a:t>Decision</a:t>
            </a:r>
            <a:endParaRPr sz="77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4B5563"/>
                </a:solidFill>
              </a:defRPr>
            </a:pPr>
            <a:r>
              <a:rPr sz="555">
                <a:solidFill>
                  <a:srgbClr val="4B5563"/>
                </a:solidFill>
              </a:rPr>
              <a:t>Detailed table is Finish, but retest/review the 392% optical result and H4-related findings before archival.</a:t>
            </a:r>
            <a:endParaRPr sz="55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CV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0.40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0.74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1.08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1.40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4.16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Worst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1.73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0.78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2.30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333333"/>
                          </a:solidFill>
                        </a:rPr>
                        <a:t>0.93</a:t>
                      </a:r>
                      <a:endParaRPr sz="52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5127</Words>
  <Application>WPS 表格</Application>
  <PresentationFormat>Converted Presentation</PresentationFormat>
  <Paragraphs>513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Roboto</vt:lpstr>
      <vt:lpstr>Thonburi</vt:lpstr>
      <vt:lpstr>Arial</vt:lpstr>
      <vt:lpstr>Public Sans</vt:lpstr>
      <vt:lpstr>Public Sans SemiBold</vt:lpstr>
      <vt:lpstr>Nunito Sans Light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Roboto</vt:lpstr>
      <vt:lpstr>苹方-简</vt:lpstr>
      <vt:lpstr>Material</vt:lpstr>
      <vt:lpstr>Office 主题​​</vt:lpstr>
      <vt:lpstr>P2HHV32 96CH LV Rod Seal Aging Test Report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P2HHV32 96CH LV Rod Seal Aging Test Report</dc:title>
  <dc:creator>Walnut Exporter</dc:creator>
  <cp:lastModifiedBy>Wye</cp:lastModifiedBy>
  <cp:revision>1</cp:revision>
  <dcterms:created xsi:type="dcterms:W3CDTF">2026-06-15T06:22:03Z</dcterms:created>
  <dcterms:modified xsi:type="dcterms:W3CDTF">2026-06-15T06:22:03Z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67F58C8881B2518D0B9A2F6A7C04E58E_42</vt:lpwstr>
  </property>
</Properties>
</file>