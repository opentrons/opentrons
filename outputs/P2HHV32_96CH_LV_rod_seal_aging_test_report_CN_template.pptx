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最大 CV</c:f>
              <c:strCache>
                <c:ptCount val="1"/>
                <c:pt idx="0">
                  <c:v>最大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</c:spPr>
          </c:dPt>
          <c:dPt>
            <c:idx val="4"/>
            <c:invertIfNegative val="0"/>
            <c:bubble3D val="0"/>
            <c:spPr>
              <a:solidFill>
                <a:srgbClr val="B45309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{6.83,0.52,0.74,0.47,4.16}</c:f>
              <c:numCache>
                <c:formatCode>0.0</c:formatCode>
                <c:ptCount val="5"/>
                <c:pt idx="0">
                  <c:v>6.83</c:v>
                </c:pt>
                <c:pt idx="1">
                  <c:v>0.52</c:v>
                </c:pt>
                <c:pt idx="2">
                  <c:v>0.74</c:v>
                </c:pt>
                <c:pt idx="3">
                  <c:v>0.47</c:v>
                </c:pt>
                <c:pt idx="4">
                  <c:v>4.16</c:v>
                </c:pt>
              </c:numCache>
            </c:numRef>
          </c:val>
        </c:ser>
        <c:ser>
          <c:idx val="1"/>
          <c:order val="1"/>
          <c:tx>
            <c:strRef>
              <c:f>QC 4%</c:f>
              <c:strCache>
                <c:ptCount val="1"/>
                <c:pt idx="0">
                  <c:v>QC 4%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{4,4,4,4,4}</c:f>
              <c:numCache>
                <c:formatCode>0.0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客户 5%</c:f>
              <c:strCache>
                <c:ptCount val="1"/>
                <c:pt idx="0">
                  <c:v>客户 5%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{5,5,5,5,5}</c:f>
              <c:numCache>
                <c:formatCode>0.0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d06cb6f-f4ef-48db-966c-6d93a6803687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最大最差通道 CV</c:f>
              <c:strCache>
                <c:ptCount val="1"/>
                <c:pt idx="0">
                  <c:v>最大最差通道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2"/>
            <c:invertIfNegative val="0"/>
            <c:bubble3D val="0"/>
            <c:spPr>
              <a:solidFill>
                <a:srgbClr val="F59E0B"/>
              </a:solidFill>
            </c:spPr>
          </c:dPt>
          <c:dPt>
            <c:idx val="4"/>
            <c:invertIfNegative val="0"/>
            <c:bubble3D val="0"/>
            <c:spPr>
              <a:solidFill>
                <a:srgbClr val="B45309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{0.81,1.07,3.45,0.66,2.3}</c:f>
              <c:numCache>
                <c:formatCode>0.0</c:formatCode>
                <c:ptCount val="5"/>
                <c:pt idx="0">
                  <c:v>0.81</c:v>
                </c:pt>
                <c:pt idx="1">
                  <c:v>1.07</c:v>
                </c:pt>
                <c:pt idx="2">
                  <c:v>3.45</c:v>
                </c:pt>
                <c:pt idx="3">
                  <c:v>0.66</c:v>
                </c:pt>
                <c:pt idx="4">
                  <c:v>2.3</c:v>
                </c:pt>
              </c:numCache>
            </c:numRef>
          </c:val>
        </c:ser>
        <c:ser>
          <c:idx val="1"/>
          <c:order val="1"/>
          <c:tx>
            <c:strRef>
              <c:f>QC 5.6%</c:f>
              <c:strCache>
                <c:ptCount val="1"/>
                <c:pt idx="0">
                  <c:v>QC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{"0627A02","0409A03","0409A02","0627A03","0701A01"}</c:f>
              <c:strCache>
                <c:ptCount val="5"/>
                <c:pt idx="0">
                  <c:v>0627A02</c:v>
                </c:pt>
                <c:pt idx="1">
                  <c:v>0409A03</c:v>
                </c:pt>
                <c:pt idx="2">
                  <c:v>0409A02</c:v>
                </c:pt>
                <c:pt idx="3">
                  <c:v>0627A03</c:v>
                </c:pt>
                <c:pt idx="4">
                  <c:v>0701A01</c:v>
                </c:pt>
              </c:strCache>
            </c:strRef>
          </c:cat>
          <c:val>
            <c:numRef>
              <c:f>{5.6,5.6,5.6,5.6,5.6}</c:f>
              <c:numCache>
                <c:formatCode>0.0</c:formatCode>
                <c:ptCount val="5"/>
                <c:pt idx="0">
                  <c:v>5.6</c:v>
                </c:pt>
                <c:pt idx="1">
                  <c:v>5.6</c:v>
                </c:pt>
                <c:pt idx="2">
                  <c:v>5.6</c:v>
                </c:pt>
                <c:pt idx="3">
                  <c:v>5.6</c:v>
                </c:pt>
                <c:pt idx="4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f865a6e-99dc-40f6-b14f-aff037f046a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DC2626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{"0%","100%","175%"}</c:f>
              <c:strCache>
                <c:ptCount val="3"/>
                <c:pt idx="0">
                  <c:v>0%</c:v>
                </c:pt>
                <c:pt idx="1">
                  <c:v>100%</c:v>
                </c:pt>
                <c:pt idx="2">
                  <c:v>175%</c:v>
                </c:pt>
              </c:strCache>
            </c:strRef>
          </c:cat>
          <c:val>
            <c:numRef>
              <c:f>{0.46,0.65,6.83}</c:f>
              <c:numCache>
                <c:formatCode>0.0</c:formatCode>
                <c:ptCount val="3"/>
                <c:pt idx="0">
                  <c:v>0.46</c:v>
                </c:pt>
                <c:pt idx="1">
                  <c:v>0.65</c:v>
                </c:pt>
                <c:pt idx="2">
                  <c:v>6.83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{"0%","100%","175%"}</c:f>
              <c:strCache>
                <c:ptCount val="3"/>
                <c:pt idx="0">
                  <c:v>0%</c:v>
                </c:pt>
                <c:pt idx="1">
                  <c:v>100%</c:v>
                </c:pt>
                <c:pt idx="2">
                  <c:v>175%</c:v>
                </c:pt>
              </c:strCache>
            </c:strRef>
          </c:cat>
          <c:val>
            <c:numRef>
              <c:f>{0.78,0.81,0.77}</c:f>
              <c:numCache>
                <c:formatCode>0.0</c:formatCode>
                <c:ptCount val="3"/>
                <c:pt idx="0">
                  <c:v>0.78</c:v>
                </c:pt>
                <c:pt idx="1">
                  <c:v>0.81</c:v>
                </c:pt>
                <c:pt idx="2">
                  <c:v>0.77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7b8b95b-a63f-46d5-9a4d-f4d5aa43da69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{0.43,0.51,0.52,0.52,0.41}</c:f>
              <c:numCache>
                <c:formatCode>0.0</c:formatCode>
                <c:ptCount val="5"/>
                <c:pt idx="0">
                  <c:v>0.43</c:v>
                </c:pt>
                <c:pt idx="1">
                  <c:v>0.51</c:v>
                </c:pt>
                <c:pt idx="2">
                  <c:v>0.52</c:v>
                </c:pt>
                <c:pt idx="3">
                  <c:v>0.52</c:v>
                </c:pt>
                <c:pt idx="4">
                  <c:v>0.41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{0.7,0.94,1.07,0.73,0.64}</c:f>
              <c:numCache>
                <c:formatCode>0.0</c:formatCode>
                <c:ptCount val="5"/>
                <c:pt idx="0">
                  <c:v>0.7</c:v>
                </c:pt>
                <c:pt idx="1">
                  <c:v>0.94</c:v>
                </c:pt>
                <c:pt idx="2">
                  <c:v>1.07</c:v>
                </c:pt>
                <c:pt idx="3">
                  <c:v>0.73</c:v>
                </c:pt>
                <c:pt idx="4">
                  <c:v>0.64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c6f5320-8660-43c6-a8d3-8fc6c1975ec2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{0.47,0.58,0.74,0.42,0.43}</c:f>
              <c:numCache>
                <c:formatCode>0.0</c:formatCode>
                <c:ptCount val="5"/>
                <c:pt idx="0">
                  <c:v>0.47</c:v>
                </c:pt>
                <c:pt idx="1">
                  <c:v>0.58</c:v>
                </c:pt>
                <c:pt idx="2">
                  <c:v>0.74</c:v>
                </c:pt>
                <c:pt idx="3">
                  <c:v>0.42</c:v>
                </c:pt>
                <c:pt idx="4">
                  <c:v>0.43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{0.73,0.91,3.45,0.65,0.75}</c:f>
              <c:numCache>
                <c:formatCode>0.0</c:formatCode>
                <c:ptCount val="5"/>
                <c:pt idx="0">
                  <c:v>0.73</c:v>
                </c:pt>
                <c:pt idx="1">
                  <c:v>0.91</c:v>
                </c:pt>
                <c:pt idx="2">
                  <c:v>3.45</c:v>
                </c:pt>
                <c:pt idx="3">
                  <c:v>0.65</c:v>
                </c:pt>
                <c:pt idx="4">
                  <c:v>0.75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802ab8c-2b0e-443a-98e1-48847412b9e2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{"0%","100%"}</c:f>
              <c:strCache>
                <c:ptCount val="2"/>
                <c:pt idx="0">
                  <c:v>0%</c:v>
                </c:pt>
                <c:pt idx="1">
                  <c:v>100%</c:v>
                </c:pt>
              </c:strCache>
            </c:strRef>
          </c:cat>
          <c:val>
            <c:numRef>
              <c:f>{0.43,0.47}</c:f>
              <c:numCache>
                <c:formatCode>0.0</c:formatCode>
                <c:ptCount val="2"/>
                <c:pt idx="0">
                  <c:v>0.43</c:v>
                </c:pt>
                <c:pt idx="1">
                  <c:v>0.47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{"0%","100%"}</c:f>
              <c:strCache>
                <c:ptCount val="2"/>
                <c:pt idx="0">
                  <c:v>0%</c:v>
                </c:pt>
                <c:pt idx="1">
                  <c:v>100%</c:v>
                </c:pt>
              </c:strCache>
            </c:strRef>
          </c:cat>
          <c:val>
            <c:numRef>
              <c:f>{0.66,0.61}</c:f>
              <c:numCache>
                <c:formatCode>0.0</c:formatCode>
                <c:ptCount val="2"/>
                <c:pt idx="0">
                  <c:v>0.66</c:v>
                </c:pt>
                <c:pt idx="1">
                  <c:v>0.61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76f71d-5982-48c4-bbbc-744816fd6044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 CV</c:f>
              <c:strCache>
                <c:ptCount val="1"/>
                <c:pt idx="0">
                  <c:v>整体 CV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{0.4,0.74,1.08,1.4,4.16}</c:f>
              <c:numCache>
                <c:formatCode>0.0</c:formatCode>
                <c:ptCount val="5"/>
                <c:pt idx="0">
                  <c:v>0.4</c:v>
                </c:pt>
                <c:pt idx="1">
                  <c:v>0.74</c:v>
                </c:pt>
                <c:pt idx="2">
                  <c:v>1.08</c:v>
                </c:pt>
                <c:pt idx="3">
                  <c:v>1.4</c:v>
                </c:pt>
                <c:pt idx="4">
                  <c:v>4.16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最差通道 CV</c:f>
              <c:strCache>
                <c:ptCount val="1"/>
                <c:pt idx="0">
                  <c:v>最差通道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{0.73,1.73,0.78,2.3,0.93}</c:f>
              <c:numCache>
                <c:formatCode>0.0</c:formatCode>
                <c:ptCount val="5"/>
                <c:pt idx="0">
                  <c:v>0.73</c:v>
                </c:pt>
                <c:pt idx="1">
                  <c:v>1.73</c:v>
                </c:pt>
                <c:pt idx="2">
                  <c:v>0.78</c:v>
                </c:pt>
                <c:pt idx="3">
                  <c:v>2.3</c:v>
                </c:pt>
                <c:pt idx="4">
                  <c:v>0.93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6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44c909a-87fb-4cb9-84da-64bd4ef35b0e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P2HHV32 96CH LV Rod Seal 老化测试报告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  <a:endParaRPr sz="1350">
              <a:solidFill>
                <a:srgbClr val="FFFFFF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执行摘要：5 台 Rod Seal 移液器老化测试结论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总数量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 台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1145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2288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2288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 台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37338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38481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停止/失败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38481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2 台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3530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54673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风险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54673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 台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30" name="圆角矩形 229"/>
          <p:cNvSpPr>
            <a:spLocks noGrp="1"/>
          </p:cNvSpPr>
          <p:nvPr/>
        </p:nvSpPr>
        <p:spPr>
          <a:xfrm>
            <a:off x="495300" y="2038350"/>
            <a:ext cx="4953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1" name="矩形 230"/>
          <p:cNvSpPr>
            <a:spLocks noGrp="1"/>
          </p:cNvSpPr>
          <p:nvPr/>
        </p:nvSpPr>
        <p:spPr>
          <a:xfrm>
            <a:off x="742950" y="22669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总体结论</a:t>
            </a:r>
            <a:endParaRPr sz="1200" b="1">
              <a:solidFill>
                <a:srgbClr val="333333"/>
              </a:solidFill>
            </a:endParaRPr>
          </a:p>
        </p:txBody>
      </p:sp>
      <p:sp>
        <p:nvSpPr>
          <p:cNvPr id="232" name="椭圆 231"/>
          <p:cNvSpPr>
            <a:spLocks noGrp="1"/>
          </p:cNvSpPr>
          <p:nvPr/>
        </p:nvSpPr>
        <p:spPr>
          <a:xfrm>
            <a:off x="781050" y="2676525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971550" y="2628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rPr sz="840">
                <a:solidFill>
                  <a:srgbClr val="333333"/>
                </a:solidFill>
              </a:rPr>
              <a:t>0409A03 与 0409A02 完成 392% / 1,020,000 cycles，现有 CV 与最差通道 CV 均满足 QC/客户规格。</a:t>
            </a:r>
            <a:endParaRPr sz="840">
              <a:solidFill>
                <a:srgbClr val="333333"/>
              </a:solidFill>
            </a:endParaRPr>
          </a:p>
        </p:txBody>
      </p:sp>
      <p:sp>
        <p:nvSpPr>
          <p:cNvPr id="234" name="椭圆 233"/>
          <p:cNvSpPr>
            <a:spLocks noGrp="1"/>
          </p:cNvSpPr>
          <p:nvPr/>
        </p:nvSpPr>
        <p:spPr>
          <a:xfrm>
            <a:off x="781050" y="3124200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5" name="矩形 234"/>
          <p:cNvSpPr>
            <a:spLocks noGrp="1"/>
          </p:cNvSpPr>
          <p:nvPr/>
        </p:nvSpPr>
        <p:spPr>
          <a:xfrm>
            <a:off x="971550" y="30765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rPr sz="840">
                <a:solidFill>
                  <a:srgbClr val="333333"/>
                </a:solidFill>
              </a:rPr>
              <a:t>0627A02 在 175% 光学验证 CV=6.83%，且 D3/G9 吸液少，判定停止/未通过。</a:t>
            </a:r>
            <a:endParaRPr sz="840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781050" y="3571875"/>
            <a:ext cx="76200" cy="76200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971550" y="35242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333333"/>
                </a:solidFill>
              </a:defRPr>
            </a:pPr>
            <a:r>
              <a:rPr sz="840">
                <a:solidFill>
                  <a:srgbClr val="333333"/>
                </a:solidFill>
              </a:rPr>
              <a:t>0627A03 在 50%/175% 出现吸液失败并停止；0701A01 完成但 392% CV=4.155%-4.16%，超过 4% QC。</a:t>
            </a:r>
            <a:endParaRPr sz="84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状态核对：明细表与老化汇总表存在不同步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7" name="表格 226"/>
          <p:cNvGraphicFramePr/>
          <p:nvPr/>
        </p:nvGraphicFramePr>
        <p:xfrm>
          <a:off x="495300" y="1200150"/>
          <a:ext cx="8048625" cy="1952628"/>
        </p:xfrm>
        <a:graphic>
          <a:graphicData uri="http://schemas.openxmlformats.org/drawingml/2006/table">
            <a:tbl>
              <a:tblPr firstRow="1" bandRow="1"/>
              <a:tblGrid>
                <a:gridCol w="2171700"/>
                <a:gridCol w="1571625"/>
                <a:gridCol w="1571625"/>
                <a:gridCol w="1190625"/>
                <a:gridCol w="1543050"/>
              </a:tblGrid>
              <a:tr h="325438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老化汇总表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RD 明细表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最高点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报告判定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P2HHV3220250627A02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175% 停止；返修/拆机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STOPED-(150%-175%)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175% / 455k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FAIL / STOP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P2HHV3220250409A03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P2HHV3220250409A02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P2HHV3220250627A03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150%-175% 停止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stopped-(150%-175%)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175% / 455k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FAIL / STOP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P2HHV3220250701A01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QC RISK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495300" y="3429000"/>
            <a:ext cx="3810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704850" y="362902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</a:rPr>
              <a:t>同步差异</a:t>
            </a:r>
            <a:endParaRPr sz="1050" b="1">
              <a:solidFill>
                <a:srgbClr val="333333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704850" y="3867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4B5563"/>
                </a:solidFill>
              </a:defRPr>
            </a:pPr>
            <a:r>
              <a:rPr sz="790">
                <a:solidFill>
                  <a:srgbClr val="4B5563"/>
                </a:solidFill>
              </a:rPr>
              <a:t>0409A03、0409A02、0701A01 在明细表已 Finish，但老化汇总表仍显示 200% running。</a:t>
            </a:r>
            <a:endParaRPr sz="790">
              <a:solidFill>
                <a:srgbClr val="4B5563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4667250" y="3429000"/>
            <a:ext cx="3714750" cy="742950"/>
          </a:xfrm>
          <a:prstGeom prst="roundRect">
            <a:avLst>
              <a:gd name="adj" fmla="val 10256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4876800" y="362902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</a:rPr>
              <a:t>判定原则</a:t>
            </a:r>
            <a:endParaRPr sz="1050" b="1">
              <a:solidFill>
                <a:srgbClr val="333333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4876800" y="38671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4B5563"/>
                </a:solidFill>
              </a:defRPr>
            </a:pPr>
            <a:r>
              <a:rPr sz="790">
                <a:solidFill>
                  <a:srgbClr val="4B5563"/>
                </a:solidFill>
              </a:rPr>
              <a:t>本报告以 RD Lifetime 明细表、光学 CV sheet 与明确 fail note 为依据。</a:t>
            </a:r>
            <a:endParaRPr sz="79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1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5 uL 光学 CV：两台停止/风险机台需要重点处理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05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4" name="Chart"/>
          <p:cNvGraphicFramePr/>
          <p:nvPr/>
        </p:nvGraphicFramePr>
        <p:xfrm>
          <a:off x="762000" y="1466850"/>
          <a:ext cx="528637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35255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287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 CV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0972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6.83%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953250" y="1962150"/>
            <a:ext cx="1095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DC2626"/>
                </a:solidFill>
              </a:defRPr>
            </a:pPr>
            <a:r>
              <a:rPr sz="675" b="1">
                <a:solidFill>
                  <a:srgbClr val="DC2626"/>
                </a:solidFill>
              </a:rPr>
              <a:t>0627A02 / 175%</a:t>
            </a:r>
            <a:endParaRPr sz="675" b="1">
              <a:solidFill>
                <a:srgbClr val="DC2626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762750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3622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风险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25431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4.16%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6953250" y="2895600"/>
            <a:ext cx="1095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B45309"/>
                </a:solidFill>
              </a:defRPr>
            </a:pPr>
            <a:r>
              <a:rPr sz="675" b="1">
                <a:solidFill>
                  <a:srgbClr val="B45309"/>
                </a:solidFill>
              </a:rPr>
              <a:t>0701A01 / 392%</a:t>
            </a:r>
            <a:endParaRPr sz="675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762750" y="3257550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934200" y="342900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说明</a:t>
            </a:r>
            <a:endParaRPr sz="975" b="1">
              <a:solidFill>
                <a:srgbClr val="333333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934200" y="36576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>
                <a:solidFill>
                  <a:srgbClr val="4B5563"/>
                </a:solidFill>
              </a:defRPr>
            </a:pPr>
            <a:r>
              <a:rPr sz="690">
                <a:solidFill>
                  <a:srgbClr val="4B5563"/>
                </a:solidFill>
              </a:rPr>
              <a:t>0409A03/0409A02 全阶段 CV 均远低于 4% QC。</a:t>
            </a:r>
            <a:endParaRPr sz="69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最差通道 CV：最高 3.45%，仍低于 5.6% QC 限值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8102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762000" y="1466850"/>
          <a:ext cx="519112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667500" y="14287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61925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最高值</a:t>
            </a:r>
            <a:endParaRPr sz="975" b="1">
              <a:solidFill>
                <a:srgbClr val="B45309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885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B45309"/>
                </a:solidFill>
              </a:defRPr>
            </a:pPr>
            <a:r>
              <a:rPr sz="2175" b="1">
                <a:solidFill>
                  <a:srgbClr val="B45309"/>
                </a:solidFill>
              </a:rPr>
              <a:t>3.45%</a:t>
            </a:r>
            <a:endParaRPr sz="2175" b="1">
              <a:solidFill>
                <a:srgbClr val="B45309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877050" y="223837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90">
                <a:solidFill>
                  <a:srgbClr val="4B5563"/>
                </a:solidFill>
              </a:defRPr>
            </a:pPr>
            <a:r>
              <a:rPr sz="690">
                <a:solidFill>
                  <a:srgbClr val="4B5563"/>
                </a:solidFill>
              </a:rPr>
              <a:t>0409A02 / 200%，伴随 B5 LOW %D 备注。</a:t>
            </a:r>
            <a:endParaRPr sz="690">
              <a:solidFill>
                <a:srgbClr val="4B5563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667500" y="27622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9813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结论</a:t>
            </a:r>
            <a:endParaRPr sz="975" b="1">
              <a:solidFill>
                <a:srgbClr val="00A86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3238500"/>
            <a:ext cx="121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>
                <a:solidFill>
                  <a:srgbClr val="333333"/>
                </a:solidFill>
              </a:defRPr>
            </a:pPr>
            <a:r>
              <a:rPr sz="705">
                <a:solidFill>
                  <a:srgbClr val="333333"/>
                </a:solidFill>
              </a:rPr>
              <a:t>最差通道 CV 未超过 5.6% QC；失败机台主要由吸液/泄漏和整体 CV 异常驱动。</a:t>
            </a:r>
            <a:endParaRPr sz="705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失效与风险证据：2 台停止，1 台完成但需复核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3" name="表格 222"/>
          <p:cNvGraphicFramePr/>
          <p:nvPr/>
        </p:nvGraphicFramePr>
        <p:xfrm>
          <a:off x="495300" y="1200150"/>
          <a:ext cx="8048625" cy="2381250"/>
        </p:xfrm>
        <a:graphic>
          <a:graphicData uri="http://schemas.openxmlformats.org/drawingml/2006/table">
            <a:tbl>
              <a:tblPr firstRow="1" bandRow="1"/>
              <a:tblGrid>
                <a:gridCol w="904875"/>
                <a:gridCol w="904875"/>
                <a:gridCol w="3143250"/>
                <a:gridCol w="1476375"/>
                <a:gridCol w="1619250"/>
              </a:tblGrid>
              <a:tr h="396875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证据/备注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影响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0627A02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175%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CV 6.83%；D3/G9 吸液少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超 QC/客户限值，停止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0627A03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50%-175%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E10 不吸液；CH19/CH58 泄漏率高；B7 不吸液 FAIL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过程失效，停止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0701A01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CV 4.155%-4.16%；H4 LOW %D；泄漏率 23.46 pa/s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超过 4% QC，低于 5% 客户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0409A02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B5 LOW %D；最差通道 CV 3.45%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CV 未超限，有单点风险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0409A03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全阶段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无失效记录；CV 最大 0.52%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稳定通过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0627A02 单机总结：FAIL / STOP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solidFill>
              <a:srgbClr val="FECACA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DC2626"/>
                </a:solidFill>
              </a:defRPr>
            </a:pPr>
            <a:r>
              <a:rPr sz="715" b="1">
                <a:solidFill>
                  <a:srgbClr val="DC2626"/>
                </a:solidFill>
              </a:rPr>
              <a:t>STOPED-(150%-175%)</a:t>
            </a:r>
            <a:endParaRPr sz="715" b="1">
              <a:solidFill>
                <a:srgbClr val="DC2626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175% / 455k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(175%)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6.83%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0.81%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FAIL / STOP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175% 光学验证 CV 达到 6.83%，高于 4% QC 和 5% 客户限值。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主表备注 D3 吸液少；光学验证记录 D3/G9 吸液少，Summary 显示停止测试并进入返修/拆机分析。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判定为未通过/停止，不建议按完成老化通过归档。</a:t>
            </a:r>
            <a:endParaRPr sz="60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2413000"/>
                <a:gridCol w="2413000"/>
                <a:gridCol w="24130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175%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6.83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0409A03 单机总结：PASS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(200% / 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0.52%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(200%)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1.07%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CV 长期稳定在 0.41%-0.52%，远低于 4% QC 限值。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392% plate4/plate5 为 #DIV/0!，需补充复测或说明仅使用前三块板数据。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明细表 Finish 且现有 CV/最差通道 CV 均在规格内，建议通过。</a:t>
            </a:r>
            <a:endParaRPr sz="60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1.07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0409A02 单机总结：PASS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(200%)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0.74%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(200%)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3.45%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CV 最高 0.74%，远低于 4% QC 限值；315% 和 392% 已回落至 0.42%-0.43%。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200% 有 B5 LOW %D in plate3；最差通道 CV 3.45% 仍低于 5.6% QC 限值。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完成 392% 且 CV 指标通过；建议通过，但保留 B5 D% 备注。</a:t>
            </a:r>
            <a:endParaRPr sz="60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3.45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0627A03 单机总结：FAIL / STOP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 w="0">
            <a:solidFill>
              <a:srgbClr val="FECACA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DC2626"/>
                </a:solidFill>
              </a:defRPr>
            </a:pPr>
            <a:r>
              <a:rPr sz="715" b="1">
                <a:solidFill>
                  <a:srgbClr val="DC2626"/>
                </a:solidFill>
              </a:rPr>
              <a:t>stopped-(150%-175%)</a:t>
            </a:r>
            <a:endParaRPr sz="715" b="1">
              <a:solidFill>
                <a:srgbClr val="DC2626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175% / 455k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0.47%</a:t>
            </a:r>
            <a:endParaRPr sz="1350" b="1">
              <a:solidFill>
                <a:srgbClr val="F59E0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0.66%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FAIL / STOP</a:t>
            </a:r>
            <a:endParaRPr sz="1350" b="1">
              <a:solidFill>
                <a:srgbClr val="DC2626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现有光学 CV 在 0%-100% 阶段正常，但寿命过程出现多次吸液/泄漏异常。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50% E10 不吸液后返修继续；150% CH19/CH58 泄漏率高；175% B7 不吸液体并 FAIL。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虽现有 CV 未超限，但因 175% 明确 FAIL，判定为未通过/停止。</a:t>
            </a:r>
            <a:endParaRPr sz="60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3619500"/>
                <a:gridCol w="36195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0701A01 单机总结：QC RISK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000875" y="800100"/>
            <a:ext cx="1381125" cy="209550"/>
          </a:xfrm>
          <a:prstGeom prst="roundRect">
            <a:avLst>
              <a:gd name="adj" fmla="val 50000"/>
            </a:avLst>
          </a:prstGeom>
          <a:solidFill>
            <a:srgbClr val="FFE2A8"/>
          </a:solidFill>
          <a:ln w="0">
            <a:solidFill>
              <a:srgbClr val="FFE2A8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B45309"/>
                </a:solidFill>
              </a:defRPr>
            </a:pPr>
            <a:r>
              <a:rPr sz="715" b="1">
                <a:solidFill>
                  <a:srgbClr val="B45309"/>
                </a:solidFill>
              </a:rPr>
              <a:t>Finish</a:t>
            </a:r>
            <a:endParaRPr sz="715" b="1">
              <a:solidFill>
                <a:srgbClr val="B45309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最高点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 (392%)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4.16%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 (315%)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2.30%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判定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QC RISK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64748B"/>
                </a:solidFill>
              </a:defRPr>
            </a:pPr>
            <a:r>
              <a:rPr sz="555">
                <a:solidFill>
                  <a:srgbClr val="64748B"/>
                </a:solidFill>
              </a:rPr>
              <a:t>参考：5 uL CV QC 4% / 客户 5%；最差通道 CV QC 5.6% / 客户 7%。</a:t>
            </a:r>
            <a:endParaRPr sz="555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单机总结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趋势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CV 随寿命点持续上升，392% 为 4.155%-4.16%，超过 4% QC 但低于 5% 客户限值。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数据备注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200%/354% 有 H4 LOW %D；354% 还记录 200 uL 气压工装泄漏率 23.46 pa/s。</a:t>
            </a:r>
            <a:endParaRPr sz="605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762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 b="1">
                <a:solidFill>
                  <a:srgbClr val="333333"/>
                </a:solidFill>
              </a:defRPr>
            </a:pPr>
            <a:r>
              <a:rPr sz="790" b="1">
                <a:solidFill>
                  <a:srgbClr val="333333"/>
                </a:solidFill>
              </a:rPr>
              <a:t>结论</a:t>
            </a:r>
            <a:endParaRPr sz="790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5">
                <a:solidFill>
                  <a:srgbClr val="4B5563"/>
                </a:solidFill>
              </a:defRPr>
            </a:pPr>
            <a:r>
              <a:rPr sz="605">
                <a:solidFill>
                  <a:srgbClr val="4B5563"/>
                </a:solidFill>
              </a:rPr>
              <a:t>明细表 Finish，但建议复核/复测 392% 光学结果与 H4 相关异常后再归档。</a:t>
            </a:r>
            <a:endParaRPr sz="605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1.08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1.40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4.16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最差通道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2.30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2963</Words>
  <Application>WPS 表格</Application>
  <PresentationFormat>Converted Presentation</PresentationFormat>
  <Paragraphs>511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Roboto</vt:lpstr>
      <vt:lpstr>苹方-简</vt:lpstr>
      <vt:lpstr>Material</vt:lpstr>
      <vt:lpstr>Office 主题​​</vt:lpstr>
      <vt:lpstr>P2HHV32 96CH LV Rod Seal 老化测试报告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 96CH LV Rod Seal 老化测试报告</dc:title>
  <dc:creator>Walnut Exporter</dc:creator>
  <cp:lastModifiedBy>Wye</cp:lastModifiedBy>
  <cp:revision>2</cp:revision>
  <dcterms:created xsi:type="dcterms:W3CDTF">2026-06-15T06:21:20Z</dcterms:created>
  <dcterms:modified xsi:type="dcterms:W3CDTF">2026-06-15T06:21:20Z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A4DA592D809ED809D3962F6A5BA3C3C2_42</vt:lpwstr>
  </property>
  <property fmtid="{D5CDD505-2E9C-101B-9397-08002B2CF9AE}" pid="3" name="KSOProductBuildVer">
    <vt:lpwstr>2052-12.1.25895.25895</vt:lpwstr>
  </property>
</Properties>
</file>