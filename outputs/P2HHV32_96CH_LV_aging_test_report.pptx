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slides/charts/chart1.xml" ContentType="application/vnd.openxmlformats-officedocument.drawingml.chart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slides/charts/chart2.xml" ContentType="application/vnd.openxmlformats-officedocument.drawingml.chart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slides/charts/chart3.xml" ContentType="application/vnd.openxmlformats-officedocument.drawingml.chart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slides/charts/chart4.xml" ContentType="application/vnd.openxmlformats-officedocument.drawingml.chart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slides/charts/chart5.xml" ContentType="application/vnd.openxmlformats-officedocument.drawingml.chart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slides/charts/chart6.xml" ContentType="application/vnd.openxmlformats-officedocument.drawingml.chart+xml"/>
  <Override PartName="/ppt/notesSlides/notesSlide1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91888c3b7cdf438c" /><Relationship Type="http://schemas.openxmlformats.org/officeDocument/2006/relationships/extended-properties" Target="/docProps/app.xml" Id="Rc34ca051f570485f" /><Relationship Type="http://schemas.openxmlformats.org/officeDocument/2006/relationships/officeDocument" Target="/ppt/presentation.xml" Id="R2157b7e165eb4e0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b61b44f27b6447a"/>
  </p:sldMasterIdLst>
  <p:notesMasterIdLst>
    <p:notesMasterId xmlns:r="http://schemas.openxmlformats.org/officeDocument/2006/relationships" r:id="R7c844c138bd84b9a"/>
  </p:notesMasterIdLst>
  <p:sldIdLst>
    <p:sldId xmlns:r="http://schemas.openxmlformats.org/officeDocument/2006/relationships" id="256" r:id="R13ab5c6ad8d24df1"/>
    <p:sldId xmlns:r="http://schemas.openxmlformats.org/officeDocument/2006/relationships" id="257" r:id="R9f33a2063e184ddc"/>
    <p:sldId xmlns:r="http://schemas.openxmlformats.org/officeDocument/2006/relationships" id="258" r:id="R70d3fc7696244a7e"/>
    <p:sldId xmlns:r="http://schemas.openxmlformats.org/officeDocument/2006/relationships" id="259" r:id="Rb7b7312fe0c644fb"/>
    <p:sldId xmlns:r="http://schemas.openxmlformats.org/officeDocument/2006/relationships" id="260" r:id="Rc83363d82765429f"/>
    <p:sldId xmlns:r="http://schemas.openxmlformats.org/officeDocument/2006/relationships" id="261" r:id="R559e5b971b794ceb"/>
    <p:sldId xmlns:r="http://schemas.openxmlformats.org/officeDocument/2006/relationships" id="262" r:id="Rffb371361bae48e5"/>
    <p:sldId xmlns:r="http://schemas.openxmlformats.org/officeDocument/2006/relationships" id="263" r:id="Rdd265d8e46c142be"/>
    <p:sldId xmlns:r="http://schemas.openxmlformats.org/officeDocument/2006/relationships" id="264" r:id="Rd2b9034aeda7479c"/>
    <p:sldId xmlns:r="http://schemas.openxmlformats.org/officeDocument/2006/relationships" id="265" r:id="Ra9364ea631294ebc"/>
    <p:sldId xmlns:r="http://schemas.openxmlformats.org/officeDocument/2006/relationships" id="266" r:id="R69afbb330439432a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1cde553f51434ac0" /><Relationship Type="http://schemas.openxmlformats.org/officeDocument/2006/relationships/slideMaster" Target="/ppt/slideMasters/slideMaster1.xml" Id="Rdb61b44f27b6447a" /><Relationship Type="http://schemas.openxmlformats.org/officeDocument/2006/relationships/notesMaster" Target="/ppt/notesMasters/notesMaster1.xml" Id="R7c844c138bd84b9a" /><Relationship Type="http://schemas.openxmlformats.org/officeDocument/2006/relationships/presProps" Target="/ppt/presProps.xml" Id="Re76c952862554e1d" /><Relationship Type="http://schemas.openxmlformats.org/officeDocument/2006/relationships/tableStyles" Target="/ppt/tableStyles.xml" Id="Rcb3cff5ebf9a4bd3" /><Relationship Type="http://schemas.openxmlformats.org/officeDocument/2006/relationships/slide" Target="/ppt/slides/slide1.xml" Id="R13ab5c6ad8d24df1" /><Relationship Type="http://schemas.openxmlformats.org/officeDocument/2006/relationships/slide" Target="/ppt/slides/slide2.xml" Id="R9f33a2063e184ddc" /><Relationship Type="http://schemas.openxmlformats.org/officeDocument/2006/relationships/slide" Target="/ppt/slides/slide3.xml" Id="R70d3fc7696244a7e" /><Relationship Type="http://schemas.openxmlformats.org/officeDocument/2006/relationships/slide" Target="/ppt/slides/slide4.xml" Id="Rb7b7312fe0c644fb" /><Relationship Type="http://schemas.openxmlformats.org/officeDocument/2006/relationships/slide" Target="/ppt/slides/slide5.xml" Id="Rc83363d82765429f" /><Relationship Type="http://schemas.openxmlformats.org/officeDocument/2006/relationships/slide" Target="/ppt/slides/slide6.xml" Id="R559e5b971b794ceb" /><Relationship Type="http://schemas.openxmlformats.org/officeDocument/2006/relationships/slide" Target="/ppt/slides/slide7.xml" Id="Rffb371361bae48e5" /><Relationship Type="http://schemas.openxmlformats.org/officeDocument/2006/relationships/slide" Target="/ppt/slides/slide8.xml" Id="Rdd265d8e46c142be" /><Relationship Type="http://schemas.openxmlformats.org/officeDocument/2006/relationships/slide" Target="/ppt/slides/slide9.xml" Id="Rd2b9034aeda7479c" /><Relationship Type="http://schemas.openxmlformats.org/officeDocument/2006/relationships/slide" Target="/ppt/slides/slide10.xml" Id="Ra9364ea631294ebc" /><Relationship Type="http://schemas.openxmlformats.org/officeDocument/2006/relationships/slide" Target="/ppt/slides/slide11.xml" Id="R69afbb330439432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715462c8fdfe41c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354ef622ea04fec" /><Relationship Type="http://schemas.openxmlformats.org/officeDocument/2006/relationships/notesMaster" Target="/ppt/notesMasters/notesMaster1.xml" Id="Rd8c498e2c1cf4875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77f66a9bda8c4d08" /><Relationship Type="http://schemas.openxmlformats.org/officeDocument/2006/relationships/notesMaster" Target="/ppt/notesMasters/notesMaster1.xml" Id="Rbccb8df761bd4226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b21aa4febed34f55" /><Relationship Type="http://schemas.openxmlformats.org/officeDocument/2006/relationships/notesMaster" Target="/ppt/notesMasters/notesMaster1.xml" Id="R1a6031817b4c4fac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ae8bf50bf44a426f" /><Relationship Type="http://schemas.openxmlformats.org/officeDocument/2006/relationships/notesMaster" Target="/ppt/notesMasters/notesMaster1.xml" Id="R6cbb9c01cb6d4b4c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1248e8d7ad694a8f" /><Relationship Type="http://schemas.openxmlformats.org/officeDocument/2006/relationships/notesMaster" Target="/ppt/notesMasters/notesMaster1.xml" Id="Rbf1ed1eabeb049ac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69bbb39f823142a7" /><Relationship Type="http://schemas.openxmlformats.org/officeDocument/2006/relationships/notesMaster" Target="/ppt/notesMasters/notesMaster1.xml" Id="Rdd318c3f21914061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b110e681bc844216" /><Relationship Type="http://schemas.openxmlformats.org/officeDocument/2006/relationships/notesMaster" Target="/ppt/notesMasters/notesMaster1.xml" Id="Rd1977a4591964dff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06623b18190047d8" /><Relationship Type="http://schemas.openxmlformats.org/officeDocument/2006/relationships/notesMaster" Target="/ppt/notesMasters/notesMaster1.xml" Id="Rd43b1bdc046e4ff4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a4b2e3c6c7ab43fe" /><Relationship Type="http://schemas.openxmlformats.org/officeDocument/2006/relationships/notesMaster" Target="/ppt/notesMasters/notesMaster1.xml" Id="R4e064b272cce4c58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596d6e0edd1f44ff" /><Relationship Type="http://schemas.openxmlformats.org/officeDocument/2006/relationships/notesMaster" Target="/ppt/notesMasters/notesMaster1.xml" Id="R8c97161f05044f1c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19c9dc62a777493a" /><Relationship Type="http://schemas.openxmlformats.org/officeDocument/2006/relationships/notesMaster" Target="/ppt/notesMasters/notesMaster1.xml" Id="Rbd6201ce89dd48f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0fe6b1c4919486d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2c372d4b5d704f3f" /><Relationship Type="http://schemas.openxmlformats.org/officeDocument/2006/relationships/slideLayout" Target="/ppt/slideLayouts/slideLayout1.xml" Id="Rb88906394e27487d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88906394e27487d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dae8fca063c4633" /><Relationship Type="http://schemas.openxmlformats.org/officeDocument/2006/relationships/notesSlide" Target="/ppt/notesSlides/notesSlide1.xml" Id="R83f4dc6704734943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56aeb2cb89d4c75" /><Relationship Type="http://schemas.openxmlformats.org/officeDocument/2006/relationships/notesSlide" Target="/ppt/notesSlides/notesSlide2.xml" Id="Rbeeb42ddd9bf4340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1f44136a4114579" /><Relationship Type="http://schemas.openxmlformats.org/officeDocument/2006/relationships/notesSlide" Target="/ppt/notesSlides/notesSlide3.xml" Id="Rff624fee10884828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c408c9d1afb4ad0" /><Relationship Type="http://schemas.openxmlformats.org/officeDocument/2006/relationships/chart" Target="/ppt/slides/charts/chart1.xml" Id="R3f2bbc660a1f429d" /><Relationship Type="http://schemas.openxmlformats.org/officeDocument/2006/relationships/notesSlide" Target="/ppt/notesSlides/notesSlide4.xml" Id="R404ef61296b44970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e3157f7125643ad" /><Relationship Type="http://schemas.openxmlformats.org/officeDocument/2006/relationships/chart" Target="/ppt/slides/charts/chart2.xml" Id="R53ec5b7570dd4deb" /><Relationship Type="http://schemas.openxmlformats.org/officeDocument/2006/relationships/notesSlide" Target="/ppt/notesSlides/notesSlide5.xml" Id="R17f758ee63b04949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7491df61dd24ed4" /><Relationship Type="http://schemas.openxmlformats.org/officeDocument/2006/relationships/notesSlide" Target="/ppt/notesSlides/notesSlide6.xml" Id="R747e081e949f4363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689052f885b41d2" /><Relationship Type="http://schemas.openxmlformats.org/officeDocument/2006/relationships/notesSlide" Target="/ppt/notesSlides/notesSlide7.xml" Id="Rbadb6e2338934f21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6e1f01f700f4936" /><Relationship Type="http://schemas.openxmlformats.org/officeDocument/2006/relationships/chart" Target="/ppt/slides/charts/chart3.xml" Id="Rcc4ed95211374d4f" /><Relationship Type="http://schemas.openxmlformats.org/officeDocument/2006/relationships/notesSlide" Target="/ppt/notesSlides/notesSlide8.xml" Id="Rb5a53414cfe142d7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f56f5a2bc674a90" /><Relationship Type="http://schemas.openxmlformats.org/officeDocument/2006/relationships/chart" Target="/ppt/slides/charts/chart4.xml" Id="R71f7ec80235144e1" /><Relationship Type="http://schemas.openxmlformats.org/officeDocument/2006/relationships/notesSlide" Target="/ppt/notesSlides/notesSlide9.xml" Id="Ra3b21831b5b341fe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e617e61764b49b8" /><Relationship Type="http://schemas.openxmlformats.org/officeDocument/2006/relationships/chart" Target="/ppt/slides/charts/chart5.xml" Id="R1a6641bf969e40b1" /><Relationship Type="http://schemas.openxmlformats.org/officeDocument/2006/relationships/notesSlide" Target="/ppt/notesSlides/notesSlide10.xml" Id="R6f14b93138f247c9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a7d2d06ecc1449d" /><Relationship Type="http://schemas.openxmlformats.org/officeDocument/2006/relationships/chart" Target="/ppt/slides/charts/chart6.xml" Id="Rae394fade32e4b74" /><Relationship Type="http://schemas.openxmlformats.org/officeDocument/2006/relationships/notesSlide" Target="/ppt/notesSlides/notesSlide11.xml" Id="Rbbb9267f02674db8" /></Relationships>
</file>

<file path=ppt/slides/charts/chart1.xml><?xml version="1.0" encoding="utf-8"?>
<c:chartSpace xmlns:c="http://schemas.openxmlformats.org/drawingml/2006/chart">
  <c:lang val="en-US"/>
  <c:roundedCorners val="0"/>
  <c:chart>
    <c:plotArea>
      <c:layout/>
      <c:lineChart>
        <c:grouping val="standard"/>
        <c:ser>
          <c:idx val="0"/>
          <c:order val="0"/>
          <c:tx>
            <c:v>0401A03</c:v>
          </c:tx>
          <c:spPr>
            <a:ln xmlns:a="http://schemas.openxmlformats.org/drawingml/2006/main" w="28575">
              <a:solidFill>
                <a:srgbClr val="2563EB"/>
              </a:solidFill>
              <a:prstDash val="solid"/>
            </a:ln>
          </c:spPr>
          <c:marker>
            <c:symbol val="circle"/>
            <c:size val="6"/>
          </c:marker>
          <c:dLbls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strLit>
              <c:ptCount val="5"/>
              <c:pt idx="0">
                <c:v>0%</c:v>
              </c:pt>
              <c:pt idx="1">
                <c:v>100%</c:v>
              </c:pt>
              <c:pt idx="2">
                <c:v>200%</c:v>
              </c:pt>
              <c:pt idx="3">
                <c:v>315%</c:v>
              </c:pt>
              <c:pt idx="4">
                <c:v>392%</c:v>
              </c:pt>
            </c:strLit>
          </c:cat>
          <c:val>
            <c:numLit>
              <c:formatCode>0.0</c:formatCode>
              <c:ptCount val="5"/>
              <c:pt idx="0">
                <c:v>0.446</c:v>
              </c:pt>
              <c:pt idx="1">
                <c:v>0.491</c:v>
              </c:pt>
              <c:pt idx="2">
                <c:v>0.56</c:v>
              </c:pt>
              <c:pt idx="3">
                <c:v>0.566</c:v>
              </c:pt>
              <c:pt idx="4">
                <c:v>0.494</c:v>
              </c:pt>
            </c:numLit>
          </c:val>
          <c:smooth val="0"/>
        </c:ser>
        <c:ser>
          <c:idx val="1"/>
          <c:order val="1"/>
          <c:tx>
            <c:v>0408A02</c:v>
          </c:tx>
          <c:spPr>
            <a:ln xmlns:a="http://schemas.openxmlformats.org/drawingml/2006/main" w="28575">
              <a:solidFill>
                <a:srgbClr val="10B981"/>
              </a:solidFill>
              <a:prstDash val="solid"/>
            </a:ln>
          </c:spPr>
          <c:marker>
            <c:symbol val="circle"/>
            <c:size val="6"/>
          </c:marker>
          <c:dLbls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strLit>
              <c:ptCount val="5"/>
              <c:pt idx="0">
                <c:v>0%</c:v>
              </c:pt>
              <c:pt idx="1">
                <c:v>100%</c:v>
              </c:pt>
              <c:pt idx="2">
                <c:v>200%</c:v>
              </c:pt>
              <c:pt idx="3">
                <c:v>315%</c:v>
              </c:pt>
              <c:pt idx="4">
                <c:v>392%</c:v>
              </c:pt>
            </c:strLit>
          </c:cat>
          <c:val>
            <c:numLit>
              <c:formatCode>0.0</c:formatCode>
              <c:ptCount val="5"/>
              <c:pt idx="0">
                <c:v>0.421</c:v>
              </c:pt>
              <c:pt idx="1">
                <c:v>0.492</c:v>
              </c:pt>
              <c:pt idx="2">
                <c:v>0.416</c:v>
              </c:pt>
              <c:pt idx="3">
                <c:v>0.436</c:v>
              </c:pt>
              <c:pt idx="4">
                <c:v>0.456</c:v>
              </c:pt>
            </c:numLit>
          </c:val>
          <c:smooth val="0"/>
        </c:ser>
        <c:ser>
          <c:idx val="2"/>
          <c:order val="2"/>
          <c:tx>
            <c:v>0410A07</c:v>
          </c:tx>
          <c:spPr>
            <a:ln xmlns:a="http://schemas.openxmlformats.org/drawingml/2006/main" w="28575">
              <a:solidFill>
                <a:srgbClr val="7C3AED"/>
              </a:solidFill>
              <a:prstDash val="solid"/>
            </a:ln>
          </c:spPr>
          <c:marker>
            <c:symbol val="circle"/>
            <c:size val="6"/>
          </c:marker>
          <c:dLbls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strLit>
              <c:ptCount val="5"/>
              <c:pt idx="0">
                <c:v>0%</c:v>
              </c:pt>
              <c:pt idx="1">
                <c:v>100%</c:v>
              </c:pt>
              <c:pt idx="2">
                <c:v>200%</c:v>
              </c:pt>
              <c:pt idx="3">
                <c:v>315%</c:v>
              </c:pt>
              <c:pt idx="4">
                <c:v>392%</c:v>
              </c:pt>
            </c:strLit>
          </c:cat>
          <c:val>
            <c:numLit>
              <c:formatCode>0.0</c:formatCode>
              <c:ptCount val="5"/>
              <c:pt idx="0">
                <c:v>0.382</c:v>
              </c:pt>
              <c:pt idx="1">
                <c:v>0.386</c:v>
              </c:pt>
              <c:pt idx="2">
                <c:v>0.718</c:v>
              </c:pt>
              <c:pt idx="3">
                <c:v>0.724</c:v>
              </c:pt>
              <c:pt idx="4">
                <c:v>0.415</c:v>
              </c:pt>
            </c:numLit>
          </c:val>
          <c:smooth val="0"/>
        </c:ser>
        <c:ser>
          <c:idx val="3"/>
          <c:order val="3"/>
          <c:tx>
            <c:v>0411A03</c:v>
          </c:tx>
          <c:spPr>
            <a:ln xmlns:a="http://schemas.openxmlformats.org/drawingml/2006/main" w="28575">
              <a:solidFill>
                <a:srgbClr val="0891B2"/>
              </a:solidFill>
              <a:prstDash val="solid"/>
            </a:ln>
          </c:spPr>
          <c:marker>
            <c:symbol val="circle"/>
            <c:size val="6"/>
          </c:marker>
          <c:dLbls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strLit>
              <c:ptCount val="5"/>
              <c:pt idx="0">
                <c:v>0%</c:v>
              </c:pt>
              <c:pt idx="1">
                <c:v>100%</c:v>
              </c:pt>
              <c:pt idx="2">
                <c:v>200%</c:v>
              </c:pt>
              <c:pt idx="3">
                <c:v>315%</c:v>
              </c:pt>
              <c:pt idx="4">
                <c:v>392%</c:v>
              </c:pt>
            </c:strLit>
          </c:cat>
          <c:val>
            <c:numLit>
              <c:formatCode>0.0</c:formatCode>
              <c:ptCount val="5"/>
              <c:pt idx="0">
                <c:v>0.815</c:v>
              </c:pt>
              <c:pt idx="1">
                <c:v>0.551</c:v>
              </c:pt>
              <c:pt idx="2">
                <c:v>0.469</c:v>
              </c:pt>
              <c:pt idx="3">
                <c:v>0.825</c:v>
              </c:pt>
              <c:pt idx="4">
                <c:v>0.718</c:v>
              </c:pt>
            </c:numLit>
          </c: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CBD5E1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475569"/>
                </a:solidFill>
              </a:defRPr>
            </a:pPr>
          </a:p>
        </c:txPr>
        <c:crossAx val="48672768"/>
        <c:crosses val="autoZero"/>
        <c:lblAlgn val="ctr"/>
        <c:lblOffset val="100"/>
        <c:noMultiLvlLbl val="0"/>
      </c:catAx>
      <c:valAx>
        <c:axId val="48672768"/>
        <c:scaling>
          <c:orientation val="minMax"/>
          <c:max val="1"/>
        </c:scaling>
        <c:delete val="0"/>
        <c:axPos val="l"/>
        <c:majorGridlines>
          <c:spPr>
            <a:ln xmlns:a="http://schemas.openxmlformats.org/drawingml/2006/main" w="9525">
              <a:solidFill>
                <a:srgbClr val="E2E8F0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900" b="1">
                    <a:solidFill>
                      <a:srgbClr val="475569"/>
                    </a:solidFill>
                  </a:rPr>
                  <a:t>CV (%)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900" b="1">
                  <a:solidFill>
                    <a:srgbClr val="475569"/>
                  </a:solidFill>
                </a:defRPr>
              </a:pPr>
            </a:p>
          </c:txPr>
        </c:title>
        <c:numFmt formatCode="0.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475569"/>
                </a:solidFill>
              </a:defRPr>
            </a:pPr>
          </a:p>
        </c:txPr>
        <c:crossAx val="48650112"/>
        <c:crosses val="autoZero"/>
        <c:crossBetween val="between"/>
      </c:valAx>
      <c:spPr>
        <a:solidFill xmlns:a="http://schemas.openxmlformats.org/drawingml/2006/main">
          <a:srgbClr val="FFFFFF"/>
        </a:solidFill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900">
              <a:solidFill>
                <a:srgbClr val="475569"/>
              </a:solidFill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</c:spPr>
</c:chartSpace>
</file>

<file path=ppt/slides/charts/chart2.xml><?xml version="1.0" encoding="utf-8"?>
<c:chartSpace xmlns:c="http://schemas.openxmlformats.org/drawingml/2006/chart">
  <c:lang val="en-US"/>
  <c:roundedCorners val="0"/>
  <c:chart>
    <c:plotArea>
      <c:layout/>
      <c:barChart>
        <c:barDir val="col"/>
        <c:grouping val="clustered"/>
        <c:varyColors val="0"/>
        <c:ser>
          <c:idx val="0"/>
          <c:order val="0"/>
          <c:tx>
            <c:v>Max worst channel CV</c:v>
          </c:tx>
          <c:spPr>
            <a:solidFill xmlns:a="http://schemas.openxmlformats.org/drawingml/2006/main">
              <a:srgbClr val="2563EB"/>
            </a:solidFill>
          </c:spPr>
          <c:dPt>
            <c:idx val="3"/>
            <c:spPr>
              <a:solidFill xmlns:a="http://schemas.openxmlformats.org/drawingml/2006/main">
                <a:srgbClr val="F59E0B"/>
              </a:solidFill>
            </c:spPr>
          </c:dPt>
          <c:dLbls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strLit>
              <c:ptCount val="4"/>
              <c:pt idx="0">
                <c:v>0401A03</c:v>
              </c:pt>
              <c:pt idx="1">
                <c:v>0408A02</c:v>
              </c:pt>
              <c:pt idx="2">
                <c:v>0410A07</c:v>
              </c:pt>
              <c:pt idx="3">
                <c:v>0411A03</c:v>
              </c:pt>
            </c:strLit>
          </c:cat>
          <c:val>
            <c:numLit>
              <c:formatCode>0.0</c:formatCode>
              <c:ptCount val="4"/>
              <c:pt idx="0">
                <c:v>1.01</c:v>
              </c:pt>
              <c:pt idx="1">
                <c:v>1.41</c:v>
              </c:pt>
              <c:pt idx="2">
                <c:v>1.6</c:v>
              </c:pt>
              <c:pt idx="3">
                <c:v>2.88</c:v>
              </c:pt>
            </c:numLit>
          </c:val>
        </c:ser>
        <c:ser>
          <c:idx val="1"/>
          <c:order val="1"/>
          <c:tx>
            <c:v>QC spec 5.6%</c:v>
          </c:tx>
          <c:spPr>
            <a:solidFill xmlns:a="http://schemas.openxmlformats.org/drawingml/2006/main">
              <a:srgbClr val="D1FAE5"/>
            </a:solidFill>
          </c:spPr>
          <c:dLbls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strLit>
              <c:ptCount val="4"/>
              <c:pt idx="0">
                <c:v>0401A03</c:v>
              </c:pt>
              <c:pt idx="1">
                <c:v>0408A02</c:v>
              </c:pt>
              <c:pt idx="2">
                <c:v>0410A07</c:v>
              </c:pt>
              <c:pt idx="3">
                <c:v>0411A03</c:v>
              </c:pt>
            </c:strLit>
          </c:cat>
          <c:val>
            <c:numLit>
              <c:formatCode>0.0</c:formatCode>
              <c:ptCount val="4"/>
              <c:pt idx="0">
                <c:v>5.6</c:v>
              </c:pt>
              <c:pt idx="1">
                <c:v>5.6</c:v>
              </c:pt>
              <c:pt idx="2">
                <c:v>5.6</c:v>
              </c:pt>
              <c:pt idx="3">
                <c:v>5.6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900" b="1">
                  <a:solidFill>
                    <a:srgbClr val="0F172A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4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475569"/>
                </a:solidFill>
              </a:defRPr>
            </a:pPr>
          </a:p>
        </c:txPr>
        <c:crossAx val="48672768"/>
        <c:crosses val="autoZero"/>
        <c:lblAlgn val="ctr"/>
        <c:lblOffset val="100"/>
        <c:noMultiLvlLbl val="0"/>
      </c:catAx>
      <c:valAx>
        <c:axId val="48672768"/>
        <c:scaling>
          <c:orientation val="minMax"/>
          <c:max val="6"/>
        </c:scaling>
        <c:delete val="0"/>
        <c:axPos val="l"/>
        <c:majorGridlines>
          <c:spPr>
            <a:ln xmlns:a="http://schemas.openxmlformats.org/drawingml/2006/main" w="9525">
              <a:solidFill>
                <a:srgbClr val="E2E8F0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900" b="1">
                    <a:solidFill>
                      <a:srgbClr val="475569"/>
                    </a:solidFill>
                  </a:rPr>
                  <a:t>CV (%)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900" b="1">
                  <a:solidFill>
                    <a:srgbClr val="475569"/>
                  </a:solidFill>
                </a:defRPr>
              </a:pPr>
            </a:p>
          </c:txPr>
        </c:title>
        <c:numFmt formatCode="0.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475569"/>
                </a:solidFill>
              </a:defRPr>
            </a:pPr>
          </a:p>
        </c:txPr>
        <c:crossAx val="48650112"/>
        <c:crosses val="autoZero"/>
        <c:crossBetween val="between"/>
      </c:valAx>
      <c:spPr>
        <a:solidFill xmlns:a="http://schemas.openxmlformats.org/drawingml/2006/main">
          <a:srgbClr val="FFFFFF"/>
        </a:solidFill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900">
              <a:solidFill>
                <a:srgbClr val="475569"/>
              </a:solidFill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</c:spPr>
</c:chartSpace>
</file>

<file path=ppt/slides/charts/chart3.xml><?xml version="1.0" encoding="utf-8"?>
<c:chartSpace xmlns:c="http://schemas.openxmlformats.org/drawingml/2006/chart">
  <c:lang val="en-US"/>
  <c:roundedCorners val="0"/>
  <c:chart>
    <c:plotArea>
      <c:layout/>
      <c:lineChart>
        <c:grouping val="standard"/>
        <c:ser>
          <c:idx val="0"/>
          <c:order val="0"/>
          <c:tx>
            <c:v>CV across all dispenses</c:v>
          </c:tx>
          <c:spPr>
            <a:ln xmlns:a="http://schemas.openxmlformats.org/drawingml/2006/main" w="28575">
              <a:solidFill>
                <a:srgbClr val="2563EB"/>
              </a:solidFill>
              <a:prstDash val="solid"/>
            </a:ln>
          </c:spPr>
          <c:marker>
            <c:symbol val="circle"/>
            <c:size val="6"/>
          </c:marker>
          <c:dLbls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strLit>
              <c:ptCount val="5"/>
              <c:pt idx="0">
                <c:v>0%</c:v>
              </c:pt>
              <c:pt idx="1">
                <c:v>100%</c:v>
              </c:pt>
              <c:pt idx="2">
                <c:v>200%</c:v>
              </c:pt>
              <c:pt idx="3">
                <c:v>315%</c:v>
              </c:pt>
              <c:pt idx="4">
                <c:v>392%</c:v>
              </c:pt>
            </c:strLit>
          </c:cat>
          <c:val>
            <c:numLit>
              <c:formatCode>0.0</c:formatCode>
              <c:ptCount val="5"/>
              <c:pt idx="0">
                <c:v>0.446</c:v>
              </c:pt>
              <c:pt idx="1">
                <c:v>0.491</c:v>
              </c:pt>
              <c:pt idx="2">
                <c:v>0.56</c:v>
              </c:pt>
              <c:pt idx="3">
                <c:v>0.566</c:v>
              </c:pt>
              <c:pt idx="4">
                <c:v>0.494</c:v>
              </c:pt>
            </c:numLit>
          </c:val>
          <c:smooth val="0"/>
        </c:ser>
        <c:ser>
          <c:idx val="1"/>
          <c:order val="1"/>
          <c:tx>
            <c:v>Worst channel CV</c:v>
          </c:tx>
          <c:spPr>
            <a:ln xmlns:a="http://schemas.openxmlformats.org/drawingml/2006/main" w="28575">
              <a:solidFill>
                <a:srgbClr val="F59E0B"/>
              </a:solidFill>
              <a:prstDash val="solid"/>
            </a:ln>
          </c:spPr>
          <c:marker>
            <c:symbol val="diamond"/>
            <c:size val="6"/>
          </c:marker>
          <c:dLbls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strLit>
              <c:ptCount val="5"/>
              <c:pt idx="0">
                <c:v>0%</c:v>
              </c:pt>
              <c:pt idx="1">
                <c:v>100%</c:v>
              </c:pt>
              <c:pt idx="2">
                <c:v>200%</c:v>
              </c:pt>
              <c:pt idx="3">
                <c:v>315%</c:v>
              </c:pt>
              <c:pt idx="4">
                <c:v>392%</c:v>
              </c:pt>
            </c:strLit>
          </c:cat>
          <c:val>
            <c:numLit>
              <c:formatCode>0.0</c:formatCode>
              <c:ptCount val="5"/>
              <c:pt idx="0">
                <c:v>0.92</c:v>
              </c:pt>
              <c:pt idx="1">
                <c:v>0.91</c:v>
              </c:pt>
              <c:pt idx="2">
                <c:v>1.01</c:v>
              </c:pt>
              <c:pt idx="3">
                <c:v>0.81</c:v>
              </c:pt>
              <c:pt idx="4">
                <c:v>0.91</c:v>
              </c:pt>
            </c:numLit>
          </c: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475569"/>
                </a:solidFill>
              </a:defRPr>
            </a:pPr>
          </a:p>
        </c:txPr>
        <c:crossAx val="48672768"/>
        <c:crosses val="autoZero"/>
        <c:lblAlgn val="ctr"/>
        <c:lblOffset val="100"/>
        <c:noMultiLvlLbl val="0"/>
      </c:catAx>
      <c:valAx>
        <c:axId val="48672768"/>
        <c:scaling>
          <c:orientation val="minMax"/>
          <c:max val="2"/>
        </c:scaling>
        <c:delete val="0"/>
        <c:axPos val="l"/>
        <c:majorGridlines>
          <c:spPr>
            <a:ln xmlns:a="http://schemas.openxmlformats.org/drawingml/2006/main" w="9525">
              <a:solidFill>
                <a:srgbClr val="E2E8F0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825" b="1">
                    <a:solidFill>
                      <a:srgbClr val="475569"/>
                    </a:solidFill>
                  </a:rPr>
                  <a:t>CV (%)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825" b="1">
                  <a:solidFill>
                    <a:srgbClr val="475569"/>
                  </a:solidFill>
                </a:defRPr>
              </a:pPr>
            </a:p>
          </c:txPr>
        </c:title>
        <c:numFmt formatCode="0.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475569"/>
                </a:solidFill>
              </a:defRPr>
            </a:pPr>
          </a:p>
        </c:txPr>
        <c:crossAx val="48650112"/>
        <c:crosses val="autoZero"/>
        <c:crossBetween val="between"/>
      </c:valAx>
      <c:spPr>
        <a:solidFill xmlns:a="http://schemas.openxmlformats.org/drawingml/2006/main">
          <a:srgbClr val="FFFFFF"/>
        </a:solidFill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825">
              <a:solidFill>
                <a:srgbClr val="475569"/>
              </a:solidFill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</c:spPr>
</c:chartSpace>
</file>

<file path=ppt/slides/charts/chart4.xml><?xml version="1.0" encoding="utf-8"?>
<c:chartSpace xmlns:c="http://schemas.openxmlformats.org/drawingml/2006/chart">
  <c:lang val="en-US"/>
  <c:roundedCorners val="0"/>
  <c:chart>
    <c:plotArea>
      <c:layout/>
      <c:lineChart>
        <c:grouping val="standard"/>
        <c:ser>
          <c:idx val="0"/>
          <c:order val="0"/>
          <c:tx>
            <c:v>CV across all dispenses</c:v>
          </c:tx>
          <c:spPr>
            <a:ln xmlns:a="http://schemas.openxmlformats.org/drawingml/2006/main" w="28575">
              <a:solidFill>
                <a:srgbClr val="10B981"/>
              </a:solidFill>
              <a:prstDash val="solid"/>
            </a:ln>
          </c:spPr>
          <c:marker>
            <c:symbol val="circle"/>
            <c:size val="6"/>
          </c:marker>
          <c:dLbls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strLit>
              <c:ptCount val="5"/>
              <c:pt idx="0">
                <c:v>0%</c:v>
              </c:pt>
              <c:pt idx="1">
                <c:v>100%</c:v>
              </c:pt>
              <c:pt idx="2">
                <c:v>200%</c:v>
              </c:pt>
              <c:pt idx="3">
                <c:v>315%</c:v>
              </c:pt>
              <c:pt idx="4">
                <c:v>392%</c:v>
              </c:pt>
            </c:strLit>
          </c:cat>
          <c:val>
            <c:numLit>
              <c:formatCode>0.0</c:formatCode>
              <c:ptCount val="5"/>
              <c:pt idx="0">
                <c:v>0.421</c:v>
              </c:pt>
              <c:pt idx="1">
                <c:v>0.492</c:v>
              </c:pt>
              <c:pt idx="2">
                <c:v>0.416</c:v>
              </c:pt>
              <c:pt idx="3">
                <c:v>0.436</c:v>
              </c:pt>
              <c:pt idx="4">
                <c:v>0.456</c:v>
              </c:pt>
            </c:numLit>
          </c:val>
          <c:smooth val="0"/>
        </c:ser>
        <c:ser>
          <c:idx val="1"/>
          <c:order val="1"/>
          <c:tx>
            <c:v>Worst channel CV</c:v>
          </c:tx>
          <c:spPr>
            <a:ln xmlns:a="http://schemas.openxmlformats.org/drawingml/2006/main" w="28575">
              <a:solidFill>
                <a:srgbClr val="F59E0B"/>
              </a:solidFill>
              <a:prstDash val="solid"/>
            </a:ln>
          </c:spPr>
          <c:marker>
            <c:symbol val="diamond"/>
            <c:size val="6"/>
          </c:marker>
          <c:dLbls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strLit>
              <c:ptCount val="5"/>
              <c:pt idx="0">
                <c:v>0%</c:v>
              </c:pt>
              <c:pt idx="1">
                <c:v>100%</c:v>
              </c:pt>
              <c:pt idx="2">
                <c:v>200%</c:v>
              </c:pt>
              <c:pt idx="3">
                <c:v>315%</c:v>
              </c:pt>
              <c:pt idx="4">
                <c:v>392%</c:v>
              </c:pt>
            </c:strLit>
          </c:cat>
          <c:val>
            <c:numLit>
              <c:formatCode>0.0</c:formatCode>
              <c:ptCount val="5"/>
              <c:pt idx="0">
                <c:v>0.77</c:v>
              </c:pt>
              <c:pt idx="1">
                <c:v>0.73</c:v>
              </c:pt>
              <c:pt idx="2">
                <c:v>0.78</c:v>
              </c:pt>
              <c:pt idx="3">
                <c:v>1.41</c:v>
              </c:pt>
              <c:pt idx="4">
                <c:v>0.79</c:v>
              </c:pt>
            </c:numLit>
          </c: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475569"/>
                </a:solidFill>
              </a:defRPr>
            </a:pPr>
          </a:p>
        </c:txPr>
        <c:crossAx val="48672768"/>
        <c:crosses val="autoZero"/>
        <c:lblAlgn val="ctr"/>
        <c:lblOffset val="100"/>
        <c:noMultiLvlLbl val="0"/>
      </c:catAx>
      <c:valAx>
        <c:axId val="48672768"/>
        <c:scaling>
          <c:orientation val="minMax"/>
          <c:max val="2"/>
        </c:scaling>
        <c:delete val="0"/>
        <c:axPos val="l"/>
        <c:majorGridlines>
          <c:spPr>
            <a:ln xmlns:a="http://schemas.openxmlformats.org/drawingml/2006/main" w="9525">
              <a:solidFill>
                <a:srgbClr val="E2E8F0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825" b="1">
                    <a:solidFill>
                      <a:srgbClr val="475569"/>
                    </a:solidFill>
                  </a:rPr>
                  <a:t>CV (%)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825" b="1">
                  <a:solidFill>
                    <a:srgbClr val="475569"/>
                  </a:solidFill>
                </a:defRPr>
              </a:pPr>
            </a:p>
          </c:txPr>
        </c:title>
        <c:numFmt formatCode="0.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475569"/>
                </a:solidFill>
              </a:defRPr>
            </a:pPr>
          </a:p>
        </c:txPr>
        <c:crossAx val="48650112"/>
        <c:crosses val="autoZero"/>
        <c:crossBetween val="between"/>
      </c:valAx>
      <c:spPr>
        <a:solidFill xmlns:a="http://schemas.openxmlformats.org/drawingml/2006/main">
          <a:srgbClr val="FFFFFF"/>
        </a:solidFill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825">
              <a:solidFill>
                <a:srgbClr val="475569"/>
              </a:solidFill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</c:spPr>
</c:chartSpace>
</file>

<file path=ppt/slides/charts/chart5.xml><?xml version="1.0" encoding="utf-8"?>
<c:chartSpace xmlns:c="http://schemas.openxmlformats.org/drawingml/2006/chart">
  <c:lang val="en-US"/>
  <c:roundedCorners val="0"/>
  <c:chart>
    <c:plotArea>
      <c:layout/>
      <c:lineChart>
        <c:grouping val="standard"/>
        <c:ser>
          <c:idx val="0"/>
          <c:order val="0"/>
          <c:tx>
            <c:v>CV across all dispenses</c:v>
          </c:tx>
          <c:spPr>
            <a:ln xmlns:a="http://schemas.openxmlformats.org/drawingml/2006/main" w="28575">
              <a:solidFill>
                <a:srgbClr val="7C3AED"/>
              </a:solidFill>
              <a:prstDash val="solid"/>
            </a:ln>
          </c:spPr>
          <c:marker>
            <c:symbol val="circle"/>
            <c:size val="6"/>
          </c:marker>
          <c:dLbls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strLit>
              <c:ptCount val="5"/>
              <c:pt idx="0">
                <c:v>0%</c:v>
              </c:pt>
              <c:pt idx="1">
                <c:v>100%</c:v>
              </c:pt>
              <c:pt idx="2">
                <c:v>200%</c:v>
              </c:pt>
              <c:pt idx="3">
                <c:v>315%</c:v>
              </c:pt>
              <c:pt idx="4">
                <c:v>392%</c:v>
              </c:pt>
            </c:strLit>
          </c:cat>
          <c:val>
            <c:numLit>
              <c:formatCode>0.0</c:formatCode>
              <c:ptCount val="5"/>
              <c:pt idx="0">
                <c:v>0.382</c:v>
              </c:pt>
              <c:pt idx="1">
                <c:v>0.386</c:v>
              </c:pt>
              <c:pt idx="2">
                <c:v>0.718</c:v>
              </c:pt>
              <c:pt idx="3">
                <c:v>0.724</c:v>
              </c:pt>
              <c:pt idx="4">
                <c:v>0.415</c:v>
              </c:pt>
            </c:numLit>
          </c:val>
          <c:smooth val="0"/>
        </c:ser>
        <c:ser>
          <c:idx val="1"/>
          <c:order val="1"/>
          <c:tx>
            <c:v>Worst channel CV</c:v>
          </c:tx>
          <c:spPr>
            <a:ln xmlns:a="http://schemas.openxmlformats.org/drawingml/2006/main" w="28575">
              <a:solidFill>
                <a:srgbClr val="F59E0B"/>
              </a:solidFill>
              <a:prstDash val="solid"/>
            </a:ln>
          </c:spPr>
          <c:marker>
            <c:symbol val="diamond"/>
            <c:size val="6"/>
          </c:marker>
          <c:dLbls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strLit>
              <c:ptCount val="5"/>
              <c:pt idx="0">
                <c:v>0%</c:v>
              </c:pt>
              <c:pt idx="1">
                <c:v>100%</c:v>
              </c:pt>
              <c:pt idx="2">
                <c:v>200%</c:v>
              </c:pt>
              <c:pt idx="3">
                <c:v>315%</c:v>
              </c:pt>
              <c:pt idx="4">
                <c:v>392%</c:v>
              </c:pt>
            </c:strLit>
          </c:cat>
          <c:val>
            <c:numLit>
              <c:formatCode>0.0</c:formatCode>
              <c:ptCount val="5"/>
              <c:pt idx="0">
                <c:v>0.75</c:v>
              </c:pt>
              <c:pt idx="1">
                <c:v>0.68</c:v>
              </c:pt>
              <c:pt idx="2">
                <c:v>0.68</c:v>
              </c:pt>
              <c:pt idx="3">
                <c:v>1.6</c:v>
              </c:pt>
              <c:pt idx="4">
                <c:v>0.7</c:v>
              </c:pt>
            </c:numLit>
          </c: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475569"/>
                </a:solidFill>
              </a:defRPr>
            </a:pPr>
          </a:p>
        </c:txPr>
        <c:crossAx val="48672768"/>
        <c:crosses val="autoZero"/>
        <c:lblAlgn val="ctr"/>
        <c:lblOffset val="100"/>
        <c:noMultiLvlLbl val="0"/>
      </c:catAx>
      <c:valAx>
        <c:axId val="48672768"/>
        <c:scaling>
          <c:orientation val="minMax"/>
          <c:max val="2"/>
        </c:scaling>
        <c:delete val="0"/>
        <c:axPos val="l"/>
        <c:majorGridlines>
          <c:spPr>
            <a:ln xmlns:a="http://schemas.openxmlformats.org/drawingml/2006/main" w="9525">
              <a:solidFill>
                <a:srgbClr val="E2E8F0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825" b="1">
                    <a:solidFill>
                      <a:srgbClr val="475569"/>
                    </a:solidFill>
                  </a:rPr>
                  <a:t>CV (%)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825" b="1">
                  <a:solidFill>
                    <a:srgbClr val="475569"/>
                  </a:solidFill>
                </a:defRPr>
              </a:pPr>
            </a:p>
          </c:txPr>
        </c:title>
        <c:numFmt formatCode="0.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475569"/>
                </a:solidFill>
              </a:defRPr>
            </a:pPr>
          </a:p>
        </c:txPr>
        <c:crossAx val="48650112"/>
        <c:crosses val="autoZero"/>
        <c:crossBetween val="between"/>
      </c:valAx>
      <c:spPr>
        <a:solidFill xmlns:a="http://schemas.openxmlformats.org/drawingml/2006/main">
          <a:srgbClr val="FFFFFF"/>
        </a:solidFill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825">
              <a:solidFill>
                <a:srgbClr val="475569"/>
              </a:solidFill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</c:spPr>
</c:chartSpace>
</file>

<file path=ppt/slides/charts/chart6.xml><?xml version="1.0" encoding="utf-8"?>
<c:chartSpace xmlns:c="http://schemas.openxmlformats.org/drawingml/2006/chart">
  <c:lang val="en-US"/>
  <c:roundedCorners val="0"/>
  <c:chart>
    <c:plotArea>
      <c:layout/>
      <c:lineChart>
        <c:grouping val="standard"/>
        <c:ser>
          <c:idx val="0"/>
          <c:order val="0"/>
          <c:tx>
            <c:v>CV across all dispenses</c:v>
          </c:tx>
          <c:spPr>
            <a:ln xmlns:a="http://schemas.openxmlformats.org/drawingml/2006/main" w="28575">
              <a:solidFill>
                <a:srgbClr val="0891B2"/>
              </a:solidFill>
              <a:prstDash val="solid"/>
            </a:ln>
          </c:spPr>
          <c:marker>
            <c:symbol val="circle"/>
            <c:size val="6"/>
          </c:marker>
          <c:dLbls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strLit>
              <c:ptCount val="5"/>
              <c:pt idx="0">
                <c:v>0%</c:v>
              </c:pt>
              <c:pt idx="1">
                <c:v>100%</c:v>
              </c:pt>
              <c:pt idx="2">
                <c:v>200%</c:v>
              </c:pt>
              <c:pt idx="3">
                <c:v>315%</c:v>
              </c:pt>
              <c:pt idx="4">
                <c:v>392%</c:v>
              </c:pt>
            </c:strLit>
          </c:cat>
          <c:val>
            <c:numLit>
              <c:formatCode>0.0</c:formatCode>
              <c:ptCount val="5"/>
              <c:pt idx="0">
                <c:v>0.815</c:v>
              </c:pt>
              <c:pt idx="1">
                <c:v>0.551</c:v>
              </c:pt>
              <c:pt idx="2">
                <c:v>0.469</c:v>
              </c:pt>
              <c:pt idx="3">
                <c:v>0.825</c:v>
              </c:pt>
              <c:pt idx="4">
                <c:v>0.718</c:v>
              </c:pt>
            </c:numLit>
          </c:val>
          <c:smooth val="0"/>
        </c:ser>
        <c:ser>
          <c:idx val="1"/>
          <c:order val="1"/>
          <c:tx>
            <c:v>Worst channel CV</c:v>
          </c:tx>
          <c:spPr>
            <a:ln xmlns:a="http://schemas.openxmlformats.org/drawingml/2006/main" w="28575">
              <a:solidFill>
                <a:srgbClr val="F59E0B"/>
              </a:solidFill>
              <a:prstDash val="solid"/>
            </a:ln>
          </c:spPr>
          <c:marker>
            <c:symbol val="diamond"/>
            <c:size val="6"/>
          </c:marker>
          <c:dLbls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strLit>
              <c:ptCount val="5"/>
              <c:pt idx="0">
                <c:v>0%</c:v>
              </c:pt>
              <c:pt idx="1">
                <c:v>100%</c:v>
              </c:pt>
              <c:pt idx="2">
                <c:v>200%</c:v>
              </c:pt>
              <c:pt idx="3">
                <c:v>315%</c:v>
              </c:pt>
              <c:pt idx="4">
                <c:v>392%</c:v>
              </c:pt>
            </c:strLit>
          </c:cat>
          <c:val>
            <c:numLit>
              <c:formatCode>0.0</c:formatCode>
              <c:ptCount val="5"/>
              <c:pt idx="0">
                <c:v>2.88</c:v>
              </c:pt>
              <c:pt idx="1">
                <c:v>0.99</c:v>
              </c:pt>
              <c:pt idx="2">
                <c:v>0.57</c:v>
              </c:pt>
              <c:pt idx="3">
                <c:v>1.76</c:v>
              </c:pt>
              <c:pt idx="4">
                <c:v>2.44</c:v>
              </c:pt>
            </c:numLit>
          </c: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475569"/>
                </a:solidFill>
              </a:defRPr>
            </a:pPr>
          </a:p>
        </c:txPr>
        <c:crossAx val="48672768"/>
        <c:crosses val="autoZero"/>
        <c:lblAlgn val="ctr"/>
        <c:lblOffset val="100"/>
        <c:noMultiLvlLbl val="0"/>
      </c:catAx>
      <c:valAx>
        <c:axId val="48672768"/>
        <c:scaling>
          <c:orientation val="minMax"/>
          <c:max val="3.2"/>
        </c:scaling>
        <c:delete val="0"/>
        <c:axPos val="l"/>
        <c:majorGridlines>
          <c:spPr>
            <a:ln xmlns:a="http://schemas.openxmlformats.org/drawingml/2006/main" w="9525">
              <a:solidFill>
                <a:srgbClr val="E2E8F0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825" b="1">
                    <a:solidFill>
                      <a:srgbClr val="475569"/>
                    </a:solidFill>
                  </a:rPr>
                  <a:t>CV (%)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825" b="1">
                  <a:solidFill>
                    <a:srgbClr val="475569"/>
                  </a:solidFill>
                </a:defRPr>
              </a:pPr>
            </a:p>
          </c:txPr>
        </c:title>
        <c:numFmt formatCode="0.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475569"/>
                </a:solidFill>
              </a:defRPr>
            </a:pPr>
          </a:p>
        </c:txPr>
        <c:crossAx val="48650112"/>
        <c:crosses val="autoZero"/>
        <c:crossBetween val="between"/>
      </c:valAx>
      <c:spPr>
        <a:solidFill xmlns:a="http://schemas.openxmlformats.org/drawingml/2006/main">
          <a:srgbClr val="FFFFFF"/>
        </a:solidFill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825">
              <a:solidFill>
                <a:srgbClr val="475569"/>
              </a:solidFill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</c:spPr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F49794B-014A-4E2A-B06E-6E59E7711E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B981"/>
          </a:solidFill>
          <a:ln xmlns:a="http://schemas.openxmlformats.org/drawingml/2006/main" w="0">
            <a:solidFill>
              <a:srgbClr val="10B981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B0B957E-0105-4D7F-82F3-ECA473C9A4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43815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172A"/>
          </a:solidFill>
          <a:ln xmlns:a="http://schemas.openxmlformats.org/drawingml/2006/main" w="0">
            <a:solidFill>
              <a:srgbClr val="0F172A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772A575-5E18-4BCE-879E-BD913C5987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66750"/>
            <a:ext cx="17716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1FAE5"/>
          </a:solidFill>
          <a:ln xmlns:a="http://schemas.openxmlformats.org/drawingml/2006/main" w="0">
            <a:solidFill>
              <a:srgbClr val="D1FAE5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047857"/>
                </a:solidFill>
              </a:defRPr>
            </a:pPr>
            <a:r>
              <a:rPr sz="975" b="1">
                <a:solidFill>
                  <a:srgbClr val="047857"/>
                </a:solidFill>
              </a:rPr>
              <a:t>AGING TEST REPORT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4816876-EBAB-436F-9242-5C6122F50E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390650"/>
            <a:ext cx="3143250" cy="1276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95000"/>
              </a:lnSpc>
              <a:buNone/>
              <a:defRPr sz="3150" b="1">
                <a:solidFill>
                  <a:srgbClr val="FFFFFF"/>
                </a:solidFill>
              </a:defRPr>
            </a:pPr>
            <a:r>
              <a:rPr sz="3150" b="1">
                <a:solidFill>
                  <a:srgbClr val="FFFFFF"/>
                </a:solidFill>
              </a:rPr>
              <a:t>96CH LV 移液器</a:t>
            </a:r>
          </a:p>
          <a:p xmlns:a="http://schemas.openxmlformats.org/drawingml/2006/main">
            <a:pPr>
              <a:lnSpc>
                <a:spcPct val="95000"/>
              </a:lnSpc>
              <a:buNone/>
              <a:defRPr sz="3150" b="1">
                <a:solidFill>
                  <a:srgbClr val="FFFFFF"/>
                </a:solidFill>
              </a:defRPr>
            </a:pPr>
            <a:r>
              <a:rPr sz="3150" b="1">
                <a:solidFill>
                  <a:srgbClr val="FFFFFF"/>
                </a:solidFill>
              </a:rPr>
              <a:t>老化测试报告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EA5BC62-AF71-45EF-9C32-5AC1036EAD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028950"/>
            <a:ext cx="3143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D8F3EA"/>
                </a:solidFill>
              </a:defRPr>
            </a:pPr>
            <a:r>
              <a:rPr sz="1350">
                <a:solidFill>
                  <a:srgbClr val="D8F3EA"/>
                </a:solidFill>
              </a:rPr>
              <a:t>Mold Oring Rework + Peek collar + Top Peek collar + 10448-Hard Stop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5BAD703-E01F-40DD-8975-2B5035DD00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753100"/>
            <a:ext cx="285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A7F3D0"/>
                </a:solidFill>
              </a:defRPr>
            </a:pPr>
            <a:r>
              <a:rPr sz="1200">
                <a:solidFill>
                  <a:srgbClr val="A7F3D0"/>
                </a:solidFill>
              </a:rPr>
              <a:t>报告日期：2026-06-15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0BD42B0-9275-40C7-8426-AEB10B5587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819150"/>
            <a:ext cx="6096000" cy="1676400"/>
          </a:xfrm>
          <a:prstGeom xmlns:a="http://schemas.openxmlformats.org/drawingml/2006/main" prst="roundRect">
            <a:avLst>
              <a:gd name="adj" fmla="val 795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0B981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82C2C83-530B-43D2-9BFC-5A6F292EE4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1085850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64748B"/>
                </a:solidFill>
              </a:defRPr>
            </a:pPr>
            <a:r>
              <a:rPr sz="1200" b="1">
                <a:solidFill>
                  <a:srgbClr val="64748B"/>
                </a:solidFill>
              </a:rPr>
              <a:t>综合判定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9C1423C-7CA0-4CF0-8AF1-A5C250BAAB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1371600"/>
            <a:ext cx="2286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4650" b="1">
                <a:solidFill>
                  <a:srgbClr val="047857"/>
                </a:solidFill>
              </a:defRPr>
            </a:pPr>
            <a:r>
              <a:rPr sz="4650" b="1">
                <a:solidFill>
                  <a:srgbClr val="047857"/>
                </a:solidFill>
              </a:rPr>
              <a:t>PASS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E0E19F2-4D8D-409E-8052-4597753896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1257300"/>
            <a:ext cx="31432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0F172A"/>
                </a:solidFill>
              </a:defRPr>
            </a:pPr>
            <a:r>
              <a:rPr sz="1500">
                <a:solidFill>
                  <a:srgbClr val="0F172A"/>
                </a:solidFill>
              </a:rPr>
              <a:t>4 台均完成详细记录至 392% / 1,020,000 cycles，且可用光学 CV 全部低于规格限值。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8E052F8-60AC-4E01-8BB7-780B6B0223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3105150"/>
            <a:ext cx="2857500" cy="857250"/>
          </a:xfrm>
          <a:prstGeom xmlns:a="http://schemas.openxmlformats.org/drawingml/2006/main" prst="roundRect">
            <a:avLst>
              <a:gd name="adj" fmla="val 155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A0A8EA9-EBE4-4960-8391-874ADF3CCE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3257550"/>
            <a:ext cx="1047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0F172A"/>
                </a:solidFill>
              </a:defRPr>
            </a:pPr>
            <a:r>
              <a:rPr sz="1650" b="1">
                <a:solidFill>
                  <a:srgbClr val="0F172A"/>
                </a:solidFill>
              </a:rPr>
              <a:t>0401A03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D46A261-B2F5-46A3-BF0A-6572959699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3276600"/>
            <a:ext cx="1066800" cy="2286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1FAE5"/>
          </a:solidFill>
          <a:ln xmlns:a="http://schemas.openxmlformats.org/drawingml/2006/main" w="0">
            <a:solidFill>
              <a:srgbClr val="D1FAE5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047857"/>
                </a:solidFill>
              </a:defRPr>
            </a:pPr>
            <a:r>
              <a:rPr sz="975" b="1">
                <a:solidFill>
                  <a:srgbClr val="047857"/>
                </a:solidFill>
              </a:rPr>
              <a:t>Finish / 392%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C49B99B-651C-43F3-985D-265DEF85ED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3600450"/>
            <a:ext cx="238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64748B"/>
                </a:solidFill>
              </a:defRPr>
            </a:pPr>
            <a:r>
              <a:rPr sz="900">
                <a:solidFill>
                  <a:srgbClr val="64748B"/>
                </a:solidFill>
              </a:rPr>
              <a:t>P2HHV3220250401A03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AFBE12C-0F88-4943-AE2C-E1E65085D3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105150"/>
            <a:ext cx="2857500" cy="857250"/>
          </a:xfrm>
          <a:prstGeom xmlns:a="http://schemas.openxmlformats.org/drawingml/2006/main" prst="roundRect">
            <a:avLst>
              <a:gd name="adj" fmla="val 155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57AA527-37A9-4E29-B620-A601F61834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257550"/>
            <a:ext cx="1047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0F172A"/>
                </a:solidFill>
              </a:defRPr>
            </a:pPr>
            <a:r>
              <a:rPr sz="1650" b="1">
                <a:solidFill>
                  <a:srgbClr val="0F172A"/>
                </a:solidFill>
              </a:rPr>
              <a:t>0408A02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F5F4D2C-1340-441F-AA65-C8464812B3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3276600"/>
            <a:ext cx="1066800" cy="2286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1FAE5"/>
          </a:solidFill>
          <a:ln xmlns:a="http://schemas.openxmlformats.org/drawingml/2006/main" w="0">
            <a:solidFill>
              <a:srgbClr val="D1FAE5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047857"/>
                </a:solidFill>
              </a:defRPr>
            </a:pPr>
            <a:r>
              <a:rPr sz="975" b="1">
                <a:solidFill>
                  <a:srgbClr val="047857"/>
                </a:solidFill>
              </a:rPr>
              <a:t>Finish / 392%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F98B9E8-1EE4-480C-8E88-10FF00FA37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600450"/>
            <a:ext cx="238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64748B"/>
                </a:solidFill>
              </a:defRPr>
            </a:pPr>
            <a:r>
              <a:rPr sz="900">
                <a:solidFill>
                  <a:srgbClr val="64748B"/>
                </a:solidFill>
              </a:rPr>
              <a:t>P2HHV3220250408A02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4F516D3-9505-4899-9CDB-ECCE4C82CE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4229100"/>
            <a:ext cx="2857500" cy="857250"/>
          </a:xfrm>
          <a:prstGeom xmlns:a="http://schemas.openxmlformats.org/drawingml/2006/main" prst="roundRect">
            <a:avLst>
              <a:gd name="adj" fmla="val 155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7EBAE32-817E-4A03-81B9-B061F79BE6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4381500"/>
            <a:ext cx="1047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0F172A"/>
                </a:solidFill>
              </a:defRPr>
            </a:pPr>
            <a:r>
              <a:rPr sz="1650" b="1">
                <a:solidFill>
                  <a:srgbClr val="0F172A"/>
                </a:solidFill>
              </a:rPr>
              <a:t>0410A07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009C9B8-48E2-490E-833C-F845E6D782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4400550"/>
            <a:ext cx="1066800" cy="2286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1FAE5"/>
          </a:solidFill>
          <a:ln xmlns:a="http://schemas.openxmlformats.org/drawingml/2006/main" w="0">
            <a:solidFill>
              <a:srgbClr val="D1FAE5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047857"/>
                </a:solidFill>
              </a:defRPr>
            </a:pPr>
            <a:r>
              <a:rPr sz="975" b="1">
                <a:solidFill>
                  <a:srgbClr val="047857"/>
                </a:solidFill>
              </a:rPr>
              <a:t>Finish / 392%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C400FD6-0689-46CA-9816-EAD333AFFB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4724400"/>
            <a:ext cx="238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64748B"/>
                </a:solidFill>
              </a:defRPr>
            </a:pPr>
            <a:r>
              <a:rPr sz="900">
                <a:solidFill>
                  <a:srgbClr val="64748B"/>
                </a:solidFill>
              </a:rPr>
              <a:t>P2HHV3220250410A07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BC7C491-B267-4FB5-82B1-EA5D32FC4B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229100"/>
            <a:ext cx="2857500" cy="857250"/>
          </a:xfrm>
          <a:prstGeom xmlns:a="http://schemas.openxmlformats.org/drawingml/2006/main" prst="roundRect">
            <a:avLst>
              <a:gd name="adj" fmla="val 155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B8FFAF6-14DF-4E74-92D8-96A8DBBC25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4381500"/>
            <a:ext cx="1047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0F172A"/>
                </a:solidFill>
              </a:defRPr>
            </a:pPr>
            <a:r>
              <a:rPr sz="1650" b="1">
                <a:solidFill>
                  <a:srgbClr val="0F172A"/>
                </a:solidFill>
              </a:rPr>
              <a:t>0411A03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84AE70D-98BB-4FA2-916D-D1479150EE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4400550"/>
            <a:ext cx="1066800" cy="2286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1FAE5"/>
          </a:solidFill>
          <a:ln xmlns:a="http://schemas.openxmlformats.org/drawingml/2006/main" w="0">
            <a:solidFill>
              <a:srgbClr val="D1FAE5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047857"/>
                </a:solidFill>
              </a:defRPr>
            </a:pPr>
            <a:r>
              <a:rPr sz="975" b="1">
                <a:solidFill>
                  <a:srgbClr val="047857"/>
                </a:solidFill>
              </a:rPr>
              <a:t>Finish / 392%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76FB10E-592D-4B76-8F3F-2AF85C66B2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4724400"/>
            <a:ext cx="238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64748B"/>
                </a:solidFill>
              </a:defRPr>
            </a:pPr>
            <a:r>
              <a:rPr sz="900">
                <a:solidFill>
                  <a:srgbClr val="64748B"/>
                </a:solidFill>
              </a:rPr>
              <a:t>P2HHV3220250411A03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B61BF03-7C57-4F67-9A5D-36FC2D07E9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553200"/>
            <a:ext cx="9906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>
                <a:solidFill>
                  <a:srgbClr val="64748B"/>
                </a:solidFill>
              </a:defRPr>
            </a:pPr>
            <a:r>
              <a:rPr sz="750">
                <a:solidFill>
                  <a:srgbClr val="64748B"/>
                </a:solidFill>
              </a:rPr>
              <a:t>Source: 96 LV PVT LIFETIME REPORT + optical CV workbooks | detailed table updated to Finish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0D04872-EA9A-43EA-9A33-A971E1E86B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700" y="6534150"/>
            <a:ext cx="685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4748B"/>
                </a:solidFill>
              </a:defRPr>
            </a:pPr>
            <a:r>
              <a:rPr sz="900" b="1">
                <a:solidFill>
                  <a:srgbClr val="64748B"/>
                </a:solidFill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51288292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AC1993F-CD79-432A-8964-08114935C6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B981"/>
          </a:solidFill>
          <a:ln xmlns:a="http://schemas.openxmlformats.org/drawingml/2006/main" w="0">
            <a:solidFill>
              <a:srgbClr val="10B981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4DB12E7-6653-45D1-A912-10AF0C5029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19100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047857"/>
                </a:solidFill>
              </a:defRPr>
            </a:pPr>
            <a:r>
              <a:rPr sz="900" b="1">
                <a:solidFill>
                  <a:srgbClr val="047857"/>
                </a:solidFill>
              </a:rPr>
              <a:t>EXECUTIVE SUMMARY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34A432C-1BBF-483C-9B26-57D48E8B08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85800"/>
            <a:ext cx="8763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0F172A"/>
                </a:solidFill>
              </a:defRPr>
            </a:pPr>
            <a:r>
              <a:rPr sz="2550" b="1">
                <a:solidFill>
                  <a:srgbClr val="0F172A"/>
                </a:solidFill>
              </a:rPr>
              <a:t>结论总览：4 台均完成老化并通过可用 CV 判定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B942573-E9BA-4661-8DAB-64D0A18BBF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28750"/>
            <a:ext cx="3238500" cy="1162050"/>
          </a:xfrm>
          <a:prstGeom xmlns:a="http://schemas.openxmlformats.org/drawingml/2006/main" prst="roundRect">
            <a:avLst>
              <a:gd name="adj" fmla="val 1147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47857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823694F-BC0C-435D-A73F-9E839CD522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581150"/>
            <a:ext cx="2895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64748B"/>
                </a:solidFill>
              </a:defRPr>
            </a:pPr>
            <a:r>
              <a:rPr sz="975" b="1">
                <a:solidFill>
                  <a:srgbClr val="64748B"/>
                </a:solidFill>
              </a:rPr>
              <a:t>完成状态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06E6E03-139D-40AE-8F46-59CFAF1374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828800"/>
            <a:ext cx="28956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47857"/>
                </a:solidFill>
              </a:defRPr>
            </a:pPr>
            <a:r>
              <a:rPr sz="2400" b="1">
                <a:solidFill>
                  <a:srgbClr val="047857"/>
                </a:solidFill>
              </a:rPr>
              <a:t>4 / 4 Finish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CE01BB4-9E44-40FC-8CAB-708395F7A8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1428750"/>
            <a:ext cx="3238500" cy="1162050"/>
          </a:xfrm>
          <a:prstGeom xmlns:a="http://schemas.openxmlformats.org/drawingml/2006/main" prst="roundRect">
            <a:avLst>
              <a:gd name="adj" fmla="val 1147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00059AE-C25C-4030-A572-3C98BBA0B0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1581150"/>
            <a:ext cx="2895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64748B"/>
                </a:solidFill>
              </a:defRPr>
            </a:pPr>
            <a:r>
              <a:rPr sz="975" b="1">
                <a:solidFill>
                  <a:srgbClr val="64748B"/>
                </a:solidFill>
              </a:rPr>
              <a:t>最高进度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549751E-762B-4AD1-B820-D8127DBBCD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1828800"/>
            <a:ext cx="28956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2563EB"/>
                </a:solidFill>
              </a:defRPr>
            </a:pPr>
            <a:r>
              <a:rPr sz="2400" b="1">
                <a:solidFill>
                  <a:srgbClr val="2563EB"/>
                </a:solidFill>
              </a:rPr>
              <a:t>392% / 1.02M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CCB9C7C-BA14-405E-AB34-8121541F1A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1428750"/>
            <a:ext cx="3238500" cy="1162050"/>
          </a:xfrm>
          <a:prstGeom xmlns:a="http://schemas.openxmlformats.org/drawingml/2006/main" prst="roundRect">
            <a:avLst>
              <a:gd name="adj" fmla="val 1147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7C3AE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A5713C2-200E-4BD9-8A4B-DBC6BD555B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1581150"/>
            <a:ext cx="2895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64748B"/>
                </a:solidFill>
              </a:defRPr>
            </a:pPr>
            <a:r>
              <a:rPr sz="975" b="1">
                <a:solidFill>
                  <a:srgbClr val="64748B"/>
                </a:solidFill>
              </a:rPr>
              <a:t>最大 CV / worst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4DF4E70-6941-42A0-AF2C-61695304CA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1828800"/>
            <a:ext cx="28956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7C3AED"/>
                </a:solidFill>
              </a:defRPr>
            </a:pPr>
            <a:r>
              <a:rPr sz="2400" b="1">
                <a:solidFill>
                  <a:srgbClr val="7C3AED"/>
                </a:solidFill>
              </a:rPr>
              <a:t>0.825 / 2.88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1321F7F-50CC-4DFD-9EBD-9434117ECA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67050"/>
            <a:ext cx="6819900" cy="2305050"/>
          </a:xfrm>
          <a:prstGeom xmlns:a="http://schemas.openxmlformats.org/drawingml/2006/main" prst="roundRect">
            <a:avLst>
              <a:gd name="adj" fmla="val 57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7974F68-6A4B-47DA-BD84-633ADE80FD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314700"/>
            <a:ext cx="152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0F172A"/>
                </a:solidFill>
              </a:defRPr>
            </a:pPr>
            <a:r>
              <a:rPr sz="1650" b="1">
                <a:solidFill>
                  <a:srgbClr val="0F172A"/>
                </a:solidFill>
              </a:rPr>
              <a:t>关键判断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B94E8F0-E91D-4190-B071-AF3F4B3AC8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8100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B981"/>
          </a:solidFill>
          <a:ln xmlns:a="http://schemas.openxmlformats.org/drawingml/2006/main" w="0">
            <a:solidFill>
              <a:srgbClr val="10B981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8DEF517-CC40-4332-A3D4-EDB507A399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752850"/>
            <a:ext cx="57340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0F172A"/>
                </a:solidFill>
              </a:defRPr>
            </a:pPr>
            <a:r>
              <a:rPr sz="1275">
                <a:solidFill>
                  <a:srgbClr val="0F172A"/>
                </a:solidFill>
              </a:rPr>
              <a:t>详细表 `RD Lifetime test-96ch lv` 已将 4 台目标样机状态更新为 Finish。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5E5555B-C239-40E6-BD36-D1B9BA25A0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2672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B981"/>
          </a:solidFill>
          <a:ln xmlns:a="http://schemas.openxmlformats.org/drawingml/2006/main" w="0">
            <a:solidFill>
              <a:srgbClr val="10B981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752C809-C9FC-4F8D-A5C8-5139684915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210050"/>
            <a:ext cx="57340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0F172A"/>
                </a:solidFill>
              </a:defRPr>
            </a:pPr>
            <a:r>
              <a:rPr sz="1275">
                <a:solidFill>
                  <a:srgbClr val="0F172A"/>
                </a:solidFill>
              </a:rPr>
              <a:t>4 台均达到 392% / 1,020,000 cycles；未记录 total fail、failed channels 或 fail analysis。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9A3543F-9EE5-4839-9174-3D5DD89C85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7244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B981"/>
          </a:solidFill>
          <a:ln xmlns:a="http://schemas.openxmlformats.org/drawingml/2006/main" w="0">
            <a:solidFill>
              <a:srgbClr val="10B981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5693944-724E-4206-BDCD-88A157528A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667250"/>
            <a:ext cx="57340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0F172A"/>
                </a:solidFill>
              </a:defRPr>
            </a:pPr>
            <a:r>
              <a:rPr sz="1275">
                <a:solidFill>
                  <a:srgbClr val="0F172A"/>
                </a:solidFill>
              </a:rPr>
              <a:t>所有可用 1ul CV 与 worst channel CV 均低于 QC / customer 规格；P2HHV3220250411A03 初始 D% 备注未形成后续 CV 失效趋势。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E887078-03AD-4395-8A63-1D2E65A488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3067050"/>
            <a:ext cx="3752850" cy="2305050"/>
          </a:xfrm>
          <a:prstGeom xmlns:a="http://schemas.openxmlformats.org/drawingml/2006/main" prst="roundRect">
            <a:avLst>
              <a:gd name="adj" fmla="val 5785"/>
            </a:avLst>
          </a:prstGeom>
          <a:solidFill xmlns:a="http://schemas.openxmlformats.org/drawingml/2006/main">
            <a:srgbClr val="FFFBEB"/>
          </a:solidFill>
          <a:ln xmlns:a="http://schemas.openxmlformats.org/drawingml/2006/main" w="9525">
            <a:solidFill>
              <a:srgbClr val="F59E0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88E1482-F4A2-4D81-AA40-19E6C25862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3352800"/>
            <a:ext cx="1009650" cy="2476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0">
            <a:solidFill>
              <a:srgbClr val="FEF3C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92400E"/>
                </a:solidFill>
              </a:defRPr>
            </a:pPr>
            <a:r>
              <a:rPr sz="975" b="1">
                <a:solidFill>
                  <a:srgbClr val="92400E"/>
                </a:solidFill>
              </a:rPr>
              <a:t>DATA NOTE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8E35955-46F7-4746-8AE4-3B987FA770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3790950"/>
            <a:ext cx="2857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92400E"/>
                </a:solidFill>
              </a:defRPr>
            </a:pPr>
            <a:r>
              <a:rPr sz="1350" b="1">
                <a:solidFill>
                  <a:srgbClr val="92400E"/>
                </a:solidFill>
              </a:rPr>
              <a:t>正式归档前需要处理两个数据口径问题：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50A8559-6116-4A66-8F7A-77F1AC4A90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4400550"/>
            <a:ext cx="3048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0F172A"/>
                </a:solidFill>
              </a:defRPr>
            </a:pPr>
            <a:r>
              <a:rPr sz="1200">
                <a:solidFill>
                  <a:srgbClr val="0F172A"/>
                </a:solidFill>
              </a:rPr>
              <a:t>1. 老化汇总表仍显示 238%，需同步到 Finish / 392%。</a:t>
            </a:r>
          </a:p>
          <a:p xmlns:a="http://schemas.openxmlformats.org/drawingml/2006/main">
            <a:pPr>
              <a:defRPr sz="1200">
                <a:solidFill>
                  <a:srgbClr val="0F172A"/>
                </a:solidFill>
              </a:defRPr>
            </a:pPr>
            <a:r>
              <a:rPr sz="1200">
                <a:solidFill>
                  <a:srgbClr val="0F172A"/>
                </a:solidFill>
              </a:rPr>
              <a:t>2. 392% 光学记录 plate4、plate5 为 #DIV/0!，需补测或书面说明仅按前三板统计。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D591A16-1932-4F4F-BFC8-103E8EA014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553200"/>
            <a:ext cx="9906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>
                <a:solidFill>
                  <a:srgbClr val="64748B"/>
                </a:solidFill>
              </a:defRPr>
            </a:pPr>
            <a:r>
              <a:rPr sz="750">
                <a:solidFill>
                  <a:srgbClr val="64748B"/>
                </a:solidFill>
              </a:rPr>
              <a:t>Source: 96 LV PVT LIFETIME REPORT + optical CV workbooks | summary + detailed rows + optical Summary1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7CE7FCA-15A5-4EAC-AD62-7573F5317D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700" y="6534150"/>
            <a:ext cx="685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4748B"/>
                </a:solidFill>
              </a:defRPr>
            </a:pPr>
            <a:r>
              <a:rPr sz="900" b="1">
                <a:solidFill>
                  <a:srgbClr val="64748B"/>
                </a:solidFill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213968771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7E02B80-5898-4290-824D-5B22EB1699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B981"/>
          </a:solidFill>
          <a:ln xmlns:a="http://schemas.openxmlformats.org/drawingml/2006/main" w="0">
            <a:solidFill>
              <a:srgbClr val="10B981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B220131-9FC8-4C98-9FF8-607E0526E4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19100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047857"/>
                </a:solidFill>
              </a:defRPr>
            </a:pPr>
            <a:r>
              <a:rPr sz="900" b="1">
                <a:solidFill>
                  <a:srgbClr val="047857"/>
                </a:solidFill>
              </a:rPr>
              <a:t>TEST STATUS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C5A0594-C404-440C-A3F5-BEC174033C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85800"/>
            <a:ext cx="8763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0F172A"/>
                </a:solidFill>
              </a:defRPr>
            </a:pPr>
            <a:r>
              <a:rPr sz="2550" b="1">
                <a:solidFill>
                  <a:srgbClr val="0F172A"/>
                </a:solidFill>
              </a:rPr>
              <a:t>状态复核：详细表已 Finish，汇总表仍未同步</a:t>
            </a:r>
          </a:p>
        </p:txBody>
      </p:sp>
      <p:graphicFrame>
        <p:nvGraphicFramePr>
          <p:cNvPr id="16" name=""/>
          <p:cNvGraphicFramePr/>
          <p:nvPr/>
        </p:nvGraphicFramePr>
        <p:xfrm>
          <a:off xmlns:a="http://schemas.openxmlformats.org/drawingml/2006/main" x="647700" y="1390650"/>
          <a:ext xmlns:a="http://schemas.openxmlformats.org/drawingml/2006/main" cx="10896600" cy="2381250"/>
        </p:xfrm>
        <a:graphic xmlns:a="http://schemas.openxmlformats.org/drawingml/2006/main">
          <a:graphicData uri="http://schemas.openxmlformats.org/drawingml/2006/table">
            <a:tbl>
              <a:tblPr firstRow="1" bandRow="1"/>
              <a:tblGrid>
                <a:gridCol w="2724150"/>
                <a:gridCol w="1657350"/>
                <a:gridCol w="1657350"/>
                <a:gridCol w="1314450"/>
                <a:gridCol w="2190750"/>
              </a:tblGrid>
              <a:tr h="476250"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</a:rPr>
                        <a:t>SN</a:t>
                      </a:r>
                    </a:p>
                  </a:txBody>
                  <a:tcPr marL="91440" marR="91440" marT="45720" marB="45720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</a:rPr>
                        <a:t>老化汇总表</a:t>
                      </a:r>
                    </a:p>
                  </a:txBody>
                  <a:tcPr marL="91440" marR="91440" marT="45720" marB="45720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</a:rPr>
                        <a:t>详细 lifetime 表</a:t>
                      </a:r>
                    </a:p>
                  </a:txBody>
                  <a:tcPr marL="91440" marR="91440" marT="45720" marB="45720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</a:rPr>
                        <a:t>最高 cycles</a:t>
                      </a:r>
                    </a:p>
                  </a:txBody>
                  <a:tcPr marL="91440" marR="91440" marT="45720" marB="45720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</a:rPr>
                        <a:t>结论</a:t>
                      </a:r>
                    </a:p>
                  </a:txBody>
                  <a:tcPr marL="91440" marR="91440" marT="45720" marB="45720">
                    <a:solidFill>
                      <a:srgbClr val="0F172A"/>
                    </a:solidFill>
                  </a:tcPr>
                </a:tc>
              </a:tr>
              <a:tr h="476250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0F172A"/>
                          </a:solidFill>
                        </a:rPr>
                        <a:t>P2HHV3220250401A03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0F172A"/>
                          </a:solidFill>
                        </a:rPr>
                        <a:t>238% / 620k</a:t>
                      </a:r>
                    </a:p>
                  </a:txBody>
                  <a:tcPr marL="91440" marR="91440" marT="45720" marB="45720">
                    <a:solidFill>
                      <a:srgbClr val="FEF3C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0F172A"/>
                          </a:solidFill>
                        </a:rPr>
                        <a:t>Finish / 392%</a:t>
                      </a:r>
                    </a:p>
                  </a:txBody>
                  <a:tcPr marL="91440" marR="91440" marT="45720" marB="45720">
                    <a:solidFill>
                      <a:srgbClr val="D1FAE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0F172A"/>
                          </a:solidFill>
                        </a:rPr>
                        <a:t>1,020,000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0F172A"/>
                          </a:solidFill>
                        </a:rPr>
                        <a:t>通过；需同步汇总表</a:t>
                      </a:r>
                    </a:p>
                  </a:txBody>
                  <a:tcPr marL="91440" marR="91440" marT="45720" marB="45720">
                    <a:solidFill>
                      <a:srgbClr val="ECFDF5"/>
                    </a:solidFill>
                  </a:tcPr>
                </a:tc>
              </a:tr>
              <a:tr h="476250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0F172A"/>
                          </a:solidFill>
                        </a:rPr>
                        <a:t>P2HHV3220250408A02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0F172A"/>
                          </a:solidFill>
                        </a:rPr>
                        <a:t>238% / 620k</a:t>
                      </a:r>
                    </a:p>
                  </a:txBody>
                  <a:tcPr marL="91440" marR="91440" marT="45720" marB="45720">
                    <a:solidFill>
                      <a:srgbClr val="FEF3C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0F172A"/>
                          </a:solidFill>
                        </a:rPr>
                        <a:t>Finish / 392%</a:t>
                      </a:r>
                    </a:p>
                  </a:txBody>
                  <a:tcPr marL="91440" marR="91440" marT="45720" marB="45720">
                    <a:solidFill>
                      <a:srgbClr val="D1FAE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0F172A"/>
                          </a:solidFill>
                        </a:rPr>
                        <a:t>1,020,000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0F172A"/>
                          </a:solidFill>
                        </a:rPr>
                        <a:t>通过；需同步汇总表</a:t>
                      </a:r>
                    </a:p>
                  </a:txBody>
                  <a:tcPr marL="91440" marR="91440" marT="45720" marB="45720">
                    <a:solidFill>
                      <a:srgbClr val="ECFDF5"/>
                    </a:solidFill>
                  </a:tcPr>
                </a:tc>
              </a:tr>
              <a:tr h="476250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0F172A"/>
                          </a:solidFill>
                        </a:rPr>
                        <a:t>P2HHV3220250410A07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0F172A"/>
                          </a:solidFill>
                        </a:rPr>
                        <a:t>238% / 620k</a:t>
                      </a:r>
                    </a:p>
                  </a:txBody>
                  <a:tcPr marL="91440" marR="91440" marT="45720" marB="45720">
                    <a:solidFill>
                      <a:srgbClr val="FEF3C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0F172A"/>
                          </a:solidFill>
                        </a:rPr>
                        <a:t>Finish / 392%</a:t>
                      </a:r>
                    </a:p>
                  </a:txBody>
                  <a:tcPr marL="91440" marR="91440" marT="45720" marB="45720">
                    <a:solidFill>
                      <a:srgbClr val="D1FAE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0F172A"/>
                          </a:solidFill>
                        </a:rPr>
                        <a:t>1,020,000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0F172A"/>
                          </a:solidFill>
                        </a:rPr>
                        <a:t>通过；需同步汇总表</a:t>
                      </a:r>
                    </a:p>
                  </a:txBody>
                  <a:tcPr marL="91440" marR="91440" marT="45720" marB="45720">
                    <a:solidFill>
                      <a:srgbClr val="ECFDF5"/>
                    </a:solidFill>
                  </a:tcPr>
                </a:tc>
              </a:tr>
              <a:tr h="476250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0F172A"/>
                          </a:solidFill>
                        </a:rPr>
                        <a:t>P2HHV3220250411A03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0F172A"/>
                          </a:solidFill>
                        </a:rPr>
                        <a:t>238% / 620k</a:t>
                      </a:r>
                    </a:p>
                  </a:txBody>
                  <a:tcPr marL="91440" marR="91440" marT="45720" marB="45720">
                    <a:solidFill>
                      <a:srgbClr val="FEF3C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0F172A"/>
                          </a:solidFill>
                        </a:rPr>
                        <a:t>Finish / 392%</a:t>
                      </a:r>
                    </a:p>
                  </a:txBody>
                  <a:tcPr marL="91440" marR="91440" marT="45720" marB="45720">
                    <a:solidFill>
                      <a:srgbClr val="D1FAE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0F172A"/>
                          </a:solidFill>
                        </a:rPr>
                        <a:t>1,020,000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0F172A"/>
                          </a:solidFill>
                        </a:rPr>
                        <a:t>通过；需同步汇总表</a:t>
                      </a:r>
                    </a:p>
                  </a:txBody>
                  <a:tcPr marL="91440" marR="91440" marT="45720" marB="45720">
                    <a:solidFill>
                      <a:srgbClr val="ECFDF5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B023D27-66AE-404C-ADEA-F20317376B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171950"/>
            <a:ext cx="5143500" cy="1104900"/>
          </a:xfrm>
          <a:prstGeom xmlns:a="http://schemas.openxmlformats.org/drawingml/2006/main" prst="roundRect">
            <a:avLst>
              <a:gd name="adj" fmla="val 1206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79480E7-D09B-4B44-B7C8-33D9872AE5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005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0F172A"/>
                </a:solidFill>
              </a:defRPr>
            </a:pPr>
            <a:r>
              <a:rPr sz="1575" b="1">
                <a:solidFill>
                  <a:srgbClr val="0F172A"/>
                </a:solidFill>
              </a:rPr>
              <a:t>更新后的关键变化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09F5E68-ED4A-4422-926D-4D8E5E2AD4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781550"/>
            <a:ext cx="43053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475569"/>
                </a:solidFill>
              </a:defRPr>
            </a:pPr>
            <a:r>
              <a:rPr sz="1275">
                <a:solidFill>
                  <a:srgbClr val="475569"/>
                </a:solidFill>
              </a:rPr>
              <a:t>上一轮分析中详细表状态还是 RUNNING；本次源数据已更新为 Finish。最终测试状态以详细 lifetime 表为准。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5929597-F9DD-4DD8-AD34-CEEE33F7F7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171950"/>
            <a:ext cx="5353050" cy="1104900"/>
          </a:xfrm>
          <a:prstGeom xmlns:a="http://schemas.openxmlformats.org/drawingml/2006/main" prst="roundRect">
            <a:avLst>
              <a:gd name="adj" fmla="val 1206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B1998B9-1B71-4988-9693-8455ACB2EC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440055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0F172A"/>
                </a:solidFill>
              </a:defRPr>
            </a:pPr>
            <a:r>
              <a:rPr sz="1575" b="1">
                <a:solidFill>
                  <a:srgbClr val="0F172A"/>
                </a:solidFill>
              </a:rPr>
              <a:t>测试对象一致性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247B99F-4CEC-46A5-99DA-628DDE422C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4781550"/>
            <a:ext cx="4572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475569"/>
                </a:solidFill>
              </a:defRPr>
            </a:pPr>
            <a:r>
              <a:rPr sz="1275">
                <a:solidFill>
                  <a:srgbClr val="475569"/>
                </a:solidFill>
              </a:rPr>
              <a:t>4 台均为 Mold Oring Rework + Peek collar + Top Peek collar + 10448-Hard Stop，测试类型为 200uL cycles。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377BD76-BA08-465A-89A0-DFEA22EFEA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553200"/>
            <a:ext cx="9906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>
                <a:solidFill>
                  <a:srgbClr val="64748B"/>
                </a:solidFill>
              </a:defRPr>
            </a:pPr>
            <a:r>
              <a:rPr sz="750">
                <a:solidFill>
                  <a:srgbClr val="64748B"/>
                </a:solidFill>
              </a:rPr>
              <a:t>Source: 96 LV PVT LIFETIME REPORT + optical CV workbooks | 老化汇总表 A1:K20; RD Lifetime rows 73-152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0A19BD2-E994-4FE6-A777-1140E60445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700" y="6534150"/>
            <a:ext cx="685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4748B"/>
                </a:solidFill>
              </a:defRPr>
            </a:pPr>
            <a:r>
              <a:rPr sz="900" b="1">
                <a:solidFill>
                  <a:srgbClr val="64748B"/>
                </a:solidFill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9079419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ED1EB5F-9A8B-403A-A31F-71D4FD7071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B981"/>
          </a:solidFill>
          <a:ln xmlns:a="http://schemas.openxmlformats.org/drawingml/2006/main" w="0">
            <a:solidFill>
              <a:srgbClr val="10B981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27FF258-D3AD-4582-80C5-BEFAAF3810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19100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047857"/>
                </a:solidFill>
              </a:defRPr>
            </a:pPr>
            <a:r>
              <a:rPr sz="900" b="1">
                <a:solidFill>
                  <a:srgbClr val="047857"/>
                </a:solidFill>
              </a:rPr>
              <a:t>OPTICAL CV TREND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9EA061D-6AB9-443E-B6E6-2356C2FF2C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85800"/>
            <a:ext cx="8763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0F172A"/>
                </a:solidFill>
              </a:defRPr>
            </a:pPr>
            <a:r>
              <a:rPr sz="2550" b="1">
                <a:solidFill>
                  <a:srgbClr val="0F172A"/>
                </a:solidFill>
              </a:rPr>
              <a:t>光学 CV 趋势：最高 0.825%，显著低于 4% QC 规格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4286A64-7585-43F3-8090-0851EF6F60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314450"/>
            <a:ext cx="7810500" cy="3962400"/>
          </a:xfrm>
          <a:prstGeom xmlns:a="http://schemas.openxmlformats.org/drawingml/2006/main" prst="roundRect">
            <a:avLst>
              <a:gd name="adj" fmla="val 336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graphicFrame>
        <p:nvGraphicFramePr>
          <p:cNvPr id="21" name="Chart"/>
          <p:cNvGraphicFramePr/>
          <p:nvPr/>
        </p:nvGraphicFramePr>
        <p:xfrm>
          <a:off xmlns:a="http://schemas.openxmlformats.org/drawingml/2006/main" x="876300" y="1562100"/>
          <a:ext xmlns:a="http://schemas.openxmlformats.org/drawingml/2006/main" cx="7239000" cy="3333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3f2bbc660a1f429d"/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1271A65-016C-41B7-BD27-3DFBFCBB15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1447800"/>
            <a:ext cx="2476500" cy="971550"/>
          </a:xfrm>
          <a:prstGeom xmlns:a="http://schemas.openxmlformats.org/drawingml/2006/main" prst="roundRect">
            <a:avLst>
              <a:gd name="adj" fmla="val 1372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47857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448F61C-1C14-4EE7-A427-DDAAC6FED1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1600200"/>
            <a:ext cx="2133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64748B"/>
                </a:solidFill>
              </a:defRPr>
            </a:pPr>
            <a:r>
              <a:rPr sz="975" b="1">
                <a:solidFill>
                  <a:srgbClr val="64748B"/>
                </a:solidFill>
              </a:rPr>
              <a:t>QC 规格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6DF8EDC-801B-43D6-964F-6DE3F2DC1A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1847850"/>
            <a:ext cx="21336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47857"/>
                </a:solidFill>
              </a:defRPr>
            </a:pPr>
            <a:r>
              <a:rPr sz="2400" b="1">
                <a:solidFill>
                  <a:srgbClr val="047857"/>
                </a:solidFill>
              </a:rPr>
              <a:t>4.0%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C62EF6F-F4DD-44B8-B7D5-6460381F56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647950"/>
            <a:ext cx="2476500" cy="971550"/>
          </a:xfrm>
          <a:prstGeom xmlns:a="http://schemas.openxmlformats.org/drawingml/2006/main" prst="roundRect">
            <a:avLst>
              <a:gd name="adj" fmla="val 1372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07A6E56-25A5-4C7F-B084-F2B53BC5F6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2800350"/>
            <a:ext cx="2133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64748B"/>
                </a:solidFill>
              </a:defRPr>
            </a:pPr>
            <a:r>
              <a:rPr sz="975" b="1">
                <a:solidFill>
                  <a:srgbClr val="64748B"/>
                </a:solidFill>
              </a:rPr>
              <a:t>Customer 规格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7B625F7-0944-49E9-9BD1-65385F5CF6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3048000"/>
            <a:ext cx="21336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2563EB"/>
                </a:solidFill>
              </a:defRPr>
            </a:pPr>
            <a:r>
              <a:rPr sz="2400" b="1">
                <a:solidFill>
                  <a:srgbClr val="2563EB"/>
                </a:solidFill>
              </a:rPr>
              <a:t>5.0%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5346A61-417A-431A-80FD-880C4D2E20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3848100"/>
            <a:ext cx="2476500" cy="1238250"/>
          </a:xfrm>
          <a:prstGeom xmlns:a="http://schemas.openxmlformats.org/drawingml/2006/main" prst="roundRect">
            <a:avLst>
              <a:gd name="adj" fmla="val 10769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C9FF3E9-7937-487C-8C79-FFF797929C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4057650"/>
            <a:ext cx="762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F172A"/>
                </a:solidFill>
              </a:defRPr>
            </a:pPr>
            <a:r>
              <a:rPr sz="1500" b="1">
                <a:solidFill>
                  <a:srgbClr val="0F172A"/>
                </a:solidFill>
              </a:rPr>
              <a:t>观察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2D43332-8EC3-4234-A7E4-7E00A3F08E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4419600"/>
            <a:ext cx="19431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475569"/>
                </a:solidFill>
              </a:defRPr>
            </a:pPr>
            <a:r>
              <a:rPr sz="1200">
                <a:solidFill>
                  <a:srgbClr val="475569"/>
                </a:solidFill>
              </a:rPr>
              <a:t>最高点来自 0411A03 的 315% 节点：0.825%。整体 CV 未出现接近规格的漂移。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3A51B93-0A29-4F7E-B1B5-304823D7F1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553200"/>
            <a:ext cx="9906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>
                <a:solidFill>
                  <a:srgbClr val="64748B"/>
                </a:solidFill>
              </a:defRPr>
            </a:pPr>
            <a:r>
              <a:rPr sz="750">
                <a:solidFill>
                  <a:srgbClr val="64748B"/>
                </a:solidFill>
              </a:rPr>
              <a:t>Source: 96 LV PVT LIFETIME REPORT + optical CV workbooks | 5ul CV tabs top summary rows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BD5D47C-A8BE-4DAA-88D2-59702B6D1E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700" y="6534150"/>
            <a:ext cx="685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4748B"/>
                </a:solidFill>
              </a:defRPr>
            </a:pPr>
            <a:r>
              <a:rPr sz="900" b="1">
                <a:solidFill>
                  <a:srgbClr val="64748B"/>
                </a:solidFill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345534400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883DE85-5202-41AA-A486-9EADC43C34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B981"/>
          </a:solidFill>
          <a:ln xmlns:a="http://schemas.openxmlformats.org/drawingml/2006/main" w="0">
            <a:solidFill>
              <a:srgbClr val="10B981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34CE6AD-12BA-40C8-8CD5-10DDA8FD77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19100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047857"/>
                </a:solidFill>
              </a:defRPr>
            </a:pPr>
            <a:r>
              <a:rPr sz="900" b="1">
                <a:solidFill>
                  <a:srgbClr val="047857"/>
                </a:solidFill>
              </a:rPr>
              <a:t>WORST CHANNEL CV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6D9FB86-6F06-4EFC-84D1-E5F611A984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85800"/>
            <a:ext cx="8763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0F172A"/>
                </a:solidFill>
              </a:defRPr>
            </a:pPr>
            <a:r>
              <a:rPr sz="2550" b="1">
                <a:solidFill>
                  <a:srgbClr val="0F172A"/>
                </a:solidFill>
              </a:rPr>
              <a:t>最差通道 CV：最高 2.88%，低于 5.6% QC 规格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1C3B6E0-3915-4AC3-B923-A4153702DD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33500"/>
            <a:ext cx="7239000" cy="3886200"/>
          </a:xfrm>
          <a:prstGeom xmlns:a="http://schemas.openxmlformats.org/drawingml/2006/main" prst="roundRect">
            <a:avLst>
              <a:gd name="adj" fmla="val 343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graphicFrame>
        <p:nvGraphicFramePr>
          <p:cNvPr id="19" name="Chart"/>
          <p:cNvGraphicFramePr/>
          <p:nvPr/>
        </p:nvGraphicFramePr>
        <p:xfrm>
          <a:off xmlns:a="http://schemas.openxmlformats.org/drawingml/2006/main" x="990600" y="1657350"/>
          <a:ext xmlns:a="http://schemas.openxmlformats.org/drawingml/2006/main" cx="6477000" cy="30480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53ec5b7570dd4deb"/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A4DD4C0-9599-49A2-8D7C-E74DD07738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1428750"/>
            <a:ext cx="3143250" cy="1771650"/>
          </a:xfrm>
          <a:prstGeom xmlns:a="http://schemas.openxmlformats.org/drawingml/2006/main" prst="roundRect">
            <a:avLst>
              <a:gd name="adj" fmla="val 752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DBB34FF-0F51-4A19-85DF-2A6AC237AB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1695450"/>
            <a:ext cx="2095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64748B"/>
                </a:solidFill>
              </a:defRPr>
            </a:pPr>
            <a:r>
              <a:rPr sz="1350" b="1">
                <a:solidFill>
                  <a:srgbClr val="64748B"/>
                </a:solidFill>
              </a:rPr>
              <a:t>最高 worst channel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E3A5FBE-0119-4959-B3A8-E5120631C0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2000250"/>
            <a:ext cx="1524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92400E"/>
                </a:solidFill>
              </a:defRPr>
            </a:pPr>
            <a:r>
              <a:rPr sz="3300" b="1">
                <a:solidFill>
                  <a:srgbClr val="92400E"/>
                </a:solidFill>
              </a:rPr>
              <a:t>2.88%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EA84D8A-CFDD-4D32-B089-E502C56B87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781300"/>
            <a:ext cx="23622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475569"/>
                </a:solidFill>
              </a:defRPr>
            </a:pPr>
            <a:r>
              <a:rPr sz="1050">
                <a:solidFill>
                  <a:srgbClr val="475569"/>
                </a:solidFill>
              </a:rPr>
              <a:t>来自 P2HHV3220250411A03 初始 0% 节点，后续 CV 仍维持在规格内。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96E37C9-8180-4899-B197-43B3249666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3467100"/>
            <a:ext cx="3143250" cy="1562100"/>
          </a:xfrm>
          <a:prstGeom xmlns:a="http://schemas.openxmlformats.org/drawingml/2006/main" prst="roundRect">
            <a:avLst>
              <a:gd name="adj" fmla="val 8537"/>
            </a:avLst>
          </a:prstGeom>
          <a:solidFill xmlns:a="http://schemas.openxmlformats.org/drawingml/2006/main">
            <a:srgbClr val="ECFDF5"/>
          </a:solidFill>
          <a:ln xmlns:a="http://schemas.openxmlformats.org/drawingml/2006/main" w="9525">
            <a:solidFill>
              <a:srgbClr val="10B981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858490D-2425-4FE8-8663-047140ED3F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3714750"/>
            <a:ext cx="914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047857"/>
                </a:solidFill>
              </a:defRPr>
            </a:pPr>
            <a:r>
              <a:rPr sz="1650" b="1">
                <a:solidFill>
                  <a:srgbClr val="047857"/>
                </a:solidFill>
              </a:rPr>
              <a:t>判定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52C5955-138A-4983-AB6D-00472E547A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4114800"/>
            <a:ext cx="2381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0F172A"/>
                </a:solidFill>
              </a:defRPr>
            </a:pPr>
            <a:r>
              <a:rPr sz="1275">
                <a:solidFill>
                  <a:srgbClr val="0F172A"/>
                </a:solidFill>
              </a:rPr>
              <a:t>所有样机最大 worst channel CV 均低于 QC 5.6% 与 customer 7% 规格。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8A7BDF2-AE10-4D07-BC46-763FE89CCE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553200"/>
            <a:ext cx="9906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>
                <a:solidFill>
                  <a:srgbClr val="64748B"/>
                </a:solidFill>
              </a:defRPr>
            </a:pPr>
            <a:r>
              <a:rPr sz="750">
                <a:solidFill>
                  <a:srgbClr val="64748B"/>
                </a:solidFill>
              </a:rPr>
              <a:t>Source: 96 LV PVT LIFETIME REPORT + optical CV workbooks | worst channel CV from optical workbook top summaries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167AEAF-69E3-4249-A6A7-DAD1BD0FEF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700" y="6534150"/>
            <a:ext cx="685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4748B"/>
                </a:solidFill>
              </a:defRPr>
            </a:pPr>
            <a:r>
              <a:rPr sz="900" b="1">
                <a:solidFill>
                  <a:srgbClr val="64748B"/>
                </a:solidFill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736855400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CEBCC4E-D3C6-4AAC-93AB-FC27EC3F36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B981"/>
          </a:solidFill>
          <a:ln xmlns:a="http://schemas.openxmlformats.org/drawingml/2006/main" w="0">
            <a:solidFill>
              <a:srgbClr val="10B981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B4C8794-3EF3-4EEA-8D4B-A8995BD8D0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19100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047857"/>
                </a:solidFill>
              </a:defRPr>
            </a:pPr>
            <a:r>
              <a:rPr sz="900" b="1">
                <a:solidFill>
                  <a:srgbClr val="047857"/>
                </a:solidFill>
              </a:rPr>
              <a:t>STAGE EVIDENCE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00EFAB1-9091-436D-90C0-A984D22C59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85800"/>
            <a:ext cx="8763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0F172A"/>
                </a:solidFill>
              </a:defRPr>
            </a:pPr>
            <a:r>
              <a:rPr sz="2550" b="1">
                <a:solidFill>
                  <a:srgbClr val="0F172A"/>
                </a:solidFill>
              </a:rPr>
              <a:t>阶段证据：记录完整，关键口径已标注</a:t>
            </a:r>
          </a:p>
        </p:txBody>
      </p:sp>
      <p:graphicFrame>
        <p:nvGraphicFramePr>
          <p:cNvPr id="11" name=""/>
          <p:cNvGraphicFramePr/>
          <p:nvPr/>
        </p:nvGraphicFramePr>
        <p:xfrm>
          <a:off xmlns:a="http://schemas.openxmlformats.org/drawingml/2006/main" x="666750" y="1333500"/>
          <a:ext xmlns:a="http://schemas.openxmlformats.org/drawingml/2006/main" cx="10858500" cy="4057650"/>
        </p:xfrm>
        <a:graphic xmlns:a="http://schemas.openxmlformats.org/drawingml/2006/main">
          <a:graphicData uri="http://schemas.openxmlformats.org/drawingml/2006/table">
            <a:tbl>
              <a:tblPr firstRow="1" bandRow="1"/>
              <a:tblGrid>
                <a:gridCol w="1809750"/>
                <a:gridCol w="1962150"/>
                <a:gridCol w="1962150"/>
                <a:gridCol w="5124450"/>
              </a:tblGrid>
              <a:tr h="368877"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</a:rPr>
                        <a:t>阶段</a:t>
                      </a:r>
                    </a:p>
                  </a:txBody>
                  <a:tcPr marL="91440" marR="91440" marT="45720" marB="45720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</a:rPr>
                        <a:t>cycles</a:t>
                      </a:r>
                    </a:p>
                  </a:txBody>
                  <a:tcPr marL="91440" marR="91440" marT="45720" marB="45720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</a:rPr>
                        <a:t>证据类型</a:t>
                      </a:r>
                    </a:p>
                  </a:txBody>
                  <a:tcPr marL="91440" marR="91440" marT="45720" marB="45720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</a:rPr>
                        <a:t>记录结果</a:t>
                      </a:r>
                    </a:p>
                  </a:txBody>
                  <a:tcPr marL="91440" marR="91440" marT="45720" marB="45720">
                    <a:solidFill>
                      <a:srgbClr val="0F172A"/>
                    </a:solidFill>
                  </a:tcPr>
                </a:tc>
              </a:tr>
              <a:tr h="368877"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0F172A"/>
                          </a:solidFill>
                        </a:rPr>
                        <a:t>0%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0F172A"/>
                          </a:solidFill>
                        </a:rPr>
                        <a:t>0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0F172A"/>
                          </a:solidFill>
                        </a:rPr>
                        <a:t>光学 CV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0F172A"/>
                          </a:solidFill>
                        </a:rPr>
                        <a:t>4 台均有有效 CV，均通过</a:t>
                      </a:r>
                    </a:p>
                  </a:txBody>
                  <a:tcPr marL="91440" marR="91440" marT="45720" marB="45720">
                    <a:solidFill>
                      <a:srgbClr val="ECFDF5"/>
                    </a:solidFill>
                  </a:tcPr>
                </a:tc>
              </a:tr>
              <a:tr h="368877"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0F172A"/>
                          </a:solidFill>
                        </a:rPr>
                        <a:t>25%-50%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0F172A"/>
                          </a:solidFill>
                        </a:rPr>
                        <a:t>65k / 100k / 130k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0F172A"/>
                          </a:solidFill>
                        </a:rPr>
                        <a:t>吸水/压力记录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0F172A"/>
                          </a:solidFill>
                        </a:rPr>
                        <a:t>PASS</a:t>
                      </a:r>
                    </a:p>
                  </a:txBody>
                  <a:tcPr marL="91440" marR="91440" marT="45720" marB="45720">
                    <a:solidFill>
                      <a:srgbClr val="ECFDF5"/>
                    </a:solidFill>
                  </a:tcPr>
                </a:tc>
              </a:tr>
              <a:tr h="368877"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0F172A"/>
                          </a:solidFill>
                        </a:rPr>
                        <a:t>75%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0F172A"/>
                          </a:solidFill>
                        </a:rPr>
                        <a:t>195k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0F172A"/>
                          </a:solidFill>
                        </a:rPr>
                        <a:t>跳过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0F172A"/>
                          </a:solidFill>
                        </a:rPr>
                        <a:t>假期跳过；光学表为 #REF! / #N/A</a:t>
                      </a:r>
                    </a:p>
                  </a:txBody>
                  <a:tcPr marL="91440" marR="91440" marT="45720" marB="45720">
                    <a:solidFill>
                      <a:srgbClr val="FFFBEB"/>
                    </a:solidFill>
                  </a:tcPr>
                </a:tc>
              </a:tr>
              <a:tr h="368877"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0F172A"/>
                          </a:solidFill>
                        </a:rPr>
                        <a:t>100%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0F172A"/>
                          </a:solidFill>
                        </a:rPr>
                        <a:t>260k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0F172A"/>
                          </a:solidFill>
                        </a:rPr>
                        <a:t>光学 CV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0F172A"/>
                          </a:solidFill>
                        </a:rPr>
                        <a:t>4 台均通过</a:t>
                      </a:r>
                    </a:p>
                  </a:txBody>
                  <a:tcPr marL="91440" marR="91440" marT="45720" marB="45720">
                    <a:solidFill>
                      <a:srgbClr val="ECFDF5"/>
                    </a:solidFill>
                  </a:tcPr>
                </a:tc>
              </a:tr>
              <a:tr h="368877"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0F172A"/>
                          </a:solidFill>
                        </a:rPr>
                        <a:t>125%-175%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0F172A"/>
                          </a:solidFill>
                        </a:rPr>
                        <a:t>325k / 390k / 455k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0F172A"/>
                          </a:solidFill>
                        </a:rPr>
                        <a:t>图片/检查记录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0F172A"/>
                          </a:solidFill>
                        </a:rPr>
                        <a:t>PASS</a:t>
                      </a:r>
                    </a:p>
                  </a:txBody>
                  <a:tcPr marL="91440" marR="91440" marT="45720" marB="45720">
                    <a:solidFill>
                      <a:srgbClr val="ECFDF5"/>
                    </a:solidFill>
                  </a:tcPr>
                </a:tc>
              </a:tr>
              <a:tr h="368877"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0F172A"/>
                          </a:solidFill>
                        </a:rPr>
                        <a:t>200%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0F172A"/>
                          </a:solidFill>
                        </a:rPr>
                        <a:t>520k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0F172A"/>
                          </a:solidFill>
                        </a:rPr>
                        <a:t>光学 CV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0F172A"/>
                          </a:solidFill>
                        </a:rPr>
                        <a:t>4 台均通过</a:t>
                      </a:r>
                    </a:p>
                  </a:txBody>
                  <a:tcPr marL="91440" marR="91440" marT="45720" marB="45720">
                    <a:solidFill>
                      <a:srgbClr val="ECFDF5"/>
                    </a:solidFill>
                  </a:tcPr>
                </a:tc>
              </a:tr>
              <a:tr h="368877"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0F172A"/>
                          </a:solidFill>
                        </a:rPr>
                        <a:t>238% / 277%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0F172A"/>
                          </a:solidFill>
                        </a:rPr>
                        <a:t>620k / 720k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0F172A"/>
                          </a:solidFill>
                        </a:rPr>
                        <a:t>压力/吸水记录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0F172A"/>
                          </a:solidFill>
                        </a:rPr>
                        <a:t>PASS</a:t>
                      </a:r>
                    </a:p>
                  </a:txBody>
                  <a:tcPr marL="91440" marR="91440" marT="45720" marB="45720">
                    <a:solidFill>
                      <a:srgbClr val="ECFDF5"/>
                    </a:solidFill>
                  </a:tcPr>
                </a:tc>
              </a:tr>
              <a:tr h="368877"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0F172A"/>
                          </a:solidFill>
                        </a:rPr>
                        <a:t>315%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0F172A"/>
                          </a:solidFill>
                        </a:rPr>
                        <a:t>820k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0F172A"/>
                          </a:solidFill>
                        </a:rPr>
                        <a:t>光学 CV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0F172A"/>
                          </a:solidFill>
                        </a:rPr>
                        <a:t>4 台均通过</a:t>
                      </a:r>
                    </a:p>
                  </a:txBody>
                  <a:tcPr marL="91440" marR="91440" marT="45720" marB="45720">
                    <a:solidFill>
                      <a:srgbClr val="ECFDF5"/>
                    </a:solidFill>
                  </a:tcPr>
                </a:tc>
              </a:tr>
              <a:tr h="368877"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0F172A"/>
                          </a:solidFill>
                        </a:rPr>
                        <a:t>354%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0F172A"/>
                          </a:solidFill>
                        </a:rPr>
                        <a:t>920k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0F172A"/>
                          </a:solidFill>
                        </a:rPr>
                        <a:t>压力/吸水记录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0F172A"/>
                          </a:solidFill>
                        </a:rPr>
                        <a:t>PASS</a:t>
                      </a:r>
                    </a:p>
                  </a:txBody>
                  <a:tcPr marL="91440" marR="91440" marT="45720" marB="45720">
                    <a:solidFill>
                      <a:srgbClr val="ECFDF5"/>
                    </a:solidFill>
                  </a:tcPr>
                </a:tc>
              </a:tr>
              <a:tr h="368877"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0F172A"/>
                          </a:solidFill>
                        </a:rPr>
                        <a:t>392%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0F172A"/>
                          </a:solidFill>
                        </a:rPr>
                        <a:t>1,020k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0F172A"/>
                          </a:solidFill>
                        </a:rPr>
                        <a:t>光学 CV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0F172A"/>
                          </a:solidFill>
                        </a:rPr>
                        <a:t>可用数据通过；plate4/5 为 #DIV/0!</a:t>
                      </a:r>
                    </a:p>
                  </a:txBody>
                  <a:tcPr marL="91440" marR="91440" marT="45720" marB="45720">
                    <a:solidFill>
                      <a:srgbClr val="FFFBEB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14AC5CF-879A-4332-A956-65FD107C35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876300"/>
            <a:ext cx="25717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1FAE5"/>
          </a:solidFill>
          <a:ln xmlns:a="http://schemas.openxmlformats.org/drawingml/2006/main" w="0">
            <a:solidFill>
              <a:srgbClr val="D1FAE5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047857"/>
                </a:solidFill>
              </a:defRPr>
            </a:pPr>
            <a:r>
              <a:rPr sz="975" b="1">
                <a:solidFill>
                  <a:srgbClr val="047857"/>
                </a:solidFill>
              </a:rPr>
              <a:t>Finish in detailed lifetime table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CF3EFD5-19FB-4E7D-A98E-32444A85C3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553200"/>
            <a:ext cx="9906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>
                <a:solidFill>
                  <a:srgbClr val="64748B"/>
                </a:solidFill>
              </a:defRPr>
            </a:pPr>
            <a:r>
              <a:rPr sz="750">
                <a:solidFill>
                  <a:srgbClr val="64748B"/>
                </a:solidFill>
              </a:rPr>
              <a:t>Source: 96 LV PVT LIFETIME REPORT + optical CV workbooks | stage rows in RD Lifetime test-96ch lv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C8CF29D-87E4-4325-88ED-16F789912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700" y="6534150"/>
            <a:ext cx="685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4748B"/>
                </a:solidFill>
              </a:defRPr>
            </a:pPr>
            <a:r>
              <a:rPr sz="900" b="1">
                <a:solidFill>
                  <a:srgbClr val="64748B"/>
                </a:solidFill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2097133702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0A6F2AE-0BFD-4800-B5F1-3BA0E790D8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B981"/>
          </a:solidFill>
          <a:ln xmlns:a="http://schemas.openxmlformats.org/drawingml/2006/main" w="0">
            <a:solidFill>
              <a:srgbClr val="10B981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91C8974-7491-4964-A13E-6FC1A0391B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19100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047857"/>
                </a:solidFill>
              </a:defRPr>
            </a:pPr>
            <a:r>
              <a:rPr sz="900" b="1">
                <a:solidFill>
                  <a:srgbClr val="047857"/>
                </a:solidFill>
              </a:rPr>
              <a:t>DATA QUALITY &amp; RECOMMENDATION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AF3D585-F4FF-4A95-BA60-551FA19F46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85800"/>
            <a:ext cx="8763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0F172A"/>
                </a:solidFill>
              </a:defRPr>
            </a:pPr>
            <a:r>
              <a:rPr sz="2550" b="1">
                <a:solidFill>
                  <a:srgbClr val="0F172A"/>
                </a:solidFill>
              </a:rPr>
              <a:t>正式归档建议：通过，但需补齐数据口径说明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ED93FDF-C657-4D31-8184-02F6CE090D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28750"/>
            <a:ext cx="3257550" cy="2152650"/>
          </a:xfrm>
          <a:prstGeom xmlns:a="http://schemas.openxmlformats.org/drawingml/2006/main" prst="roundRect">
            <a:avLst>
              <a:gd name="adj" fmla="val 619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59E0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076A272-DF29-45FB-9AB3-65850F081A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71450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F59E0B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43BBCC4-5E02-4A4D-9947-2FD532FDB5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781175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69513A1-EA22-49B6-AF95-A756C2B93E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1714500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0F172A"/>
                </a:solidFill>
              </a:defRPr>
            </a:pPr>
            <a:r>
              <a:rPr sz="1650" b="1">
                <a:solidFill>
                  <a:srgbClr val="0F172A"/>
                </a:solidFill>
              </a:rPr>
              <a:t>同步进度表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F0163CF-2D4F-4217-B3A2-B94A7667F2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324100"/>
            <a:ext cx="27051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475569"/>
                </a:solidFill>
              </a:defRPr>
            </a:pPr>
            <a:r>
              <a:rPr sz="1200">
                <a:solidFill>
                  <a:srgbClr val="475569"/>
                </a:solidFill>
              </a:rPr>
              <a:t>老化汇总表仍显示 238% / 620k 与 running 238%-277%；建议更新为 Finish / 392% / 1,020k。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6170216-4B3B-45D9-8E7B-94F9FB9B4D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1428750"/>
            <a:ext cx="3257550" cy="2152650"/>
          </a:xfrm>
          <a:prstGeom xmlns:a="http://schemas.openxmlformats.org/drawingml/2006/main" prst="roundRect">
            <a:avLst>
              <a:gd name="adj" fmla="val 619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59E0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1FCF0C9-4D24-47CD-A219-01C56FDB30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171450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F59E0B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717E5E1-E676-4170-B8C0-35BA096F09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1781175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7FF8FA6-FF64-45CB-AEAB-E2CF2E4CBF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1714500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0F172A"/>
                </a:solidFill>
              </a:defRPr>
            </a:pPr>
            <a:r>
              <a:rPr sz="1650" b="1">
                <a:solidFill>
                  <a:srgbClr val="0F172A"/>
                </a:solidFill>
              </a:rPr>
              <a:t>392% 光学数据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5F8DE8E-C2AC-4589-94AB-FB589AB023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2324100"/>
            <a:ext cx="27051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475569"/>
                </a:solidFill>
              </a:defRPr>
            </a:pPr>
            <a:r>
              <a:rPr sz="1200">
                <a:solidFill>
                  <a:srgbClr val="475569"/>
                </a:solidFill>
              </a:rPr>
              <a:t>4 台的 392% plate4、plate5 均为 #DIV/0!；正式报告需补测，或明确 392% 只按前三板可用数据统计。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9EAF535-0BD7-43F6-90B1-3A70DD4E74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1428750"/>
            <a:ext cx="3257550" cy="2152650"/>
          </a:xfrm>
          <a:prstGeom xmlns:a="http://schemas.openxmlformats.org/drawingml/2006/main" prst="roundRect">
            <a:avLst>
              <a:gd name="adj" fmla="val 619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579DF0D-373F-4105-AE06-44866FFD81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171450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D42B851-2172-4631-B0B3-0F779F86A4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1781175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E0FA05E-D622-4AF9-BE8A-E8D272BD7C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1714500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0F172A"/>
                </a:solidFill>
              </a:defRPr>
            </a:pPr>
            <a:r>
              <a:rPr sz="1650" b="1">
                <a:solidFill>
                  <a:srgbClr val="0F172A"/>
                </a:solidFill>
              </a:rPr>
              <a:t>D% 限制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49E42AF-BD7C-4653-93A1-F00548678E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324100"/>
            <a:ext cx="27051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475569"/>
                </a:solidFill>
              </a:defRPr>
            </a:pPr>
            <a:r>
              <a:rPr sz="1200">
                <a:solidFill>
                  <a:srgbClr val="475569"/>
                </a:solidFill>
              </a:rPr>
              <a:t>Summary1 中 D% 多处为 #REF! 或未输出；本 PPT 仅基于 CV、worst channel CV、吸水/压力 PASS 与详细表状态做判定。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16ABAD9-6B54-4D0B-9644-1B8E681B4B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95750"/>
            <a:ext cx="10572750" cy="120015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CFDF5"/>
          </a:solidFill>
          <a:ln xmlns:a="http://schemas.openxmlformats.org/drawingml/2006/main" w="9525">
            <a:solidFill>
              <a:srgbClr val="10B981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0CFB4E1-E669-49C1-9EF5-7370063545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381500"/>
            <a:ext cx="1333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47857"/>
                </a:solidFill>
              </a:defRPr>
            </a:pPr>
            <a:r>
              <a:rPr sz="1800" b="1">
                <a:solidFill>
                  <a:srgbClr val="047857"/>
                </a:solidFill>
              </a:rPr>
              <a:t>最终建议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6EF89DF-B381-4A4E-9C1A-FB97C0626B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4324350"/>
            <a:ext cx="809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0F172A"/>
                </a:solidFill>
              </a:defRPr>
            </a:pPr>
            <a:r>
              <a:rPr sz="1425">
                <a:solidFill>
                  <a:srgbClr val="0F172A"/>
                </a:solidFill>
              </a:rPr>
              <a:t>基于详细表 Finish 状态、完成 392% / 1,020,000 cycles、无失效记录，以及所有可用 CV 指标低于规格，建议判定 4 台样机老化测试通过。归档前同步汇总表并补充 392% plate4/5 说明。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0593DB6-A8BE-4E0D-AA3C-81A14EF31E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553200"/>
            <a:ext cx="9906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>
                <a:solidFill>
                  <a:srgbClr val="64748B"/>
                </a:solidFill>
              </a:defRPr>
            </a:pPr>
            <a:r>
              <a:rPr sz="750">
                <a:solidFill>
                  <a:srgbClr val="64748B"/>
                </a:solidFill>
              </a:rPr>
              <a:t>Source: 96 LV PVT LIFETIME REPORT + optical CV workbooks | final recommendation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64D714D-C941-4211-8DC8-4B780E90F5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700" y="6534150"/>
            <a:ext cx="685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4748B"/>
                </a:solidFill>
              </a:defRPr>
            </a:pPr>
            <a:r>
              <a:rPr sz="900" b="1">
                <a:solidFill>
                  <a:srgbClr val="64748B"/>
                </a:solidFill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804241137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1041B4B-1049-4E23-B1A3-B5E37513C6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B981"/>
          </a:solidFill>
          <a:ln xmlns:a="http://schemas.openxmlformats.org/drawingml/2006/main" w="0">
            <a:solidFill>
              <a:srgbClr val="10B981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3695DB6-C477-47DF-9A69-490A661618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19100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047857"/>
                </a:solidFill>
              </a:defRPr>
            </a:pPr>
            <a:r>
              <a:rPr sz="900" b="1">
                <a:solidFill>
                  <a:srgbClr val="047857"/>
                </a:solidFill>
              </a:rPr>
              <a:t>PIPETTE ANALYSIS | P2HHV3220250401A03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B376482-59E6-4395-BF3F-27311FE8B4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85800"/>
            <a:ext cx="8763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0F172A"/>
                </a:solidFill>
              </a:defRPr>
            </a:pPr>
            <a:r>
              <a:rPr sz="2550" b="1">
                <a:solidFill>
                  <a:srgbClr val="0F172A"/>
                </a:solidFill>
              </a:rPr>
              <a:t>0401A03 单台分析：完成 392%，CV 判定通过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0971099-6CBC-4894-8CEB-B5E2A2C0A9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742950"/>
            <a:ext cx="13525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1FAE5"/>
          </a:solidFill>
          <a:ln xmlns:a="http://schemas.openxmlformats.org/drawingml/2006/main" w="0">
            <a:solidFill>
              <a:srgbClr val="D1FAE5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047857"/>
                </a:solidFill>
              </a:defRPr>
            </a:pPr>
            <a:r>
              <a:rPr sz="975" b="1">
                <a:solidFill>
                  <a:srgbClr val="047857"/>
                </a:solidFill>
              </a:rPr>
              <a:t>Finish / 392%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A77639B-6AE8-44EC-BDB3-6B001ACF4B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33500"/>
            <a:ext cx="2457450" cy="876300"/>
          </a:xfrm>
          <a:prstGeom xmlns:a="http://schemas.openxmlformats.org/drawingml/2006/main" prst="roundRect">
            <a:avLst>
              <a:gd name="adj" fmla="val 1521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47857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96FFD59-361D-44E1-B799-6CF560DDC1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504950"/>
            <a:ext cx="2095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64748B"/>
                </a:solidFill>
              </a:defRPr>
            </a:pPr>
            <a:r>
              <a:rPr sz="900" b="1">
                <a:solidFill>
                  <a:srgbClr val="64748B"/>
                </a:solidFill>
              </a:rPr>
              <a:t>最高进度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656D3FB-ABFC-4FD8-8439-EA2C7EFA47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752600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047857"/>
                </a:solidFill>
              </a:defRPr>
            </a:pPr>
            <a:r>
              <a:rPr sz="1950" b="1">
                <a:solidFill>
                  <a:srgbClr val="047857"/>
                </a:solidFill>
              </a:rPr>
              <a:t>392% / 1.02M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34C51AB-1829-4D36-9C4A-46007DADC0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1333500"/>
            <a:ext cx="2457450" cy="876300"/>
          </a:xfrm>
          <a:prstGeom xmlns:a="http://schemas.openxmlformats.org/drawingml/2006/main" prst="roundRect">
            <a:avLst>
              <a:gd name="adj" fmla="val 1521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4B55B7C-9198-4C81-8214-F91D71C89F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1504950"/>
            <a:ext cx="2095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64748B"/>
                </a:solidFill>
              </a:defRPr>
            </a:pPr>
            <a:r>
              <a:rPr sz="900" b="1">
                <a:solidFill>
                  <a:srgbClr val="64748B"/>
                </a:solidFill>
              </a:rPr>
              <a:t>Max CV (315%)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29EFF5D-D5FC-4A9C-9D3D-72A74688CF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1752600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2563EB"/>
                </a:solidFill>
              </a:defRPr>
            </a:pPr>
            <a:r>
              <a:rPr sz="1950" b="1">
                <a:solidFill>
                  <a:srgbClr val="2563EB"/>
                </a:solidFill>
              </a:rPr>
              <a:t>0.566%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21C36D0-6FFD-4290-A8F7-8D593A9B24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333500"/>
            <a:ext cx="2457450" cy="876300"/>
          </a:xfrm>
          <a:prstGeom xmlns:a="http://schemas.openxmlformats.org/drawingml/2006/main" prst="roundRect">
            <a:avLst>
              <a:gd name="adj" fmla="val 1521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92400E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9732BE1-EB68-48AA-B03F-38F09D7B31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504950"/>
            <a:ext cx="2095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64748B"/>
                </a:solidFill>
              </a:defRPr>
            </a:pPr>
            <a:r>
              <a:rPr sz="900" b="1">
                <a:solidFill>
                  <a:srgbClr val="64748B"/>
                </a:solidFill>
              </a:rPr>
              <a:t>Max worst (200%)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9977A18-477A-46A9-9D13-FFBABDE06A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752600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92400E"/>
                </a:solidFill>
              </a:defRPr>
            </a:pPr>
            <a:r>
              <a:rPr sz="1950" b="1">
                <a:solidFill>
                  <a:srgbClr val="92400E"/>
                </a:solidFill>
              </a:rPr>
              <a:t>1.01%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565B3E3-2B46-4CB7-9841-01F9277C80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1333500"/>
            <a:ext cx="2457450" cy="876300"/>
          </a:xfrm>
          <a:prstGeom xmlns:a="http://schemas.openxmlformats.org/drawingml/2006/main" prst="roundRect">
            <a:avLst>
              <a:gd name="adj" fmla="val 1521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47857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CC47A20-41CB-4AE8-B2F4-F0651CDCCE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1504950"/>
            <a:ext cx="2095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64748B"/>
                </a:solidFill>
              </a:defRPr>
            </a:pPr>
            <a:r>
              <a:rPr sz="900" b="1">
                <a:solidFill>
                  <a:srgbClr val="64748B"/>
                </a:solidFill>
              </a:rPr>
              <a:t>单台结论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1D7B016-EC6D-4DDC-AD20-BA5E0A3B7C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1752600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047857"/>
                </a:solidFill>
              </a:defRPr>
            </a:pPr>
            <a:r>
              <a:rPr sz="2250" b="1">
                <a:solidFill>
                  <a:srgbClr val="047857"/>
                </a:solidFill>
              </a:rPr>
              <a:t>PASS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73EB2E9-474E-4218-98E6-CA241D2111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52700"/>
            <a:ext cx="6019800" cy="3009900"/>
          </a:xfrm>
          <a:prstGeom xmlns:a="http://schemas.openxmlformats.org/drawingml/2006/main" prst="roundRect">
            <a:avLst>
              <a:gd name="adj" fmla="val 443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graphicFrame>
        <p:nvGraphicFramePr>
          <p:cNvPr id="51" name="Chart"/>
          <p:cNvGraphicFramePr/>
          <p:nvPr/>
        </p:nvGraphicFramePr>
        <p:xfrm>
          <a:off xmlns:a="http://schemas.openxmlformats.org/drawingml/2006/main" x="876300" y="2819400"/>
          <a:ext xmlns:a="http://schemas.openxmlformats.org/drawingml/2006/main" cx="5467350" cy="23241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cc4ed95211374d4f"/>
          </a:graphicData>
        </a:graphic>
      </p:graphicFrame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9B71EC4-ED94-451F-9ED8-010C0FC169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257800"/>
            <a:ext cx="5410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88">
                <a:solidFill>
                  <a:srgbClr val="64748B"/>
                </a:solidFill>
              </a:defRPr>
            </a:pPr>
            <a:r>
              <a:rPr sz="788">
                <a:solidFill>
                  <a:srgbClr val="64748B"/>
                </a:solidFill>
              </a:rPr>
              <a:t>规格参考：1ul CV QC 4%；worst channel CV QC 5.6%。图中纵轴按单台数据范围展示，因此规格线未画入。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44CC98B-6C8B-41C0-B88D-3D051B48E1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2552700"/>
            <a:ext cx="4648200" cy="3009900"/>
          </a:xfrm>
          <a:prstGeom xmlns:a="http://schemas.openxmlformats.org/drawingml/2006/main" prst="roundRect">
            <a:avLst>
              <a:gd name="adj" fmla="val 443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3BFC56F-C8C1-4B94-8EAF-B1AC9C5CE3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800350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0F172A"/>
                </a:solidFill>
              </a:defRPr>
            </a:pPr>
            <a:r>
              <a:rPr sz="1650" b="1">
                <a:solidFill>
                  <a:srgbClr val="0F172A"/>
                </a:solidFill>
              </a:rPr>
              <a:t>具体分析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0690C28-CEE2-4C4E-B12D-8EF8EC182F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32575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CCE8114-2825-4D19-BE67-34D60C78F4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3200400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0F172A"/>
                </a:solidFill>
              </a:defRPr>
            </a:pPr>
            <a:r>
              <a:rPr sz="1125" b="1">
                <a:solidFill>
                  <a:srgbClr val="0F172A"/>
                </a:solidFill>
              </a:rPr>
              <a:t>趋势观察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65DC931-0BC7-42B4-A54B-A244EDD634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3429000"/>
            <a:ext cx="3619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13">
                <a:solidFill>
                  <a:srgbClr val="475569"/>
                </a:solidFill>
              </a:defRPr>
            </a:pPr>
            <a:r>
              <a:rPr sz="1013">
                <a:solidFill>
                  <a:srgbClr val="475569"/>
                </a:solidFill>
              </a:rPr>
              <a:t>CV 在 0.446%-0.566% 范围内波动，整体稳定；200% 与 315% 节点略高但仍远低于 4% QC 规格。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A3E0612-A002-42E8-BFFF-E5FB486D8C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39814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F59E0B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4478762-EEF6-4A70-8B7A-3C0AA67067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3924300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0F172A"/>
                </a:solidFill>
              </a:defRPr>
            </a:pPr>
            <a:r>
              <a:rPr sz="1125" b="1">
                <a:solidFill>
                  <a:srgbClr val="0F172A"/>
                </a:solidFill>
              </a:rPr>
              <a:t>数据备注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2921772-4AF5-4CC7-A1F0-278533118D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4152900"/>
            <a:ext cx="3619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13">
                <a:solidFill>
                  <a:srgbClr val="475569"/>
                </a:solidFill>
              </a:defRPr>
            </a:pPr>
            <a:r>
              <a:rPr sz="1013">
                <a:solidFill>
                  <a:srgbClr val="475569"/>
                </a:solidFill>
              </a:rPr>
              <a:t>392% 节点 CV 为 0.494%，worst channel CV 为 0.91%；plate4/5 为 #DIV/0!，需补测或注明按前三板统计。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4F4101F-9AA4-4DD2-BC87-907D82A7BD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47053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B981"/>
          </a:solidFill>
          <a:ln xmlns:a="http://schemas.openxmlformats.org/drawingml/2006/main" w="0">
            <a:solidFill>
              <a:srgbClr val="10B981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7734C6C-D944-479A-B09D-E939203F28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4648200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0F172A"/>
                </a:solidFill>
              </a:defRPr>
            </a:pPr>
            <a:r>
              <a:rPr sz="1125" b="1">
                <a:solidFill>
                  <a:srgbClr val="0F172A"/>
                </a:solidFill>
              </a:rPr>
              <a:t>单台判定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5B91250-D537-47E5-8475-37DD0CE022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4876800"/>
            <a:ext cx="3619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13">
                <a:solidFill>
                  <a:srgbClr val="475569"/>
                </a:solidFill>
              </a:defRPr>
            </a:pPr>
            <a:r>
              <a:rPr sz="1013">
                <a:solidFill>
                  <a:srgbClr val="475569"/>
                </a:solidFill>
              </a:rPr>
              <a:t>未见失效记录，光学 CV 和 worst channel CV 均满足规格，单台判定通过。</a:t>
            </a:r>
          </a:p>
        </p:txBody>
      </p:sp>
      <p:graphicFrame>
        <p:nvGraphicFramePr>
          <p:cNvPr id="64" name=""/>
          <p:cNvGraphicFramePr/>
          <p:nvPr/>
        </p:nvGraphicFramePr>
        <p:xfrm>
          <a:off xmlns:a="http://schemas.openxmlformats.org/drawingml/2006/main" x="609600" y="5753100"/>
          <a:ext xmlns:a="http://schemas.openxmlformats.org/drawingml/2006/main" cx="10991850" cy="552450"/>
        </p:xfrm>
        <a:graphic xmlns:a="http://schemas.openxmlformats.org/drawingml/2006/main">
          <a:graphicData uri="http://schemas.openxmlformats.org/drawingml/2006/table">
            <a:tbl>
              <a:tblPr firstRow="1" bandRow="1"/>
              <a:tblGrid>
                <a:gridCol w="990600"/>
                <a:gridCol w="2000250"/>
                <a:gridCol w="2000250"/>
                <a:gridCol w="2000250"/>
                <a:gridCol w="2000250"/>
                <a:gridCol w="2000250"/>
              </a:tblGrid>
              <a:tr h="184150"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</a:rPr>
                        <a:t>节点</a:t>
                      </a:r>
                    </a:p>
                  </a:txBody>
                  <a:tcPr marL="91440" marR="91440" marT="45720" marB="45720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</a:rPr>
                        <a:t>0%</a:t>
                      </a:r>
                    </a:p>
                  </a:txBody>
                  <a:tcPr marL="91440" marR="91440" marT="45720" marB="45720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</a:rPr>
                        <a:t>100%</a:t>
                      </a:r>
                    </a:p>
                  </a:txBody>
                  <a:tcPr marL="91440" marR="91440" marT="45720" marB="45720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</a:rPr>
                        <a:t>200%</a:t>
                      </a:r>
                    </a:p>
                  </a:txBody>
                  <a:tcPr marL="91440" marR="91440" marT="45720" marB="45720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</a:rPr>
                        <a:t>315%</a:t>
                      </a:r>
                    </a:p>
                  </a:txBody>
                  <a:tcPr marL="91440" marR="91440" marT="45720" marB="45720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</a:rPr>
                        <a:t>392%</a:t>
                      </a:r>
                    </a:p>
                  </a:txBody>
                  <a:tcPr marL="91440" marR="91440" marT="45720" marB="45720">
                    <a:solidFill>
                      <a:srgbClr val="0F172A"/>
                    </a:solidFill>
                  </a:tcPr>
                </a:tc>
              </a:tr>
              <a:tr h="184150"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0F172A"/>
                          </a:solidFill>
                        </a:rPr>
                        <a:t>CV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0F172A"/>
                          </a:solidFill>
                        </a:rPr>
                        <a:t>0.446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0F172A"/>
                          </a:solidFill>
                        </a:rPr>
                        <a:t>0.491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0F172A"/>
                          </a:solidFill>
                        </a:rPr>
                        <a:t>0.560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0F172A"/>
                          </a:solidFill>
                        </a:rPr>
                        <a:t>0.566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0F172A"/>
                          </a:solidFill>
                        </a:rPr>
                        <a:t>0.494</a:t>
                      </a:r>
                    </a:p>
                  </a:txBody>
                  <a:tcPr marL="91440" marR="91440" marT="45720" marB="45720"/>
                </a:tc>
              </a:tr>
              <a:tr h="184150"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0F172A"/>
                          </a:solidFill>
                        </a:rPr>
                        <a:t>Worst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0F172A"/>
                          </a:solidFill>
                        </a:rPr>
                        <a:t>0.92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0F172A"/>
                          </a:solidFill>
                        </a:rPr>
                        <a:t>0.91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0F172A"/>
                          </a:solidFill>
                        </a:rPr>
                        <a:t>1.01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0F172A"/>
                          </a:solidFill>
                        </a:rPr>
                        <a:t>0.81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0F172A"/>
                          </a:solidFill>
                        </a:rPr>
                        <a:t>0.91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A1BB6CE-E72B-47DE-8CBA-70B34D4738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553200"/>
            <a:ext cx="9906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>
                <a:solidFill>
                  <a:srgbClr val="64748B"/>
                </a:solidFill>
              </a:defRPr>
            </a:pPr>
            <a:r>
              <a:rPr sz="750">
                <a:solidFill>
                  <a:srgbClr val="64748B"/>
                </a:solidFill>
              </a:rPr>
              <a:t>Source: 96 LV PVT LIFETIME REPORT + optical CV workbooks | single pipette analysis: P2HHV3220250401A03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593273C9-47E5-419E-A259-4807AF97DC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700" y="6534150"/>
            <a:ext cx="685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4748B"/>
                </a:solidFill>
              </a:defRPr>
            </a:pPr>
            <a:r>
              <a:rPr sz="900" b="1">
                <a:solidFill>
                  <a:srgbClr val="64748B"/>
                </a:solidFill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1834655867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34489E8-D9E1-4FB6-950E-1056DF1C09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B981"/>
          </a:solidFill>
          <a:ln xmlns:a="http://schemas.openxmlformats.org/drawingml/2006/main" w="0">
            <a:solidFill>
              <a:srgbClr val="10B981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E91C15A-0406-4258-8C6B-A42D6492AD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19100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047857"/>
                </a:solidFill>
              </a:defRPr>
            </a:pPr>
            <a:r>
              <a:rPr sz="900" b="1">
                <a:solidFill>
                  <a:srgbClr val="047857"/>
                </a:solidFill>
              </a:rPr>
              <a:t>PIPETTE ANALYSIS | P2HHV3220250408A02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CB3F4E2-45D5-4312-BC7F-B7C7BD79C5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85800"/>
            <a:ext cx="8763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0F172A"/>
                </a:solidFill>
              </a:defRPr>
            </a:pPr>
            <a:r>
              <a:rPr sz="2550" b="1">
                <a:solidFill>
                  <a:srgbClr val="0F172A"/>
                </a:solidFill>
              </a:rPr>
              <a:t>0408A02 单台分析：完成 392%，CV 判定通过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F86EF23-08C3-4AE7-B4C0-CE55AD843D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742950"/>
            <a:ext cx="13525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1FAE5"/>
          </a:solidFill>
          <a:ln xmlns:a="http://schemas.openxmlformats.org/drawingml/2006/main" w="0">
            <a:solidFill>
              <a:srgbClr val="D1FAE5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047857"/>
                </a:solidFill>
              </a:defRPr>
            </a:pPr>
            <a:r>
              <a:rPr sz="975" b="1">
                <a:solidFill>
                  <a:srgbClr val="047857"/>
                </a:solidFill>
              </a:rPr>
              <a:t>Finish / 392%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4C75A78-CAA1-4014-B105-A4727F3451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33500"/>
            <a:ext cx="2457450" cy="876300"/>
          </a:xfrm>
          <a:prstGeom xmlns:a="http://schemas.openxmlformats.org/drawingml/2006/main" prst="roundRect">
            <a:avLst>
              <a:gd name="adj" fmla="val 1521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47857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C749A95-118B-4AC9-BA0D-93033ECC28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504950"/>
            <a:ext cx="2095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64748B"/>
                </a:solidFill>
              </a:defRPr>
            </a:pPr>
            <a:r>
              <a:rPr sz="900" b="1">
                <a:solidFill>
                  <a:srgbClr val="64748B"/>
                </a:solidFill>
              </a:rPr>
              <a:t>最高进度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BBFA796-F0E4-4753-8644-3748B28EA5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752600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047857"/>
                </a:solidFill>
              </a:defRPr>
            </a:pPr>
            <a:r>
              <a:rPr sz="1950" b="1">
                <a:solidFill>
                  <a:srgbClr val="047857"/>
                </a:solidFill>
              </a:rPr>
              <a:t>392% / 1.02M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FF9F85D-BADC-4F04-B86B-5AD1486F75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1333500"/>
            <a:ext cx="2457450" cy="876300"/>
          </a:xfrm>
          <a:prstGeom xmlns:a="http://schemas.openxmlformats.org/drawingml/2006/main" prst="roundRect">
            <a:avLst>
              <a:gd name="adj" fmla="val 1521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0B981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5B8523A-3104-471D-A9FB-8BB0E06A42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1504950"/>
            <a:ext cx="2095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64748B"/>
                </a:solidFill>
              </a:defRPr>
            </a:pPr>
            <a:r>
              <a:rPr sz="900" b="1">
                <a:solidFill>
                  <a:srgbClr val="64748B"/>
                </a:solidFill>
              </a:rPr>
              <a:t>Max CV (100%)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4C71F03-5204-4CE8-9932-BC1FB214BF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1752600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0B981"/>
                </a:solidFill>
              </a:defRPr>
            </a:pPr>
            <a:r>
              <a:rPr sz="1950" b="1">
                <a:solidFill>
                  <a:srgbClr val="10B981"/>
                </a:solidFill>
              </a:rPr>
              <a:t>0.492%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1E9E04D-D7C6-4EF0-8F59-FD4F6CC452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333500"/>
            <a:ext cx="2457450" cy="876300"/>
          </a:xfrm>
          <a:prstGeom xmlns:a="http://schemas.openxmlformats.org/drawingml/2006/main" prst="roundRect">
            <a:avLst>
              <a:gd name="adj" fmla="val 1521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92400E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6741FF3-AD86-4AFF-BCCC-64F9AE1220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504950"/>
            <a:ext cx="2095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64748B"/>
                </a:solidFill>
              </a:defRPr>
            </a:pPr>
            <a:r>
              <a:rPr sz="900" b="1">
                <a:solidFill>
                  <a:srgbClr val="64748B"/>
                </a:solidFill>
              </a:rPr>
              <a:t>Max worst (315%)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E8BC7E2-1B4C-4B14-B225-B918DFCAC8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752600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92400E"/>
                </a:solidFill>
              </a:defRPr>
            </a:pPr>
            <a:r>
              <a:rPr sz="1950" b="1">
                <a:solidFill>
                  <a:srgbClr val="92400E"/>
                </a:solidFill>
              </a:rPr>
              <a:t>1.41%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2FE31B9-E809-4589-970D-7DD93D509D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1333500"/>
            <a:ext cx="2457450" cy="876300"/>
          </a:xfrm>
          <a:prstGeom xmlns:a="http://schemas.openxmlformats.org/drawingml/2006/main" prst="roundRect">
            <a:avLst>
              <a:gd name="adj" fmla="val 1521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47857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09139BA-B9E9-474F-A007-A600A1FC62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1504950"/>
            <a:ext cx="2095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64748B"/>
                </a:solidFill>
              </a:defRPr>
            </a:pPr>
            <a:r>
              <a:rPr sz="900" b="1">
                <a:solidFill>
                  <a:srgbClr val="64748B"/>
                </a:solidFill>
              </a:rPr>
              <a:t>单台结论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B83CBB1-C372-4A60-A94E-5BD953E15D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1752600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047857"/>
                </a:solidFill>
              </a:defRPr>
            </a:pPr>
            <a:r>
              <a:rPr sz="2250" b="1">
                <a:solidFill>
                  <a:srgbClr val="047857"/>
                </a:solidFill>
              </a:rPr>
              <a:t>PASS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2F8CC7A-413C-4037-A577-0E682BE201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52700"/>
            <a:ext cx="6019800" cy="3009900"/>
          </a:xfrm>
          <a:prstGeom xmlns:a="http://schemas.openxmlformats.org/drawingml/2006/main" prst="roundRect">
            <a:avLst>
              <a:gd name="adj" fmla="val 443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graphicFrame>
        <p:nvGraphicFramePr>
          <p:cNvPr id="51" name="Chart"/>
          <p:cNvGraphicFramePr/>
          <p:nvPr/>
        </p:nvGraphicFramePr>
        <p:xfrm>
          <a:off xmlns:a="http://schemas.openxmlformats.org/drawingml/2006/main" x="876300" y="2819400"/>
          <a:ext xmlns:a="http://schemas.openxmlformats.org/drawingml/2006/main" cx="5467350" cy="23241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71f7ec80235144e1"/>
          </a:graphicData>
        </a:graphic>
      </p:graphicFrame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7B5681B-71BE-4F06-9CDE-D1225DC4BC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257800"/>
            <a:ext cx="5410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88">
                <a:solidFill>
                  <a:srgbClr val="64748B"/>
                </a:solidFill>
              </a:defRPr>
            </a:pPr>
            <a:r>
              <a:rPr sz="788">
                <a:solidFill>
                  <a:srgbClr val="64748B"/>
                </a:solidFill>
              </a:rPr>
              <a:t>规格参考：1ul CV QC 4%；worst channel CV QC 5.6%。图中纵轴按单台数据范围展示，因此规格线未画入。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DEECB82-061E-4639-B5C3-EF61BB724E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2552700"/>
            <a:ext cx="4648200" cy="3009900"/>
          </a:xfrm>
          <a:prstGeom xmlns:a="http://schemas.openxmlformats.org/drawingml/2006/main" prst="roundRect">
            <a:avLst>
              <a:gd name="adj" fmla="val 443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1B9A6B4-9D0B-4C09-8328-DB5A0C79D3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800350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0F172A"/>
                </a:solidFill>
              </a:defRPr>
            </a:pPr>
            <a:r>
              <a:rPr sz="1650" b="1">
                <a:solidFill>
                  <a:srgbClr val="0F172A"/>
                </a:solidFill>
              </a:rPr>
              <a:t>具体分析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23630C0-6295-4A2E-A7E9-09EE8CA5D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32575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B981"/>
          </a:solidFill>
          <a:ln xmlns:a="http://schemas.openxmlformats.org/drawingml/2006/main" w="0">
            <a:solidFill>
              <a:srgbClr val="10B981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17CAA66-A14D-4DBA-B51B-5256FA7DE7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3200400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0F172A"/>
                </a:solidFill>
              </a:defRPr>
            </a:pPr>
            <a:r>
              <a:rPr sz="1125" b="1">
                <a:solidFill>
                  <a:srgbClr val="0F172A"/>
                </a:solidFill>
              </a:rPr>
              <a:t>趋势观察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E8A82DA-3C07-41B0-84D3-0E49F330F4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3429000"/>
            <a:ext cx="3619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13">
                <a:solidFill>
                  <a:srgbClr val="475569"/>
                </a:solidFill>
              </a:defRPr>
            </a:pPr>
            <a:r>
              <a:rPr sz="1013">
                <a:solidFill>
                  <a:srgbClr val="475569"/>
                </a:solidFill>
              </a:rPr>
              <a:t>4 台中整体 CV 水平最低，max CV 仅 0.492%；315% 节点 worst channel CV 升至 1.41%，但仍有充分规格裕量。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C4071DC-C9F2-4E9B-8FEB-56E69319FE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39814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F59E0B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9DA4373-9DF9-40F2-AA02-D74FEAC07A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3924300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0F172A"/>
                </a:solidFill>
              </a:defRPr>
            </a:pPr>
            <a:r>
              <a:rPr sz="1125" b="1">
                <a:solidFill>
                  <a:srgbClr val="0F172A"/>
                </a:solidFill>
              </a:rPr>
              <a:t>数据备注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586113A-585F-478A-BA64-4C6B07E095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4152900"/>
            <a:ext cx="3619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13">
                <a:solidFill>
                  <a:srgbClr val="475569"/>
                </a:solidFill>
              </a:defRPr>
            </a:pPr>
            <a:r>
              <a:rPr sz="1013">
                <a:solidFill>
                  <a:srgbClr val="475569"/>
                </a:solidFill>
              </a:rPr>
              <a:t>392% 节点 CV 为 0.456%，worst channel CV 为 0.79%；plate4/5 为 #DIV/0!，需补测或注明按前三板统计。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E12CD8E-833B-4CB1-B9A7-CF93052500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47053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B981"/>
          </a:solidFill>
          <a:ln xmlns:a="http://schemas.openxmlformats.org/drawingml/2006/main" w="0">
            <a:solidFill>
              <a:srgbClr val="10B981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FF08E31-03BE-411E-9278-9AACB5BFB8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4648200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0F172A"/>
                </a:solidFill>
              </a:defRPr>
            </a:pPr>
            <a:r>
              <a:rPr sz="1125" b="1">
                <a:solidFill>
                  <a:srgbClr val="0F172A"/>
                </a:solidFill>
              </a:rPr>
              <a:t>单台判定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1B406B3-1D0E-4F7A-B88F-442A592980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4876800"/>
            <a:ext cx="3619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13">
                <a:solidFill>
                  <a:srgbClr val="475569"/>
                </a:solidFill>
              </a:defRPr>
            </a:pPr>
            <a:r>
              <a:rPr sz="1013">
                <a:solidFill>
                  <a:srgbClr val="475569"/>
                </a:solidFill>
              </a:rPr>
              <a:t>CV 表现平稳，未见失效记录，单台判定通过。</a:t>
            </a:r>
          </a:p>
        </p:txBody>
      </p:sp>
      <p:graphicFrame>
        <p:nvGraphicFramePr>
          <p:cNvPr id="64" name=""/>
          <p:cNvGraphicFramePr/>
          <p:nvPr/>
        </p:nvGraphicFramePr>
        <p:xfrm>
          <a:off xmlns:a="http://schemas.openxmlformats.org/drawingml/2006/main" x="609600" y="5753100"/>
          <a:ext xmlns:a="http://schemas.openxmlformats.org/drawingml/2006/main" cx="10991850" cy="552450"/>
        </p:xfrm>
        <a:graphic xmlns:a="http://schemas.openxmlformats.org/drawingml/2006/main">
          <a:graphicData uri="http://schemas.openxmlformats.org/drawingml/2006/table">
            <a:tbl>
              <a:tblPr firstRow="1" bandRow="1"/>
              <a:tblGrid>
                <a:gridCol w="990600"/>
                <a:gridCol w="2000250"/>
                <a:gridCol w="2000250"/>
                <a:gridCol w="2000250"/>
                <a:gridCol w="2000250"/>
                <a:gridCol w="2000250"/>
              </a:tblGrid>
              <a:tr h="184150"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</a:rPr>
                        <a:t>节点</a:t>
                      </a:r>
                    </a:p>
                  </a:txBody>
                  <a:tcPr marL="91440" marR="91440" marT="45720" marB="45720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</a:rPr>
                        <a:t>0%</a:t>
                      </a:r>
                    </a:p>
                  </a:txBody>
                  <a:tcPr marL="91440" marR="91440" marT="45720" marB="45720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</a:rPr>
                        <a:t>100%</a:t>
                      </a:r>
                    </a:p>
                  </a:txBody>
                  <a:tcPr marL="91440" marR="91440" marT="45720" marB="45720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</a:rPr>
                        <a:t>200%</a:t>
                      </a:r>
                    </a:p>
                  </a:txBody>
                  <a:tcPr marL="91440" marR="91440" marT="45720" marB="45720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</a:rPr>
                        <a:t>315%</a:t>
                      </a:r>
                    </a:p>
                  </a:txBody>
                  <a:tcPr marL="91440" marR="91440" marT="45720" marB="45720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</a:rPr>
                        <a:t>392%</a:t>
                      </a:r>
                    </a:p>
                  </a:txBody>
                  <a:tcPr marL="91440" marR="91440" marT="45720" marB="45720">
                    <a:solidFill>
                      <a:srgbClr val="0F172A"/>
                    </a:solidFill>
                  </a:tcPr>
                </a:tc>
              </a:tr>
              <a:tr h="184150"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0F172A"/>
                          </a:solidFill>
                        </a:rPr>
                        <a:t>CV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0F172A"/>
                          </a:solidFill>
                        </a:rPr>
                        <a:t>0.421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0F172A"/>
                          </a:solidFill>
                        </a:rPr>
                        <a:t>0.492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0F172A"/>
                          </a:solidFill>
                        </a:rPr>
                        <a:t>0.416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0F172A"/>
                          </a:solidFill>
                        </a:rPr>
                        <a:t>0.436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0F172A"/>
                          </a:solidFill>
                        </a:rPr>
                        <a:t>0.456</a:t>
                      </a:r>
                    </a:p>
                  </a:txBody>
                  <a:tcPr marL="91440" marR="91440" marT="45720" marB="45720"/>
                </a:tc>
              </a:tr>
              <a:tr h="184150"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0F172A"/>
                          </a:solidFill>
                        </a:rPr>
                        <a:t>Worst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0F172A"/>
                          </a:solidFill>
                        </a:rPr>
                        <a:t>0.77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0F172A"/>
                          </a:solidFill>
                        </a:rPr>
                        <a:t>0.73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0F172A"/>
                          </a:solidFill>
                        </a:rPr>
                        <a:t>0.78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0F172A"/>
                          </a:solidFill>
                        </a:rPr>
                        <a:t>1.41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0F172A"/>
                          </a:solidFill>
                        </a:rPr>
                        <a:t>0.79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E42ADCA-3A45-41EF-A4F5-3A8769324F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553200"/>
            <a:ext cx="9906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>
                <a:solidFill>
                  <a:srgbClr val="64748B"/>
                </a:solidFill>
              </a:defRPr>
            </a:pPr>
            <a:r>
              <a:rPr sz="750">
                <a:solidFill>
                  <a:srgbClr val="64748B"/>
                </a:solidFill>
              </a:rPr>
              <a:t>Source: 96 LV PVT LIFETIME REPORT + optical CV workbooks | single pipette analysis: P2HHV3220250408A02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6F6CB4A-0B91-4E6B-AFC0-30B377784D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700" y="6534150"/>
            <a:ext cx="685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4748B"/>
                </a:solidFill>
              </a:defRPr>
            </a:pPr>
            <a:r>
              <a:rPr sz="900" b="1">
                <a:solidFill>
                  <a:srgbClr val="64748B"/>
                </a:solidFill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927186923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5DE766B-709A-4A36-9772-A526DC7C26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B981"/>
          </a:solidFill>
          <a:ln xmlns:a="http://schemas.openxmlformats.org/drawingml/2006/main" w="0">
            <a:solidFill>
              <a:srgbClr val="10B981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E1A85C8-DBC8-40B0-A650-1474ABFB2B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19100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047857"/>
                </a:solidFill>
              </a:defRPr>
            </a:pPr>
            <a:r>
              <a:rPr sz="900" b="1">
                <a:solidFill>
                  <a:srgbClr val="047857"/>
                </a:solidFill>
              </a:rPr>
              <a:t>PIPETTE ANALYSIS | P2HHV3220250410A07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5ECE8A5-CE60-4310-896A-00B6146B0A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85800"/>
            <a:ext cx="8763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0F172A"/>
                </a:solidFill>
              </a:defRPr>
            </a:pPr>
            <a:r>
              <a:rPr sz="2550" b="1">
                <a:solidFill>
                  <a:srgbClr val="0F172A"/>
                </a:solidFill>
              </a:rPr>
              <a:t>0410A07 单台分析：完成 392%，CV 判定通过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D6FF654-4442-43A0-B220-FE33EC8B98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742950"/>
            <a:ext cx="13525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1FAE5"/>
          </a:solidFill>
          <a:ln xmlns:a="http://schemas.openxmlformats.org/drawingml/2006/main" w="0">
            <a:solidFill>
              <a:srgbClr val="D1FAE5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047857"/>
                </a:solidFill>
              </a:defRPr>
            </a:pPr>
            <a:r>
              <a:rPr sz="975" b="1">
                <a:solidFill>
                  <a:srgbClr val="047857"/>
                </a:solidFill>
              </a:rPr>
              <a:t>Finish / 392%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42DFA92-8043-4706-AB86-CBE7C07E1C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33500"/>
            <a:ext cx="2457450" cy="876300"/>
          </a:xfrm>
          <a:prstGeom xmlns:a="http://schemas.openxmlformats.org/drawingml/2006/main" prst="roundRect">
            <a:avLst>
              <a:gd name="adj" fmla="val 1521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47857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E20C81B-EE55-4551-85B3-DC946855B7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504950"/>
            <a:ext cx="2095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64748B"/>
                </a:solidFill>
              </a:defRPr>
            </a:pPr>
            <a:r>
              <a:rPr sz="900" b="1">
                <a:solidFill>
                  <a:srgbClr val="64748B"/>
                </a:solidFill>
              </a:rPr>
              <a:t>最高进度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FD09CC9-7DDB-411B-ABFA-AF77B62E9A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752600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047857"/>
                </a:solidFill>
              </a:defRPr>
            </a:pPr>
            <a:r>
              <a:rPr sz="1950" b="1">
                <a:solidFill>
                  <a:srgbClr val="047857"/>
                </a:solidFill>
              </a:rPr>
              <a:t>392% / 1.02M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1C29AA0-6209-4CE5-B7DC-FE6C94F0B6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1333500"/>
            <a:ext cx="2457450" cy="876300"/>
          </a:xfrm>
          <a:prstGeom xmlns:a="http://schemas.openxmlformats.org/drawingml/2006/main" prst="roundRect">
            <a:avLst>
              <a:gd name="adj" fmla="val 1521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7C3AE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11FF22E-9A99-42F4-BE6A-EFC11F4367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1504950"/>
            <a:ext cx="2095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64748B"/>
                </a:solidFill>
              </a:defRPr>
            </a:pPr>
            <a:r>
              <a:rPr sz="900" b="1">
                <a:solidFill>
                  <a:srgbClr val="64748B"/>
                </a:solidFill>
              </a:rPr>
              <a:t>Max CV (315%)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C99632A-8FBA-4AB0-A806-8BEBE360C3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1752600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7C3AED"/>
                </a:solidFill>
              </a:defRPr>
            </a:pPr>
            <a:r>
              <a:rPr sz="1950" b="1">
                <a:solidFill>
                  <a:srgbClr val="7C3AED"/>
                </a:solidFill>
              </a:rPr>
              <a:t>0.724%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AA251E8-CD19-49CD-B4F5-58B223BBBC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333500"/>
            <a:ext cx="2457450" cy="876300"/>
          </a:xfrm>
          <a:prstGeom xmlns:a="http://schemas.openxmlformats.org/drawingml/2006/main" prst="roundRect">
            <a:avLst>
              <a:gd name="adj" fmla="val 1521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92400E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2B25B6E-6240-41BD-B93C-BDC3CDB778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504950"/>
            <a:ext cx="2095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64748B"/>
                </a:solidFill>
              </a:defRPr>
            </a:pPr>
            <a:r>
              <a:rPr sz="900" b="1">
                <a:solidFill>
                  <a:srgbClr val="64748B"/>
                </a:solidFill>
              </a:rPr>
              <a:t>Max worst (315%)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3552ED3-BA6A-4C25-82EC-3E57562088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752600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92400E"/>
                </a:solidFill>
              </a:defRPr>
            </a:pPr>
            <a:r>
              <a:rPr sz="1950" b="1">
                <a:solidFill>
                  <a:srgbClr val="92400E"/>
                </a:solidFill>
              </a:rPr>
              <a:t>1.60%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61A24F5-BE00-49E5-B4D0-6B40153E4E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1333500"/>
            <a:ext cx="2457450" cy="876300"/>
          </a:xfrm>
          <a:prstGeom xmlns:a="http://schemas.openxmlformats.org/drawingml/2006/main" prst="roundRect">
            <a:avLst>
              <a:gd name="adj" fmla="val 1521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47857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0DE18F4-C39D-48B1-8748-7330DB3D60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1504950"/>
            <a:ext cx="2095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64748B"/>
                </a:solidFill>
              </a:defRPr>
            </a:pPr>
            <a:r>
              <a:rPr sz="900" b="1">
                <a:solidFill>
                  <a:srgbClr val="64748B"/>
                </a:solidFill>
              </a:rPr>
              <a:t>单台结论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465D62C-CDB9-47D8-A31C-B3C51B066C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1752600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047857"/>
                </a:solidFill>
              </a:defRPr>
            </a:pPr>
            <a:r>
              <a:rPr sz="2250" b="1">
                <a:solidFill>
                  <a:srgbClr val="047857"/>
                </a:solidFill>
              </a:rPr>
              <a:t>PASS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30B9EFC-EB43-48CA-8F84-830DDB1EFD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52700"/>
            <a:ext cx="6019800" cy="3009900"/>
          </a:xfrm>
          <a:prstGeom xmlns:a="http://schemas.openxmlformats.org/drawingml/2006/main" prst="roundRect">
            <a:avLst>
              <a:gd name="adj" fmla="val 443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graphicFrame>
        <p:nvGraphicFramePr>
          <p:cNvPr id="51" name="Chart"/>
          <p:cNvGraphicFramePr/>
          <p:nvPr/>
        </p:nvGraphicFramePr>
        <p:xfrm>
          <a:off xmlns:a="http://schemas.openxmlformats.org/drawingml/2006/main" x="876300" y="2819400"/>
          <a:ext xmlns:a="http://schemas.openxmlformats.org/drawingml/2006/main" cx="5467350" cy="23241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1a6641bf969e40b1"/>
          </a:graphicData>
        </a:graphic>
      </p:graphicFrame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DE9422F-2D64-42C8-9805-B155A373B0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257800"/>
            <a:ext cx="5410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88">
                <a:solidFill>
                  <a:srgbClr val="64748B"/>
                </a:solidFill>
              </a:defRPr>
            </a:pPr>
            <a:r>
              <a:rPr sz="788">
                <a:solidFill>
                  <a:srgbClr val="64748B"/>
                </a:solidFill>
              </a:rPr>
              <a:t>规格参考：1ul CV QC 4%；worst channel CV QC 5.6%。图中纵轴按单台数据范围展示，因此规格线未画入。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AEE4B5F-BB70-474D-92D9-F4F8DE6769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2552700"/>
            <a:ext cx="4648200" cy="3009900"/>
          </a:xfrm>
          <a:prstGeom xmlns:a="http://schemas.openxmlformats.org/drawingml/2006/main" prst="roundRect">
            <a:avLst>
              <a:gd name="adj" fmla="val 443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FB8CF8C-636F-4845-A4C1-46DAB02050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800350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0F172A"/>
                </a:solidFill>
              </a:defRPr>
            </a:pPr>
            <a:r>
              <a:rPr sz="1650" b="1">
                <a:solidFill>
                  <a:srgbClr val="0F172A"/>
                </a:solidFill>
              </a:rPr>
              <a:t>具体分析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DC7E70A-D42A-4442-9EFD-2CA6DEF85C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32575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C3AED"/>
          </a:solidFill>
          <a:ln xmlns:a="http://schemas.openxmlformats.org/drawingml/2006/main" w="0">
            <a:solidFill>
              <a:srgbClr val="7C3AED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76211B6-9EC5-4E3E-9743-C4CCB76093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3200400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0F172A"/>
                </a:solidFill>
              </a:defRPr>
            </a:pPr>
            <a:r>
              <a:rPr sz="1125" b="1">
                <a:solidFill>
                  <a:srgbClr val="0F172A"/>
                </a:solidFill>
              </a:rPr>
              <a:t>趋势观察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6017E48-2DD9-4483-8226-DD64DE2582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3429000"/>
            <a:ext cx="3619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13">
                <a:solidFill>
                  <a:srgbClr val="475569"/>
                </a:solidFill>
              </a:defRPr>
            </a:pPr>
            <a:r>
              <a:rPr sz="1013">
                <a:solidFill>
                  <a:srgbClr val="475569"/>
                </a:solidFill>
              </a:rPr>
              <a:t>200% 与 315% 节点 CV 分别为 0.718% / 0.724%，高于初始点；392% 回落至 0.415%，未呈持续上升趋势。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5CED425-CA73-4723-BA39-9D3FC67B2A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39814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F59E0B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90C17AF-DD93-4D8F-9C49-61B526B4BF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3924300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0F172A"/>
                </a:solidFill>
              </a:defRPr>
            </a:pPr>
            <a:r>
              <a:rPr sz="1125" b="1">
                <a:solidFill>
                  <a:srgbClr val="0F172A"/>
                </a:solidFill>
              </a:rPr>
              <a:t>数据备注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53D7451-29A5-4CCA-86B8-783BF38E0D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4152900"/>
            <a:ext cx="3619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13">
                <a:solidFill>
                  <a:srgbClr val="475569"/>
                </a:solidFill>
              </a:defRPr>
            </a:pPr>
            <a:r>
              <a:rPr sz="1013">
                <a:solidFill>
                  <a:srgbClr val="475569"/>
                </a:solidFill>
              </a:rPr>
              <a:t>315% 节点 worst channel CV 最高为 1.60%，低于 5.6% QC 规格；392% plate4/5 为 #DIV/0!。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A8706E8-43F4-42CD-9203-788FC12B58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47053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B981"/>
          </a:solidFill>
          <a:ln xmlns:a="http://schemas.openxmlformats.org/drawingml/2006/main" w="0">
            <a:solidFill>
              <a:srgbClr val="10B981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11343A0-74E4-44D9-855E-F346F2BE78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4648200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0F172A"/>
                </a:solidFill>
              </a:defRPr>
            </a:pPr>
            <a:r>
              <a:rPr sz="1125" b="1">
                <a:solidFill>
                  <a:srgbClr val="0F172A"/>
                </a:solidFill>
              </a:rPr>
              <a:t>单台判定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511AD97-EF34-420E-8685-2A4FF53D8A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4876800"/>
            <a:ext cx="3619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13">
                <a:solidFill>
                  <a:srgbClr val="475569"/>
                </a:solidFill>
              </a:defRPr>
            </a:pPr>
            <a:r>
              <a:rPr sz="1013">
                <a:solidFill>
                  <a:srgbClr val="475569"/>
                </a:solidFill>
              </a:rPr>
              <a:t>中段 CV 有轻微抬升但未接近规格限值，后续回落，单台判定通过。</a:t>
            </a:r>
          </a:p>
        </p:txBody>
      </p:sp>
      <p:graphicFrame>
        <p:nvGraphicFramePr>
          <p:cNvPr id="64" name=""/>
          <p:cNvGraphicFramePr/>
          <p:nvPr/>
        </p:nvGraphicFramePr>
        <p:xfrm>
          <a:off xmlns:a="http://schemas.openxmlformats.org/drawingml/2006/main" x="609600" y="5753100"/>
          <a:ext xmlns:a="http://schemas.openxmlformats.org/drawingml/2006/main" cx="10991850" cy="552450"/>
        </p:xfrm>
        <a:graphic xmlns:a="http://schemas.openxmlformats.org/drawingml/2006/main">
          <a:graphicData uri="http://schemas.openxmlformats.org/drawingml/2006/table">
            <a:tbl>
              <a:tblPr firstRow="1" bandRow="1"/>
              <a:tblGrid>
                <a:gridCol w="990600"/>
                <a:gridCol w="2000250"/>
                <a:gridCol w="2000250"/>
                <a:gridCol w="2000250"/>
                <a:gridCol w="2000250"/>
                <a:gridCol w="2000250"/>
              </a:tblGrid>
              <a:tr h="184150"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</a:rPr>
                        <a:t>节点</a:t>
                      </a:r>
                    </a:p>
                  </a:txBody>
                  <a:tcPr marL="91440" marR="91440" marT="45720" marB="45720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</a:rPr>
                        <a:t>0%</a:t>
                      </a:r>
                    </a:p>
                  </a:txBody>
                  <a:tcPr marL="91440" marR="91440" marT="45720" marB="45720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</a:rPr>
                        <a:t>100%</a:t>
                      </a:r>
                    </a:p>
                  </a:txBody>
                  <a:tcPr marL="91440" marR="91440" marT="45720" marB="45720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</a:rPr>
                        <a:t>200%</a:t>
                      </a:r>
                    </a:p>
                  </a:txBody>
                  <a:tcPr marL="91440" marR="91440" marT="45720" marB="45720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</a:rPr>
                        <a:t>315%</a:t>
                      </a:r>
                    </a:p>
                  </a:txBody>
                  <a:tcPr marL="91440" marR="91440" marT="45720" marB="45720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</a:rPr>
                        <a:t>392%</a:t>
                      </a:r>
                    </a:p>
                  </a:txBody>
                  <a:tcPr marL="91440" marR="91440" marT="45720" marB="45720">
                    <a:solidFill>
                      <a:srgbClr val="0F172A"/>
                    </a:solidFill>
                  </a:tcPr>
                </a:tc>
              </a:tr>
              <a:tr h="184150"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0F172A"/>
                          </a:solidFill>
                        </a:rPr>
                        <a:t>CV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0F172A"/>
                          </a:solidFill>
                        </a:rPr>
                        <a:t>0.382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0F172A"/>
                          </a:solidFill>
                        </a:rPr>
                        <a:t>0.386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0F172A"/>
                          </a:solidFill>
                        </a:rPr>
                        <a:t>0.718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0F172A"/>
                          </a:solidFill>
                        </a:rPr>
                        <a:t>0.724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0F172A"/>
                          </a:solidFill>
                        </a:rPr>
                        <a:t>0.415</a:t>
                      </a:r>
                    </a:p>
                  </a:txBody>
                  <a:tcPr marL="91440" marR="91440" marT="45720" marB="45720"/>
                </a:tc>
              </a:tr>
              <a:tr h="184150"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0F172A"/>
                          </a:solidFill>
                        </a:rPr>
                        <a:t>Worst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0F172A"/>
                          </a:solidFill>
                        </a:rPr>
                        <a:t>0.75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0F172A"/>
                          </a:solidFill>
                        </a:rPr>
                        <a:t>0.68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0F172A"/>
                          </a:solidFill>
                        </a:rPr>
                        <a:t>0.68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0F172A"/>
                          </a:solidFill>
                        </a:rPr>
                        <a:t>1.60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0F172A"/>
                          </a:solidFill>
                        </a:rPr>
                        <a:t>0.70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F26018C-ECD9-4EF9-B23A-A28F4C6EF8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553200"/>
            <a:ext cx="9906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>
                <a:solidFill>
                  <a:srgbClr val="64748B"/>
                </a:solidFill>
              </a:defRPr>
            </a:pPr>
            <a:r>
              <a:rPr sz="750">
                <a:solidFill>
                  <a:srgbClr val="64748B"/>
                </a:solidFill>
              </a:rPr>
              <a:t>Source: 96 LV PVT LIFETIME REPORT + optical CV workbooks | single pipette analysis: P2HHV3220250410A07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2B4CB6E-E2E5-40E9-9C6E-B39584F03F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700" y="6534150"/>
            <a:ext cx="685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4748B"/>
                </a:solidFill>
              </a:defRPr>
            </a:pPr>
            <a:r>
              <a:rPr sz="900" b="1">
                <a:solidFill>
                  <a:srgbClr val="64748B"/>
                </a:solidFill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2128621384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189FB59-26EC-4AE8-BA16-C4E86BA076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B981"/>
          </a:solidFill>
          <a:ln xmlns:a="http://schemas.openxmlformats.org/drawingml/2006/main" w="0">
            <a:solidFill>
              <a:srgbClr val="10B981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C70EDA8-1DAC-47E1-BFBA-3A94E5F9CC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19100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047857"/>
                </a:solidFill>
              </a:defRPr>
            </a:pPr>
            <a:r>
              <a:rPr sz="900" b="1">
                <a:solidFill>
                  <a:srgbClr val="047857"/>
                </a:solidFill>
              </a:rPr>
              <a:t>PIPETTE ANALYSIS | P2HHV3220250411A03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2DE4534-3380-4BAB-8059-027A1E77E2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85800"/>
            <a:ext cx="8763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0F172A"/>
                </a:solidFill>
              </a:defRPr>
            </a:pPr>
            <a:r>
              <a:rPr sz="2550" b="1">
                <a:solidFill>
                  <a:srgbClr val="0F172A"/>
                </a:solidFill>
              </a:rPr>
              <a:t>0411A03 单台分析：完成 392%，CV 判定通过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0FE0D7A-26D6-4BEA-B73E-57F79E44AB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742950"/>
            <a:ext cx="13525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1FAE5"/>
          </a:solidFill>
          <a:ln xmlns:a="http://schemas.openxmlformats.org/drawingml/2006/main" w="0">
            <a:solidFill>
              <a:srgbClr val="D1FAE5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047857"/>
                </a:solidFill>
              </a:defRPr>
            </a:pPr>
            <a:r>
              <a:rPr sz="975" b="1">
                <a:solidFill>
                  <a:srgbClr val="047857"/>
                </a:solidFill>
              </a:rPr>
              <a:t>Finish / 392%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0EB94E4-BDAD-4270-96A5-B1D680962C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33500"/>
            <a:ext cx="2457450" cy="876300"/>
          </a:xfrm>
          <a:prstGeom xmlns:a="http://schemas.openxmlformats.org/drawingml/2006/main" prst="roundRect">
            <a:avLst>
              <a:gd name="adj" fmla="val 1521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47857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9683940-882E-48C0-8411-0CC418F441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504950"/>
            <a:ext cx="2095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64748B"/>
                </a:solidFill>
              </a:defRPr>
            </a:pPr>
            <a:r>
              <a:rPr sz="900" b="1">
                <a:solidFill>
                  <a:srgbClr val="64748B"/>
                </a:solidFill>
              </a:rPr>
              <a:t>最高进度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CFBAA06-58F0-494E-9084-777302A433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752600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047857"/>
                </a:solidFill>
              </a:defRPr>
            </a:pPr>
            <a:r>
              <a:rPr sz="1950" b="1">
                <a:solidFill>
                  <a:srgbClr val="047857"/>
                </a:solidFill>
              </a:rPr>
              <a:t>392% / 1.02M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67ECAE9-5FE7-452D-92F9-CEBDC91A0C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1333500"/>
            <a:ext cx="2457450" cy="876300"/>
          </a:xfrm>
          <a:prstGeom xmlns:a="http://schemas.openxmlformats.org/drawingml/2006/main" prst="roundRect">
            <a:avLst>
              <a:gd name="adj" fmla="val 1521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891B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0F308E4-34DC-4F2D-BFB3-6F6004D03D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1504950"/>
            <a:ext cx="2095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64748B"/>
                </a:solidFill>
              </a:defRPr>
            </a:pPr>
            <a:r>
              <a:rPr sz="900" b="1">
                <a:solidFill>
                  <a:srgbClr val="64748B"/>
                </a:solidFill>
              </a:rPr>
              <a:t>Max CV (315%)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D1D7022-E086-4E5A-B7D5-828BE7DCA7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1752600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0891B2"/>
                </a:solidFill>
              </a:defRPr>
            </a:pPr>
            <a:r>
              <a:rPr sz="1950" b="1">
                <a:solidFill>
                  <a:srgbClr val="0891B2"/>
                </a:solidFill>
              </a:rPr>
              <a:t>0.825%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F331D1E-2BCC-4974-A60F-D6151826ED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333500"/>
            <a:ext cx="2457450" cy="876300"/>
          </a:xfrm>
          <a:prstGeom xmlns:a="http://schemas.openxmlformats.org/drawingml/2006/main" prst="roundRect">
            <a:avLst>
              <a:gd name="adj" fmla="val 1521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92400E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21204E7-AD6C-4CF3-8956-FE4B1179ED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504950"/>
            <a:ext cx="2095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64748B"/>
                </a:solidFill>
              </a:defRPr>
            </a:pPr>
            <a:r>
              <a:rPr sz="900" b="1">
                <a:solidFill>
                  <a:srgbClr val="64748B"/>
                </a:solidFill>
              </a:rPr>
              <a:t>Max worst (0%)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EE3601B-303F-415C-8855-231F0AA470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752600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92400E"/>
                </a:solidFill>
              </a:defRPr>
            </a:pPr>
            <a:r>
              <a:rPr sz="1950" b="1">
                <a:solidFill>
                  <a:srgbClr val="92400E"/>
                </a:solidFill>
              </a:rPr>
              <a:t>2.88%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E1DAAF5-40ED-4897-8094-18C81CFE02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1333500"/>
            <a:ext cx="2457450" cy="876300"/>
          </a:xfrm>
          <a:prstGeom xmlns:a="http://schemas.openxmlformats.org/drawingml/2006/main" prst="roundRect">
            <a:avLst>
              <a:gd name="adj" fmla="val 1521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47857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E0A4E8B-372E-4B85-8C92-7A812C8907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1504950"/>
            <a:ext cx="2095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64748B"/>
                </a:solidFill>
              </a:defRPr>
            </a:pPr>
            <a:r>
              <a:rPr sz="900" b="1">
                <a:solidFill>
                  <a:srgbClr val="64748B"/>
                </a:solidFill>
              </a:rPr>
              <a:t>单台结论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E0AC8D3-5BAB-4BA9-9599-B500F6BDA0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1752600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047857"/>
                </a:solidFill>
              </a:defRPr>
            </a:pPr>
            <a:r>
              <a:rPr sz="2250" b="1">
                <a:solidFill>
                  <a:srgbClr val="047857"/>
                </a:solidFill>
              </a:rPr>
              <a:t>PASS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D160986-D781-40E1-BE64-E4AB1FA7B1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52700"/>
            <a:ext cx="6019800" cy="3009900"/>
          </a:xfrm>
          <a:prstGeom xmlns:a="http://schemas.openxmlformats.org/drawingml/2006/main" prst="roundRect">
            <a:avLst>
              <a:gd name="adj" fmla="val 443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graphicFrame>
        <p:nvGraphicFramePr>
          <p:cNvPr id="51" name="Chart"/>
          <p:cNvGraphicFramePr/>
          <p:nvPr/>
        </p:nvGraphicFramePr>
        <p:xfrm>
          <a:off xmlns:a="http://schemas.openxmlformats.org/drawingml/2006/main" x="876300" y="2819400"/>
          <a:ext xmlns:a="http://schemas.openxmlformats.org/drawingml/2006/main" cx="5467350" cy="23241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ae394fade32e4b74"/>
          </a:graphicData>
        </a:graphic>
      </p:graphicFrame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3EF077D-816F-42A2-B630-B56871689D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257800"/>
            <a:ext cx="5410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88">
                <a:solidFill>
                  <a:srgbClr val="64748B"/>
                </a:solidFill>
              </a:defRPr>
            </a:pPr>
            <a:r>
              <a:rPr sz="788">
                <a:solidFill>
                  <a:srgbClr val="64748B"/>
                </a:solidFill>
              </a:rPr>
              <a:t>规格参考：1ul CV QC 4%；worst channel CV QC 5.6%。图中纵轴按单台数据范围展示，因此规格线未画入。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93DBC84-7EEF-4C06-83F5-60AF86ABAB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2552700"/>
            <a:ext cx="4648200" cy="3009900"/>
          </a:xfrm>
          <a:prstGeom xmlns:a="http://schemas.openxmlformats.org/drawingml/2006/main" prst="roundRect">
            <a:avLst>
              <a:gd name="adj" fmla="val 443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92B9E24-A1DB-469C-A05B-D28BB9AF09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800350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0F172A"/>
                </a:solidFill>
              </a:defRPr>
            </a:pPr>
            <a:r>
              <a:rPr sz="1650" b="1">
                <a:solidFill>
                  <a:srgbClr val="0F172A"/>
                </a:solidFill>
              </a:rPr>
              <a:t>具体分析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CF2BAAC-DED2-497D-9F1E-A448272F52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32575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91B2"/>
          </a:solidFill>
          <a:ln xmlns:a="http://schemas.openxmlformats.org/drawingml/2006/main" w="0">
            <a:solidFill>
              <a:srgbClr val="0891B2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AAE4ED2-2300-4EEF-A5D5-BF473F4940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3200400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0F172A"/>
                </a:solidFill>
              </a:defRPr>
            </a:pPr>
            <a:r>
              <a:rPr sz="1125" b="1">
                <a:solidFill>
                  <a:srgbClr val="0F172A"/>
                </a:solidFill>
              </a:rPr>
              <a:t>趋势观察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30DDC1F-124F-4329-95B7-344BC3B5A5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3429000"/>
            <a:ext cx="3619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13">
                <a:solidFill>
                  <a:srgbClr val="475569"/>
                </a:solidFill>
              </a:defRPr>
            </a:pPr>
            <a:r>
              <a:rPr sz="1013">
                <a:solidFill>
                  <a:srgbClr val="475569"/>
                </a:solidFill>
              </a:rPr>
              <a:t>4 台中 max CV 和 max worst channel CV 最高；max worst 2.88% 出现在 0% 节点，仍低于 5.6% QC 规格。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9F8E2B6-8F20-47B3-8151-B8D06241F9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39814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F59E0B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D62B8DA-1A51-4957-9958-88C8DF735A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3924300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0F172A"/>
                </a:solidFill>
              </a:defRPr>
            </a:pPr>
            <a:r>
              <a:rPr sz="1125" b="1">
                <a:solidFill>
                  <a:srgbClr val="0F172A"/>
                </a:solidFill>
              </a:rPr>
              <a:t>数据备注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2048532-7A42-4A46-9970-068621A158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4152900"/>
            <a:ext cx="3619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13">
                <a:solidFill>
                  <a:srgbClr val="475569"/>
                </a:solidFill>
              </a:defRPr>
            </a:pPr>
            <a:r>
              <a:rPr sz="1013">
                <a:solidFill>
                  <a:srgbClr val="475569"/>
                </a:solidFill>
              </a:rPr>
              <a:t>0% 节点有 B4/F2/F6 high %D 备注；后续 CV 均在规格内。392% CV 为 0.718%，worst 为 2.44%，plate4/5 为 #DIV/0!。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A81AF0E-0EDF-4EB8-B0E1-ADA7B552F4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47053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B981"/>
          </a:solidFill>
          <a:ln xmlns:a="http://schemas.openxmlformats.org/drawingml/2006/main" w="0">
            <a:solidFill>
              <a:srgbClr val="10B981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1958B53-DCA3-45A3-B8A1-0F785FF4DA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4648200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0F172A"/>
                </a:solidFill>
              </a:defRPr>
            </a:pPr>
            <a:r>
              <a:rPr sz="1125" b="1">
                <a:solidFill>
                  <a:srgbClr val="0F172A"/>
                </a:solidFill>
              </a:rPr>
              <a:t>单台判定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BD0B4E0-84FD-4C93-A29D-7735534034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4876800"/>
            <a:ext cx="3619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13">
                <a:solidFill>
                  <a:srgbClr val="475569"/>
                </a:solidFill>
              </a:defRPr>
            </a:pPr>
            <a:r>
              <a:rPr sz="1013">
                <a:solidFill>
                  <a:srgbClr val="475569"/>
                </a:solidFill>
              </a:rPr>
              <a:t>虽为 4 台中风险最高样机，但可用 CV 未超规格，未见持续恶化或失效记录，单台判定通过。</a:t>
            </a:r>
          </a:p>
        </p:txBody>
      </p:sp>
      <p:graphicFrame>
        <p:nvGraphicFramePr>
          <p:cNvPr id="64" name=""/>
          <p:cNvGraphicFramePr/>
          <p:nvPr/>
        </p:nvGraphicFramePr>
        <p:xfrm>
          <a:off xmlns:a="http://schemas.openxmlformats.org/drawingml/2006/main" x="609600" y="5753100"/>
          <a:ext xmlns:a="http://schemas.openxmlformats.org/drawingml/2006/main" cx="10991850" cy="552450"/>
        </p:xfrm>
        <a:graphic xmlns:a="http://schemas.openxmlformats.org/drawingml/2006/main">
          <a:graphicData uri="http://schemas.openxmlformats.org/drawingml/2006/table">
            <a:tbl>
              <a:tblPr firstRow="1" bandRow="1"/>
              <a:tblGrid>
                <a:gridCol w="990600"/>
                <a:gridCol w="2000250"/>
                <a:gridCol w="2000250"/>
                <a:gridCol w="2000250"/>
                <a:gridCol w="2000250"/>
                <a:gridCol w="2000250"/>
              </a:tblGrid>
              <a:tr h="184150"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</a:rPr>
                        <a:t>节点</a:t>
                      </a:r>
                    </a:p>
                  </a:txBody>
                  <a:tcPr marL="91440" marR="91440" marT="45720" marB="45720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</a:rPr>
                        <a:t>0%</a:t>
                      </a:r>
                    </a:p>
                  </a:txBody>
                  <a:tcPr marL="91440" marR="91440" marT="45720" marB="45720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</a:rPr>
                        <a:t>100%</a:t>
                      </a:r>
                    </a:p>
                  </a:txBody>
                  <a:tcPr marL="91440" marR="91440" marT="45720" marB="45720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</a:rPr>
                        <a:t>200%</a:t>
                      </a:r>
                    </a:p>
                  </a:txBody>
                  <a:tcPr marL="91440" marR="91440" marT="45720" marB="45720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</a:rPr>
                        <a:t>315%</a:t>
                      </a:r>
                    </a:p>
                  </a:txBody>
                  <a:tcPr marL="91440" marR="91440" marT="45720" marB="45720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</a:rPr>
                        <a:t>392%</a:t>
                      </a:r>
                    </a:p>
                  </a:txBody>
                  <a:tcPr marL="91440" marR="91440" marT="45720" marB="45720">
                    <a:solidFill>
                      <a:srgbClr val="0F172A"/>
                    </a:solidFill>
                  </a:tcPr>
                </a:tc>
              </a:tr>
              <a:tr h="184150"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0F172A"/>
                          </a:solidFill>
                        </a:rPr>
                        <a:t>CV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0F172A"/>
                          </a:solidFill>
                        </a:rPr>
                        <a:t>0.815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0F172A"/>
                          </a:solidFill>
                        </a:rPr>
                        <a:t>0.551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0F172A"/>
                          </a:solidFill>
                        </a:rPr>
                        <a:t>0.469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0F172A"/>
                          </a:solidFill>
                        </a:rPr>
                        <a:t>0.825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0F172A"/>
                          </a:solidFill>
                        </a:rPr>
                        <a:t>0.718</a:t>
                      </a:r>
                    </a:p>
                  </a:txBody>
                  <a:tcPr marL="91440" marR="91440" marT="45720" marB="45720"/>
                </a:tc>
              </a:tr>
              <a:tr h="184150"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0F172A"/>
                          </a:solidFill>
                        </a:rPr>
                        <a:t>Worst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0F172A"/>
                          </a:solidFill>
                        </a:rPr>
                        <a:t>2.88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0F172A"/>
                          </a:solidFill>
                        </a:rPr>
                        <a:t>0.99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0F172A"/>
                          </a:solidFill>
                        </a:rPr>
                        <a:t>0.57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0F172A"/>
                          </a:solidFill>
                        </a:rPr>
                        <a:t>1.76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0F172A"/>
                          </a:solidFill>
                        </a:rPr>
                        <a:t>2.44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61A9965-DA2A-4C15-87AE-ACAEDFA749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553200"/>
            <a:ext cx="9906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>
                <a:solidFill>
                  <a:srgbClr val="64748B"/>
                </a:solidFill>
              </a:defRPr>
            </a:pPr>
            <a:r>
              <a:rPr sz="750">
                <a:solidFill>
                  <a:srgbClr val="64748B"/>
                </a:solidFill>
              </a:rPr>
              <a:t>Source: 96 LV PVT LIFETIME REPORT + optical CV workbooks | single pipette analysis: P2HHV3220250411A03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F0573A1-8AFD-4B6A-A0FA-7C97D3D453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700" y="6534150"/>
            <a:ext cx="685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4748B"/>
                </a:solidFill>
              </a:defRPr>
            </a:pPr>
            <a:r>
              <a:rPr sz="900" b="1">
                <a:solidFill>
                  <a:srgbClr val="64748B"/>
                </a:solidFill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202795196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2026-06-15T02:55:30.8790000Z</dcterms:created>
  <dcterms:modified xsi:type="dcterms:W3CDTF">2026-06-15T02:55:30.8790000Z</dcterms:modified>
</coreProperties>
</file>