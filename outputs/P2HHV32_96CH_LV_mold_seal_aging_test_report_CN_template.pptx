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 CV</c:f>
              <c:strCache>
                <c:ptCount val="1"/>
                <c:pt idx="0">
                  <c:v>最大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{0.54,0.86,0.69,0.72,0.64}</c:f>
              <c:numCache>
                <c:formatCode>0.0</c:formatCode>
                <c:ptCount val="5"/>
                <c:pt idx="0">
                  <c:v>0.54</c:v>
                </c:pt>
                <c:pt idx="1">
                  <c:v>0.86</c:v>
                </c:pt>
                <c:pt idx="2">
                  <c:v>0.69</c:v>
                </c:pt>
                <c:pt idx="3">
                  <c:v>0.72</c:v>
                </c:pt>
                <c:pt idx="4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{4,4,4,4,4}</c:f>
              <c:numCache>
                <c:formatCode>0.0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客户 5%</c:f>
              <c:strCache>
                <c:ptCount val="1"/>
                <c:pt idx="0">
                  <c:v>客户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{5,5,5,5,5}</c:f>
              <c:numCache>
                <c:formatCode>0.0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c41e3e7-ba27-40bd-b092-e86618727c2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最大最差通道 CV</c:f>
              <c:strCache>
                <c:ptCount val="1"/>
                <c:pt idx="0">
                  <c:v>最大最差通道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F59E0B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{3,3.04,2.57,1.15,1.92}</c:f>
              <c:numCache>
                <c:formatCode>0.0</c:formatCode>
                <c:ptCount val="5"/>
                <c:pt idx="0">
                  <c:v>3</c:v>
                </c:pt>
                <c:pt idx="1">
                  <c:v>3.04</c:v>
                </c:pt>
                <c:pt idx="2">
                  <c:v>2.57</c:v>
                </c:pt>
                <c:pt idx="3">
                  <c:v>1.15</c:v>
                </c:pt>
                <c:pt idx="4">
                  <c:v>1.92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{5.6,5.6,5.6,5.6,5.6}</c:f>
              <c:numCache>
                <c:formatCode>0.0</c:formatCode>
                <c:ptCount val="5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  <c:pt idx="4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ac47db-5d11-4915-9a14-2c5488468002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{0.44,0.54,0.42,0.54,0.35}</c:f>
              <c:numCache>
                <c:formatCode>0.0</c:formatCode>
                <c:ptCount val="5"/>
                <c:pt idx="0">
                  <c:v>0.44</c:v>
                </c:pt>
                <c:pt idx="1">
                  <c:v>0.54</c:v>
                </c:pt>
                <c:pt idx="2">
                  <c:v>0.42</c:v>
                </c:pt>
                <c:pt idx="3">
                  <c:v>0.54</c:v>
                </c:pt>
                <c:pt idx="4">
                  <c:v>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{0.76,1.01,0.73,3,0.71}</c:f>
              <c:numCache>
                <c:formatCode>0.0</c:formatCode>
                <c:ptCount val="5"/>
                <c:pt idx="0">
                  <c:v>0.76</c:v>
                </c:pt>
                <c:pt idx="1">
                  <c:v>1.01</c:v>
                </c:pt>
                <c:pt idx="2">
                  <c:v>0.73</c:v>
                </c:pt>
                <c:pt idx="3">
                  <c:v>3</c:v>
                </c:pt>
                <c:pt idx="4">
                  <c:v>0.71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6d50b2f-13da-42ea-b724-12591dbcec05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{0.36,0.86,0.53,0.36,0.56}</c:f>
              <c:numCache>
                <c:formatCode>0.0</c:formatCode>
                <c:ptCount val="5"/>
                <c:pt idx="0">
                  <c:v>0.36</c:v>
                </c:pt>
                <c:pt idx="1">
                  <c:v>0.86</c:v>
                </c:pt>
                <c:pt idx="2">
                  <c:v>0.53</c:v>
                </c:pt>
                <c:pt idx="3">
                  <c:v>0.36</c:v>
                </c:pt>
                <c:pt idx="4">
                  <c:v>0.56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{0.67,3.04,0.76,0.99,0.8}</c:f>
              <c:numCache>
                <c:formatCode>0.0</c:formatCode>
                <c:ptCount val="5"/>
                <c:pt idx="0">
                  <c:v>0.67</c:v>
                </c:pt>
                <c:pt idx="1">
                  <c:v>3.04</c:v>
                </c:pt>
                <c:pt idx="2">
                  <c:v>0.76</c:v>
                </c:pt>
                <c:pt idx="3">
                  <c:v>0.99</c:v>
                </c:pt>
                <c:pt idx="4">
                  <c:v>0.8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d58a792-bf7d-4a50-833c-3ea4b3b12a37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{0.42,0.69,0.47,0.41,0.37}</c:f>
              <c:numCache>
                <c:formatCode>0.0</c:formatCode>
                <c:ptCount val="5"/>
                <c:pt idx="0">
                  <c:v>0.42</c:v>
                </c:pt>
                <c:pt idx="1">
                  <c:v>0.69</c:v>
                </c:pt>
                <c:pt idx="2">
                  <c:v>0.47</c:v>
                </c:pt>
                <c:pt idx="3">
                  <c:v>0.41</c:v>
                </c:pt>
                <c:pt idx="4">
                  <c:v>0.37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{0.62,2.57,0.87,0.68,0.72}</c:f>
              <c:numCache>
                <c:formatCode>0.0</c:formatCode>
                <c:ptCount val="5"/>
                <c:pt idx="0">
                  <c:v>0.62</c:v>
                </c:pt>
                <c:pt idx="1">
                  <c:v>2.57</c:v>
                </c:pt>
                <c:pt idx="2">
                  <c:v>0.87</c:v>
                </c:pt>
                <c:pt idx="3">
                  <c:v>0.68</c:v>
                </c:pt>
                <c:pt idx="4">
                  <c:v>0.72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4763017-1b97-4794-a9f9-68543d4cf249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{0.49,0.72,0.5,0.35,0.38}</c:f>
              <c:numCache>
                <c:formatCode>0.0</c:formatCode>
                <c:ptCount val="5"/>
                <c:pt idx="0">
                  <c:v>0.49</c:v>
                </c:pt>
                <c:pt idx="1">
                  <c:v>0.72</c:v>
                </c:pt>
                <c:pt idx="2">
                  <c:v>0.5</c:v>
                </c:pt>
                <c:pt idx="3">
                  <c:v>0.35</c:v>
                </c:pt>
                <c:pt idx="4">
                  <c:v>0.38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{0.81,1.15,0.63,0.66,0.54}</c:f>
              <c:numCache>
                <c:formatCode>0.0</c:formatCode>
                <c:ptCount val="5"/>
                <c:pt idx="0">
                  <c:v>0.81</c:v>
                </c:pt>
                <c:pt idx="1">
                  <c:v>1.15</c:v>
                </c:pt>
                <c:pt idx="2">
                  <c:v>0.63</c:v>
                </c:pt>
                <c:pt idx="3">
                  <c:v>0.66</c:v>
                </c:pt>
                <c:pt idx="4">
                  <c:v>0.54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3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a81cf45-71a8-4b54-8667-1e69fca677b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{0.47,0.64,0.45,0.44,0.37}</c:f>
              <c:numCache>
                <c:formatCode>0.0</c:formatCode>
                <c:ptCount val="5"/>
                <c:pt idx="0">
                  <c:v>0.47</c:v>
                </c:pt>
                <c:pt idx="1">
                  <c:v>0.64</c:v>
                </c:pt>
                <c:pt idx="2">
                  <c:v>0.45</c:v>
                </c:pt>
                <c:pt idx="3">
                  <c:v>0.44</c:v>
                </c:pt>
                <c:pt idx="4">
                  <c:v>0.37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{0.72,0.82,0.78,1.92,0.61}</c:f>
              <c:numCache>
                <c:formatCode>0.0</c:formatCode>
                <c:ptCount val="5"/>
                <c:pt idx="0">
                  <c:v>0.72</c:v>
                </c:pt>
                <c:pt idx="1">
                  <c:v>0.82</c:v>
                </c:pt>
                <c:pt idx="2">
                  <c:v>0.78</c:v>
                </c:pt>
                <c:pt idx="3">
                  <c:v>1.92</c:v>
                </c:pt>
                <c:pt idx="4">
                  <c:v>0.61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3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6a02d5-d96e-4596-a7b9-32178b413a7e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P2HHV32 96CH LV Mold Seal 老化测试报告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执行摘要：5 台 Mold Seal 移液器全部完成并建议通过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总数量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 台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1145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2288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2288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 台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37338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38481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停止/失败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8481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 台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3530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4673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4673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4953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总体结论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5 台均在 RD Lifetime 明细表中标记为 Finish，并完成 392% / 1,020,000 cycles。</a:t>
            </a:r>
            <a:endParaRPr sz="840">
              <a:solidFill>
                <a:srgbClr val="333333"/>
              </a:solidFill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2420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0765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所有现有 5 uL CV 均低于 4% QC 和 5% 客户限值；最大 CV 为 0627A05 在 100% 的 0.86%。</a:t>
            </a:r>
            <a:endParaRPr sz="840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57187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242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最差通道 CV 最大为 0627A05 在 100% 的 3.04%，仍低于 5.6% QC 和 7% 客户限值。</a:t>
            </a:r>
            <a:endParaRPr sz="84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状态核对：明细表已 Finish，老化汇总表未同步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7" name="表格 226"/>
          <p:cNvGraphicFramePr/>
          <p:nvPr/>
        </p:nvGraphicFramePr>
        <p:xfrm>
          <a:off x="495300" y="1200150"/>
          <a:ext cx="8048625" cy="1952628"/>
        </p:xfrm>
        <a:graphic>
          <a:graphicData uri="http://schemas.openxmlformats.org/drawingml/2006/table">
            <a:tbl>
              <a:tblPr firstRow="1" bandRow="1"/>
              <a:tblGrid>
                <a:gridCol w="2171700"/>
                <a:gridCol w="1571625"/>
                <a:gridCol w="1571625"/>
                <a:gridCol w="1190625"/>
                <a:gridCol w="1543050"/>
              </a:tblGrid>
              <a:tr h="325438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老化汇总表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RD 明细表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最高点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报告判定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P2HHV3220250407A02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P2HHV3220250627A05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P2HHV3220250701A05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P2HHV3220250627A01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P2HHV3220250702A04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495300" y="3429000"/>
            <a:ext cx="3810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704850" y="36290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同步差异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704850" y="3867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>
                <a:solidFill>
                  <a:srgbClr val="4B5563"/>
                </a:solidFill>
              </a:defRPr>
            </a:pPr>
            <a:r>
              <a:rPr sz="765">
                <a:solidFill>
                  <a:srgbClr val="4B5563"/>
                </a:solidFill>
              </a:rPr>
              <a:t>5 台在 RD 明细表均已 Finish，但老化汇总表仍显示 200%（520000）及 200%-238% running。</a:t>
            </a:r>
            <a:endParaRPr sz="765">
              <a:solidFill>
                <a:srgbClr val="4B5563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667250" y="3429000"/>
            <a:ext cx="3714750" cy="742950"/>
          </a:xfrm>
          <a:prstGeom prst="roundRect">
            <a:avLst>
              <a:gd name="adj" fmla="val 10256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876800" y="36290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判定依据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876800" y="38671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>
                <a:solidFill>
                  <a:srgbClr val="4B5563"/>
                </a:solidFill>
              </a:defRPr>
            </a:pPr>
            <a:r>
              <a:rPr sz="765">
                <a:solidFill>
                  <a:srgbClr val="4B5563"/>
                </a:solidFill>
              </a:rPr>
              <a:t>本报告以 RD Lifetime 明细表、光学 CV sheet 顶部指标与阶段 PASS 记录为依据。</a:t>
            </a:r>
            <a:endParaRPr sz="76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0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5 uL 光学 CV：最大 0.86%，显著低于 4% QC 限值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3" name="Chart"/>
          <p:cNvGraphicFramePr/>
          <p:nvPr/>
        </p:nvGraphicFramePr>
        <p:xfrm>
          <a:off x="762000" y="1466850"/>
          <a:ext cx="528637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5255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287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0972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953250" y="196215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4285F4"/>
                </a:solidFill>
              </a:defRPr>
            </a:pPr>
            <a:r>
              <a:rPr sz="675" b="1">
                <a:solidFill>
                  <a:srgbClr val="4285F4"/>
                </a:solidFill>
              </a:rPr>
              <a:t>0627A05 / 100%</a:t>
            </a:r>
            <a:endParaRPr sz="675" b="1">
              <a:solidFill>
                <a:srgbClr val="4285F4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762750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3622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限值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25431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4.0%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6762750" y="32575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6934200" y="34290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观察结果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6934200" y="36576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>
                <a:solidFill>
                  <a:srgbClr val="4B5563"/>
                </a:solidFill>
              </a:defRPr>
            </a:pPr>
            <a:r>
              <a:rPr sz="690">
                <a:solidFill>
                  <a:srgbClr val="4B5563"/>
                </a:solidFill>
              </a:rPr>
              <a:t>所有机台最大 CV 均低于 1%，规格裕量充足。</a:t>
            </a:r>
            <a:endParaRPr sz="69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最差通道 CV：最大 3.04%，低于 5.6% QC 限值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810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66850"/>
          <a:ext cx="519112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7500" y="14287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61925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最高值</a:t>
            </a:r>
            <a:endParaRPr sz="975" b="1">
              <a:solidFill>
                <a:srgbClr val="B45309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885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B45309"/>
                </a:solidFill>
              </a:defRPr>
            </a:pPr>
            <a:r>
              <a:rPr sz="2175" b="1">
                <a:solidFill>
                  <a:srgbClr val="B45309"/>
                </a:solidFill>
              </a:rPr>
              <a:t>3.04%</a:t>
            </a:r>
            <a:endParaRPr sz="2175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23837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>
                <a:solidFill>
                  <a:srgbClr val="4B5563"/>
                </a:solidFill>
              </a:defRPr>
            </a:pPr>
            <a:r>
              <a:rPr sz="690">
                <a:solidFill>
                  <a:srgbClr val="4B5563"/>
                </a:solidFill>
              </a:rPr>
              <a:t>0627A05 / 100%，伴随 C8 LOW %D 备注。</a:t>
            </a:r>
            <a:endParaRPr sz="690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7500" y="27622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9813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结论</a:t>
            </a:r>
            <a:endParaRPr sz="975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238500"/>
            <a:ext cx="121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>
                <a:solidFill>
                  <a:srgbClr val="333333"/>
                </a:solidFill>
              </a:defRPr>
            </a:pPr>
            <a:r>
              <a:rPr sz="705">
                <a:solidFill>
                  <a:srgbClr val="333333"/>
                </a:solidFill>
              </a:rPr>
              <a:t>所有机台最差通道 CV 均未超过 5.6% QC 和 7% 客户限值。</a:t>
            </a:r>
            <a:endParaRPr sz="705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0407A02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 / 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0.54%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3.00%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全阶段 CV 处于 0.35%-0.54%，远低于 4% QC 限值；315% 最差通道 CV 为 3.00%，仍低于 5.6% QC 限值。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392% plate4/plate5 为 #DIV/0!。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明细表 Finish，完成 392% / 1,020,000 cycles，现有 CV 指标通过，建议通过归档。</a:t>
            </a:r>
            <a:endParaRPr sz="60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3.00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0627A05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3.04%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100% 阶段 CV 与最差通道 CV 为本机最高，但 CV 0.86% 和最差通道 3.04% 仍低于规格。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100% 有 C8 LOW %D in plate1；315% 备注“使用新验证 只测3盘”；315%/392% plate4/plate5 为 #DIV/0!。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明细表 Finish，现有 CV 指标满足规格；建议通过，并保留 C8 D% 与三盘数据范围备注。</a:t>
            </a:r>
            <a:endParaRPr sz="60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3.04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0701A05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0.69%</a:t>
            </a:r>
            <a:endParaRPr sz="1350" b="1">
              <a:solidFill>
                <a:srgbClr val="7C3AED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2.57%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100% 阶段短暂升高，后续 200%-392% 回落并保持稳定，最大 CV 0.69%。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392% plate4/plate5 为 #DIV/0!。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明细表 Finish，现有 CV 与最差通道 CV 均在规格内，建议通过。</a:t>
            </a:r>
            <a:endParaRPr sz="60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2.57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0627A01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0.72%</a:t>
            </a:r>
            <a:endParaRPr sz="1350" b="1">
              <a:solidFill>
                <a:srgbClr val="0891B2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1.15%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100% 阶段 CV 最高 0.72%，后续下降至 0.35%-0.50%；最差通道 CV 最大 1.15%，裕量充足。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315% 备注“使用新验证 只测3盘”；315%/392% plate4/plate5 为 #DIV/0!。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明细表 Finish，现有 CV 数据稳定且满足规格，建议通过。</a:t>
            </a:r>
            <a:endParaRPr sz="60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0702A04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0.64%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1.92%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CV 最大 0.64%，后续下降至 0.37%；315% 最差通道 CV 1.92%，仍明显低于 5.6% QC 限值。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75% 为跳过/#REF；315% 备注“使用新验证 只测3盘”；315%/392% plate4/plate5 为 #DIV/0!。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4B5563"/>
                </a:solidFill>
              </a:defRPr>
            </a:pPr>
            <a:r>
              <a:rPr sz="600">
                <a:solidFill>
                  <a:srgbClr val="4B5563"/>
                </a:solidFill>
              </a:rPr>
              <a:t>明细表 Finish，现有 CV 指标通过，建议通过。</a:t>
            </a:r>
            <a:endParaRPr sz="60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表格</Application>
  <PresentationFormat>Converted Presentation</PresentationFormat>
  <Paragraphs>489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Roboto</vt:lpstr>
      <vt:lpstr>苹方-简</vt:lpstr>
      <vt:lpstr>Material</vt:lpstr>
      <vt:lpstr>Office 主题​​</vt:lpstr>
      <vt:lpstr>P2HHV32 96CH LV Mold Seal 老化测试报告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Mold Seal 老化测试报告</dc:title>
  <dc:creator>Walnut Exporter</dc:creator>
  <cp:lastModifiedBy>Wye</cp:lastModifiedBy>
  <cp:revision>1</cp:revision>
  <dcterms:created xsi:type="dcterms:W3CDTF">2026-06-15T07:10:39Z</dcterms:created>
  <dcterms:modified xsi:type="dcterms:W3CDTF">2026-06-15T07:10:39Z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06C0912189770D616FA52F6A5159E995_42</vt:lpwstr>
  </property>
</Properties>
</file>