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Completion rate</c:f>
              <c:strCache>
                <c:ptCount val="1"/>
                <c:pt idx="0">
                  <c:v>Completion rate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{100,60}</c:f>
              <c:numCache>
                <c:formatCode>0</c:formatCode>
                <c:ptCount val="2"/>
                <c:pt idx="0">
                  <c:v>100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PASS rate</c:f>
              <c:strCache>
                <c:ptCount val="1"/>
                <c:pt idx="0">
                  <c:v>PASS rate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{85,40}</c:f>
              <c:numCache>
                <c:formatCode>0</c:formatCode>
                <c:ptCount val="2"/>
                <c:pt idx="0">
                  <c:v>85</c:v>
                </c:pt>
                <c:pt idx="1">
                  <c:v>40</c:v>
                </c:pt>
              </c:numCache>
            </c:numRef>
          </c:val>
        </c:ser>
        <c:ser>
          <c:idx val="2"/>
          <c:order val="2"/>
          <c:tx>
            <c:strRef>
              <c:f>Risk/Fail/Hold rate</c:f>
              <c:strCache>
                <c:ptCount val="1"/>
                <c:pt idx="0">
                  <c:v>Risk/Fail/Hold rate</c:v>
                </c:pt>
              </c:strCache>
            </c:strRef>
          </c:tx>
          <c:spPr>
            <a:solidFill>
              <a:srgbClr val="DC2626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{15,60}</c:f>
              <c:numCache>
                <c:formatCode>0</c:formatCode>
                <c:ptCount val="2"/>
                <c:pt idx="0">
                  <c:v>15</c:v>
                </c:pt>
                <c:pt idx="1">
                  <c:v>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10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Rate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81f7577-def4-4d32-b924-1ac86dc16e9f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Maximum CV</c:f>
              <c:strCache>
                <c:ptCount val="1"/>
                <c:pt idx="0">
                  <c:v>Maximum CV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{6.6,6.83}</c:f>
              <c:numCache>
                <c:formatCode>0.0</c:formatCode>
                <c:ptCount val="2"/>
                <c:pt idx="0">
                  <c:v>6.6</c:v>
                </c:pt>
                <c:pt idx="1">
                  <c:v>6.83</c:v>
                </c:pt>
              </c:numCache>
            </c:numRef>
          </c:val>
        </c:ser>
        <c:ser>
          <c:idx val="1"/>
          <c:order val="1"/>
          <c:tx>
            <c:strRef>
              <c:f>QC 4%</c:f>
              <c:strCache>
                <c:ptCount val="1"/>
                <c:pt idx="0">
                  <c:v>QC 4%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{4,4}</c:f>
              <c:numCache>
                <c:formatCode>0.0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</c:ser>
        <c:ser>
          <c:idx val="2"/>
          <c:order val="2"/>
          <c:tx>
            <c:strRef>
              <c:f>Customer 5%</c:f>
              <c:strCache>
                <c:ptCount val="1"/>
                <c:pt idx="0">
                  <c:v>Customer 5%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{5,5}</c:f>
              <c:numCache>
                <c:formatCode>0.0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.5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28cbf7-d61e-4625-a1d0-7169014910b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 worst-channel CV</c:f>
              <c:strCache>
                <c:ptCount val="1"/>
                <c:pt idx="0">
                  <c:v>Max worst-channel CV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{55.15,3.45}</c:f>
              <c:numCache>
                <c:formatCode>0</c:formatCode>
                <c:ptCount val="2"/>
                <c:pt idx="0">
                  <c:v>55.15</c:v>
                </c:pt>
                <c:pt idx="1">
                  <c:v>3.45</c:v>
                </c:pt>
              </c:numCache>
            </c:numRef>
          </c:val>
        </c:ser>
        <c:ser>
          <c:idx val="1"/>
          <c:order val="1"/>
          <c:tx>
            <c:strRef>
              <c:f>QC 5.6%</c:f>
              <c:strCache>
                <c:ptCount val="1"/>
                <c:pt idx="0">
                  <c:v>QC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{5.6,5.6}</c:f>
              <c:numCache>
                <c:formatCode>0</c:formatCode>
                <c:ptCount val="2"/>
                <c:pt idx="0">
                  <c:v>5.6</c:v>
                </c:pt>
                <c:pt idx="1">
                  <c:v>5.6</c:v>
                </c:pt>
              </c:numCache>
            </c:numRef>
          </c:val>
        </c:ser>
        <c:ser>
          <c:idx val="2"/>
          <c:order val="2"/>
          <c:tx>
            <c:strRef>
              <c:f>Customer 7%</c:f>
              <c:strCache>
                <c:ptCount val="1"/>
                <c:pt idx="0">
                  <c:v>Customer 7%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{"Mold Oring","OTP-O ring"}</c:f>
              <c:strCache>
                <c:ptCount val="2"/>
                <c:pt idx="0">
                  <c:v>Mold Oring</c:v>
                </c:pt>
                <c:pt idx="1">
                  <c:v>OTP-O ring</c:v>
                </c:pt>
              </c:strCache>
            </c:strRef>
          </c:cat>
          <c:val>
            <c:numRef>
              <c:f>{7,7}</c:f>
              <c:numCache>
                <c:formatCode>0</c:formatCode>
                <c:ptCount val="2"/>
                <c:pt idx="0">
                  <c:v>7</c:v>
                </c:pt>
                <c:pt idx="1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9a6da61-8a74-49bf-91c8-9d0f753b6ff7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P2HHV32 96CH LV Two O-ring Type Aging Test Comparison Report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2026.06.16</a:t>
            </a:r>
            <a:endParaRPr sz="135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SZ ENG</a:t>
            </a:r>
            <a:endParaRPr sz="135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Executive Summary: Mold Oring Completed Well; OTP-O Ring Risk Is Concentrated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19200"/>
            <a:ext cx="1526540" cy="73596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295400"/>
            <a:ext cx="12827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O-ring types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476375"/>
            <a:ext cx="128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Mold/OTP O</a:t>
            </a:r>
            <a:endParaRPr lang="en-US" sz="1350" b="1">
              <a:solidFill>
                <a:srgbClr val="4285F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ring</a:t>
            </a:r>
            <a:endParaRPr lang="en-US" sz="1350" b="1">
              <a:solidFill>
                <a:srgbClr val="4285F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114550" y="1219200"/>
            <a:ext cx="1526540" cy="73596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228850" y="1295400"/>
            <a:ext cx="12827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Total samples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228850" y="1476375"/>
            <a:ext cx="128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 units</a:t>
            </a:r>
            <a:endParaRPr sz="1350" b="1">
              <a:solidFill>
                <a:srgbClr val="00A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3733800" y="1219200"/>
            <a:ext cx="1526540" cy="735965"/>
          </a:xfrm>
          <a:prstGeom prst="roundRect">
            <a:avLst>
              <a:gd name="adj" fmla="val 13793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3848100" y="1295400"/>
            <a:ext cx="12827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Reached 392%/417%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848100" y="1476375"/>
            <a:ext cx="128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 units</a:t>
            </a:r>
            <a:endParaRPr sz="1350" b="1">
              <a:solidFill>
                <a:srgbClr val="00A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353050" y="1219200"/>
            <a:ext cx="1526540" cy="735965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5467350" y="1295400"/>
            <a:ext cx="12827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 / Fail / Hold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5467350" y="1476375"/>
            <a:ext cx="1282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units</a:t>
            </a:r>
            <a:endParaRPr sz="135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0" name="圆角矩形 229"/>
          <p:cNvSpPr>
            <a:spLocks noGrp="1"/>
          </p:cNvSpPr>
          <p:nvPr/>
        </p:nvSpPr>
        <p:spPr>
          <a:xfrm>
            <a:off x="495300" y="2038350"/>
            <a:ext cx="6346825" cy="261429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1" name="矩形 230"/>
          <p:cNvSpPr>
            <a:spLocks noGrp="1"/>
          </p:cNvSpPr>
          <p:nvPr/>
        </p:nvSpPr>
        <p:spPr>
          <a:xfrm>
            <a:off x="742950" y="22669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Findings</a:t>
            </a:r>
            <a:endParaRPr sz="12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2" name="椭圆 231"/>
          <p:cNvSpPr>
            <a:spLocks noGrp="1"/>
          </p:cNvSpPr>
          <p:nvPr/>
        </p:nvSpPr>
        <p:spPr>
          <a:xfrm>
            <a:off x="781050" y="267652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971550" y="26289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 includes 13 units; all completed 392% or 417%. Units 0407A01 and 0702A03 require focused follow-up.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4" name="椭圆 233"/>
          <p:cNvSpPr>
            <a:spLocks noGrp="1"/>
          </p:cNvSpPr>
          <p:nvPr/>
        </p:nvSpPr>
        <p:spPr>
          <a:xfrm>
            <a:off x="781050" y="3152775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5" name="矩形 234"/>
          <p:cNvSpPr>
            <a:spLocks noGrp="1"/>
          </p:cNvSpPr>
          <p:nvPr/>
        </p:nvSpPr>
        <p:spPr>
          <a:xfrm>
            <a:off x="971550" y="31051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OTP-O ring includes 5 units: only 2 clear PASS, 2 STOP/FAIL, and 1 QC risk. Recommend HOLD until RCA is closed.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781050" y="3629025"/>
            <a:ext cx="76200" cy="7620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971550" y="3581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Failure patterns differ: Mold Oring is mainly local leakage/O-ring rework and individual-channel D% risk; OTP-O ring is mainly low/no aspiration and leakage risk.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Two O-ring Type Test Status Snapshot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227" name="表格 226"/>
          <p:cNvGraphicFramePr/>
          <p:nvPr/>
        </p:nvGraphicFramePr>
        <p:xfrm>
          <a:off x="304800" y="1200150"/>
          <a:ext cx="8107045" cy="1773555"/>
        </p:xfrm>
        <a:graphic>
          <a:graphicData uri="http://schemas.openxmlformats.org/drawingml/2006/table">
            <a:tbl>
              <a:tblPr firstRow="1" bandRow="1"/>
              <a:tblGrid>
                <a:gridCol w="1264920"/>
                <a:gridCol w="528955"/>
                <a:gridCol w="528955"/>
                <a:gridCol w="528955"/>
                <a:gridCol w="690245"/>
                <a:gridCol w="621030"/>
                <a:gridCol w="758825"/>
                <a:gridCol w="735965"/>
                <a:gridCol w="1011555"/>
                <a:gridCol w="1437640"/>
              </a:tblGrid>
              <a:tr h="5911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Type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Sample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Complete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PASS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QC risk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HOLD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STOP/FAIL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 CV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 worst ch.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Overall decision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5911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Mold Oring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13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13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11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6.6%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55.15%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PASS with Risk Notes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</a:tr>
              <a:tr h="5911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OTP-O ring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6.83%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3.45%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HOLD / RCA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304165" y="3105150"/>
            <a:ext cx="3715385" cy="1420495"/>
          </a:xfrm>
          <a:prstGeom prst="roundRect">
            <a:avLst>
              <a:gd name="adj" fmla="val 6557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1085850" y="33337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</a:t>
            </a:r>
            <a:endParaRPr sz="1050" b="1">
              <a:solidFill>
                <a:srgbClr val="B4530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1085850" y="36385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Complete: 13/13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70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PASS: 11/13; Risk/Hold/Fail: 2/13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70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Decision: PASS with Risk Notes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781550" y="3105150"/>
            <a:ext cx="3578860" cy="1402080"/>
          </a:xfrm>
          <a:prstGeom prst="roundRect">
            <a:avLst>
              <a:gd name="adj" fmla="val 6557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4991100" y="333375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OTP-O ring</a:t>
            </a:r>
            <a:endParaRPr sz="105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991100" y="36385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Complete: 3/5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70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PASS: 2/5; Risk/Hold/Fail: 3/5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defRPr sz="70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Decision: HOLD / RCA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9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Completion and PASS Rates: OTP-O Ring Is Clearly Lower Than Mold Oring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92495" cy="324739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2" name="Chart"/>
          <p:cNvGraphicFramePr/>
          <p:nvPr/>
        </p:nvGraphicFramePr>
        <p:xfrm>
          <a:off x="661670" y="1311275"/>
          <a:ext cx="5699760" cy="296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200150"/>
            <a:ext cx="1492885" cy="85979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276350"/>
            <a:ext cx="1254125" cy="207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 complete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457325"/>
            <a:ext cx="1254125" cy="35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100%</a:t>
            </a:r>
            <a:endParaRPr sz="1350" b="1">
              <a:solidFill>
                <a:srgbClr val="00A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6762750" y="2133600"/>
            <a:ext cx="1492885" cy="85979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矩形 223"/>
          <p:cNvSpPr>
            <a:spLocks noGrp="1"/>
          </p:cNvSpPr>
          <p:nvPr/>
        </p:nvSpPr>
        <p:spPr>
          <a:xfrm>
            <a:off x="6877050" y="2209800"/>
            <a:ext cx="1254125" cy="207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 PASS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390775"/>
            <a:ext cx="1254125" cy="35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40%</a:t>
            </a:r>
            <a:endParaRPr sz="1350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6" name="圆角矩形 225"/>
          <p:cNvSpPr>
            <a:spLocks noGrp="1"/>
          </p:cNvSpPr>
          <p:nvPr/>
        </p:nvSpPr>
        <p:spPr>
          <a:xfrm>
            <a:off x="6762750" y="3105150"/>
            <a:ext cx="1492885" cy="1096645"/>
          </a:xfrm>
          <a:prstGeom prst="roundRect">
            <a:avLst>
              <a:gd name="adj" fmla="val 10811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7" name="矩形 226"/>
          <p:cNvSpPr>
            <a:spLocks noGrp="1"/>
          </p:cNvSpPr>
          <p:nvPr/>
        </p:nvSpPr>
        <p:spPr>
          <a:xfrm>
            <a:off x="6934200" y="3276600"/>
            <a:ext cx="895985" cy="2368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 Signal</a:t>
            </a:r>
            <a:endParaRPr sz="97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8" name="矩形 227"/>
          <p:cNvSpPr>
            <a:spLocks noGrp="1"/>
          </p:cNvSpPr>
          <p:nvPr/>
        </p:nvSpPr>
        <p:spPr>
          <a:xfrm>
            <a:off x="6934200" y="3486150"/>
            <a:ext cx="111506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8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OTP-O ring has 3/5 risk or failed units; Mold Oring has 2/13 units requiring follow-up.</a:t>
            </a:r>
            <a:endParaRPr sz="8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39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>
                <a:highlight>
                  <a:schemeClr val="lt1"/>
                </a:highlight>
                <a:sym typeface="+mn-ea"/>
              </a:rPr>
              <a:t>CV across all dispenses</a:t>
            </a: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: 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899785" cy="31419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652145" y="1311275"/>
          <a:ext cx="5603875" cy="2957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660515" y="1276350"/>
            <a:ext cx="1732280" cy="1194435"/>
          </a:xfrm>
          <a:prstGeom prst="roundRect">
            <a:avLst>
              <a:gd name="adj" fmla="val 7619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46530"/>
            <a:ext cx="791210" cy="181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Highest</a:t>
            </a:r>
            <a:endParaRPr sz="97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80210"/>
            <a:ext cx="1187450" cy="386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6.83%</a:t>
            </a:r>
            <a:endParaRPr sz="217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877050" y="2036445"/>
            <a:ext cx="1266190" cy="36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OTP-O ring / 0627A02 / 175%, D3/G9 low aspiration.</a:t>
            </a:r>
            <a:endParaRPr sz="8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660515" y="3147695"/>
            <a:ext cx="1732280" cy="1194435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3310890"/>
            <a:ext cx="989330" cy="181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</a:t>
            </a:r>
            <a:endParaRPr sz="975" b="1">
              <a:solidFill>
                <a:srgbClr val="B4530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3493770"/>
            <a:ext cx="1266190" cy="523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7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0407A01 reached 6.60% CV at 379%, related to D2 leakage / O-ring replacement.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6" name="Google Shape;221;p3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25" name="Google Shape;225;p34"/>
          <p:cNvSpPr>
            <a:spLocks noGrp="1"/>
          </p:cNvSpPr>
          <p:nvPr/>
        </p:nvSpPr>
        <p:spPr>
          <a:xfrm>
            <a:off x="476250" y="590550"/>
            <a:ext cx="7810500" cy="39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altLang="zh-CN">
                <a:highlight>
                  <a:schemeClr val="lt1"/>
                </a:highlight>
                <a:sym typeface="+mn-ea"/>
              </a:rPr>
              <a:t>CV of the worst channel</a:t>
            </a: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: Mold Oring Has a Significant Individual Spike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495300" y="1200150"/>
            <a:ext cx="6017895" cy="3310255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9" name="Chart"/>
          <p:cNvGraphicFramePr/>
          <p:nvPr/>
        </p:nvGraphicFramePr>
        <p:xfrm>
          <a:off x="781050" y="1466850"/>
          <a:ext cx="5596255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9" name="圆角矩形 228"/>
          <p:cNvSpPr>
            <a:spLocks noGrp="1"/>
          </p:cNvSpPr>
          <p:nvPr/>
        </p:nvSpPr>
        <p:spPr>
          <a:xfrm>
            <a:off x="6667500" y="1345565"/>
            <a:ext cx="1762125" cy="1468755"/>
          </a:xfrm>
          <a:prstGeom prst="roundRect">
            <a:avLst>
              <a:gd name="adj" fmla="val 7619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877050" y="1619250"/>
            <a:ext cx="76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Highest</a:t>
            </a:r>
            <a:endParaRPr sz="97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1" name="矩形 230"/>
          <p:cNvSpPr>
            <a:spLocks noGrp="1"/>
          </p:cNvSpPr>
          <p:nvPr/>
        </p:nvSpPr>
        <p:spPr>
          <a:xfrm>
            <a:off x="6877050" y="1885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55.15%</a:t>
            </a:r>
            <a:endParaRPr sz="217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2" name="矩形 231"/>
          <p:cNvSpPr>
            <a:spLocks noGrp="1"/>
          </p:cNvSpPr>
          <p:nvPr/>
        </p:nvSpPr>
        <p:spPr>
          <a:xfrm>
            <a:off x="6877050" y="223837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2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 / 0407A01 / 379%, D2 leakage.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3" name="圆角矩形 232"/>
          <p:cNvSpPr>
            <a:spLocks noGrp="1"/>
          </p:cNvSpPr>
          <p:nvPr/>
        </p:nvSpPr>
        <p:spPr>
          <a:xfrm>
            <a:off x="6667500" y="2974975"/>
            <a:ext cx="1837055" cy="1635125"/>
          </a:xfrm>
          <a:prstGeom prst="roundRect">
            <a:avLst>
              <a:gd name="adj" fmla="val 7619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4" name="矩形 233"/>
          <p:cNvSpPr>
            <a:spLocks noGrp="1"/>
          </p:cNvSpPr>
          <p:nvPr/>
        </p:nvSpPr>
        <p:spPr>
          <a:xfrm>
            <a:off x="6877050" y="2981325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</a:t>
            </a:r>
            <a:endParaRPr sz="97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5" name="矩形 234"/>
          <p:cNvSpPr>
            <a:spLocks noGrp="1"/>
          </p:cNvSpPr>
          <p:nvPr/>
        </p:nvSpPr>
        <p:spPr>
          <a:xfrm>
            <a:off x="6877050" y="336296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4B556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4B556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OTP-O ring max worst-channel CV is 3.45%, below 5.6% QC; its main risks are aspiration and leakage.</a:t>
            </a:r>
            <a:endParaRPr sz="1000">
              <a:solidFill>
                <a:srgbClr val="4B556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9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Mold Oring Type Analysis: Overall Can Move Forward, with Risk Closure Required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6905625" y="800100"/>
            <a:ext cx="1476375" cy="209550"/>
          </a:xfrm>
          <a:prstGeom prst="roundRect">
            <a:avLst>
              <a:gd name="adj" fmla="val 50000"/>
            </a:avLst>
          </a:prstGeom>
          <a:solidFill>
            <a:srgbClr val="FFE2A8"/>
          </a:solidFill>
          <a:ln w="0">
            <a:solidFill>
              <a:srgbClr val="FFE2A8"/>
            </a:solidFill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90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with risk notes</a:t>
            </a:r>
            <a:endParaRPr sz="690" b="1">
              <a:solidFill>
                <a:srgbClr val="B4530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Sample size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 units</a:t>
            </a:r>
            <a:endParaRPr sz="1350" b="1">
              <a:solidFill>
                <a:srgbClr val="4285F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 / PASS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13/13 / 11/13</a:t>
            </a:r>
            <a:endParaRPr sz="1350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CV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6.60%</a:t>
            </a:r>
            <a:endParaRPr sz="135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worst ch.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55.15%</a:t>
            </a:r>
            <a:endParaRPr sz="135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3535045" cy="21050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2" name="矩形 231"/>
          <p:cNvSpPr>
            <a:spLocks noGrp="1"/>
          </p:cNvSpPr>
          <p:nvPr/>
        </p:nvSpPr>
        <p:spPr>
          <a:xfrm>
            <a:off x="742950" y="22669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 Conclusion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3" name="椭圆 232"/>
          <p:cNvSpPr>
            <a:spLocks noGrp="1"/>
          </p:cNvSpPr>
          <p:nvPr/>
        </p:nvSpPr>
        <p:spPr>
          <a:xfrm>
            <a:off x="762000" y="269557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952500" y="26479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All 13 units included in this analysis completed aging to 392% or 417%; 11 units are recommended as PASS, while 2 units retain QC risk / rework-related risk.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5" name="椭圆 234"/>
          <p:cNvSpPr>
            <a:spLocks noGrp="1"/>
          </p:cNvSpPr>
          <p:nvPr/>
        </p:nvSpPr>
        <p:spPr>
          <a:xfrm>
            <a:off x="762000" y="3343275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952500" y="32956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3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Risks are concentrated in P2HHV3120250407A01 with D2 leakage / O-ring replacement and P2HHV3120250702A03 with H3 low %D plus a worst-channel CV spike.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7" name="圆角矩形 236"/>
          <p:cNvSpPr>
            <a:spLocks noGrp="1"/>
          </p:cNvSpPr>
          <p:nvPr/>
        </p:nvSpPr>
        <p:spPr>
          <a:xfrm>
            <a:off x="4248150" y="2047875"/>
            <a:ext cx="4182745" cy="21050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1" name="表格 260"/>
          <p:cNvGraphicFramePr/>
          <p:nvPr>
            <p:custDataLst>
              <p:tags r:id="rId2"/>
            </p:custDataLst>
          </p:nvPr>
        </p:nvGraphicFramePr>
        <p:xfrm>
          <a:off x="4340225" y="2138680"/>
          <a:ext cx="3946525" cy="1770380"/>
        </p:xfrm>
        <a:graphic>
          <a:graphicData uri="http://schemas.openxmlformats.org/drawingml/2006/table">
            <a:tbl>
              <a:tblPr firstRow="1" bandRow="1"/>
              <a:tblGrid>
                <a:gridCol w="1113155"/>
                <a:gridCol w="708025"/>
                <a:gridCol w="2125345"/>
              </a:tblGrid>
              <a:tr h="44259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Status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Qty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Notes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4425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PASS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11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Most units completed 392%/417% aging with CV within specification.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QC risk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D2 leakage / H3 low %D and worst-channel CV excursions.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</a:tr>
              <a:tr h="4425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HOLD/RUNNING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 HOLD/RUNNING units in the included sample set.</a:t>
                      </a:r>
                      <a:endParaRPr sz="10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9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OTP-O Ring Type Analysis: HOLD and RCA Recommended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solidFill>
              <a:srgbClr val="FEE2E2"/>
            </a:solidFill>
            <a:prstDash val="solid"/>
          </a:ln>
        </p:spPr>
        <p:txBody>
          <a:bodyPr/>
          <a:lstStyle/>
          <a:p>
            <a:pPr algn="ctr">
              <a:defRPr sz="69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9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HOLD / RCA</a:t>
            </a:r>
            <a:endParaRPr sz="69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Sample size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units</a:t>
            </a:r>
            <a:endParaRPr sz="1350" b="1">
              <a:solidFill>
                <a:srgbClr val="4285F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 / PASS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3/5 / 2/5</a:t>
            </a:r>
            <a:endParaRPr sz="1350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CV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6.83%</a:t>
            </a:r>
            <a:endParaRPr sz="135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15" b="1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worst ch.</a:t>
            </a:r>
            <a:endParaRPr sz="615" b="1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B4530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3.45%</a:t>
            </a:r>
            <a:endParaRPr sz="1350" b="1">
              <a:solidFill>
                <a:srgbClr val="B4530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3571875" cy="24479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2" name="矩形 231"/>
          <p:cNvSpPr>
            <a:spLocks noGrp="1"/>
          </p:cNvSpPr>
          <p:nvPr/>
        </p:nvSpPr>
        <p:spPr>
          <a:xfrm>
            <a:off x="742950" y="22669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 Conclusion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3" name="椭圆 232"/>
          <p:cNvSpPr>
            <a:spLocks noGrp="1"/>
          </p:cNvSpPr>
          <p:nvPr/>
        </p:nvSpPr>
        <p:spPr>
          <a:xfrm>
            <a:off x="762000" y="2695575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952500" y="26479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6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sample size is small, but the risk ratio is the highest: 2 of 5 units are STOP/FAIL, 1 unit is QC risk, and only 2 units are clear PASS.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5" name="椭圆 234"/>
          <p:cNvSpPr>
            <a:spLocks noGrp="1"/>
          </p:cNvSpPr>
          <p:nvPr/>
        </p:nvSpPr>
        <p:spPr>
          <a:xfrm>
            <a:off x="762000" y="3343275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952500" y="329565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Failures are concentrated in low/no aspiration, abnormal leakage rate, and 392% CV risk; 0627A02 and 0627A03 stopped, while 0701A01 finished but reached 4.16% CV at 392%.</a:t>
            </a:r>
            <a:endParaRPr sz="10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7" name="圆角矩形 236"/>
          <p:cNvSpPr>
            <a:spLocks noGrp="1"/>
          </p:cNvSpPr>
          <p:nvPr/>
        </p:nvSpPr>
        <p:spPr>
          <a:xfrm>
            <a:off x="4248150" y="2047875"/>
            <a:ext cx="4201795" cy="238315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1" name="表格 260"/>
          <p:cNvGraphicFramePr/>
          <p:nvPr>
            <p:custDataLst>
              <p:tags r:id="rId2"/>
            </p:custDataLst>
          </p:nvPr>
        </p:nvGraphicFramePr>
        <p:xfrm>
          <a:off x="4295775" y="2138680"/>
          <a:ext cx="4086225" cy="2207895"/>
        </p:xfrm>
        <a:graphic>
          <a:graphicData uri="http://schemas.openxmlformats.org/drawingml/2006/table">
            <a:tbl>
              <a:tblPr firstRow="1" bandRow="1"/>
              <a:tblGrid>
                <a:gridCol w="667385"/>
                <a:gridCol w="718185"/>
                <a:gridCol w="575945"/>
                <a:gridCol w="461645"/>
                <a:gridCol w="513080"/>
                <a:gridCol w="1149985"/>
              </a:tblGrid>
              <a:tr h="5143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Status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Decision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 CV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Max worst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Notes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6565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P2HHV3220250627A02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STOP 150%-175%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FAIL/STOP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6.83%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0.81%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D3/G9 low aspiration at 175% optical check; teardown/rework.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P2HHV3220250627A03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STOP 150%-175%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FAIL/STOP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0.47%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0.66%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E10/B7 no aspiration; CH19/CH58 high leakage rate.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</a:tr>
              <a:tr h="51879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P2HHV3220250701A01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Finish / 392%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QC RISK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4.16%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2.30%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H4 LOW %D; 200 uL leakage rate 23.46 pa/s.</a:t>
                      </a:r>
                      <a:endParaRPr sz="900">
                        <a:solidFill>
                          <a:srgbClr val="333333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3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810500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  <a:latin typeface="Arial" panose="020B0604020202090204"/>
                <a:ea typeface="Arial" panose="020B0604020202090204"/>
                <a:cs typeface="Arial" panose="020B0604020202090204"/>
              </a:rPr>
              <a:t>Final Recommendation: Conditional Mold Oring Release; Hold OTP-O Ring</a:t>
            </a:r>
            <a:endParaRPr sz="1275" b="1">
              <a:solidFill>
                <a:srgbClr val="333333"/>
              </a:solidFill>
              <a:highlight>
                <a:schemeClr val="lt1"/>
              </a:highlight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666750" y="1238250"/>
            <a:ext cx="7429500" cy="723900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椭圆 218"/>
          <p:cNvSpPr>
            <a:spLocks noGrp="1"/>
          </p:cNvSpPr>
          <p:nvPr/>
        </p:nvSpPr>
        <p:spPr>
          <a:xfrm>
            <a:off x="914400" y="1447800"/>
            <a:ext cx="285750" cy="2857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914400" y="14954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1409700" y="1409700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Conditional PASS</a:t>
            </a:r>
            <a:endParaRPr sz="1125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2714625" y="140017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4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Oring: Move the 11 normal completed units toward PASS; close 0407A01 and 0702A03 as separate risk items before archiving.</a:t>
            </a:r>
            <a:endParaRPr sz="64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666750" y="2171700"/>
            <a:ext cx="7429500" cy="723900"/>
          </a:xfrm>
          <a:prstGeom prst="roundRect">
            <a:avLst>
              <a:gd name="adj" fmla="val 10526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4" name="椭圆 223"/>
          <p:cNvSpPr>
            <a:spLocks noGrp="1"/>
          </p:cNvSpPr>
          <p:nvPr/>
        </p:nvSpPr>
        <p:spPr>
          <a:xfrm>
            <a:off x="914400" y="2381250"/>
            <a:ext cx="285750" cy="2857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25" name="矩形 224"/>
          <p:cNvSpPr>
            <a:spLocks noGrp="1"/>
          </p:cNvSpPr>
          <p:nvPr/>
        </p:nvSpPr>
        <p:spPr>
          <a:xfrm>
            <a:off x="914400" y="242887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1409700" y="2343150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HOLD / RCA</a:t>
            </a:r>
            <a:endParaRPr sz="112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2714625" y="233362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4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OTP-O ring: 2/5 STOP/FAIL and 1/5 QC risk. Complete failed-part teardown, aspiration/leakage RCA, structure/assembly review, and retest before final decision.</a:t>
            </a:r>
            <a:endParaRPr sz="64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01*116"/>
  <p:tag name="TABLE_ENDDRAG_RECT" val="341*168*301*116"/>
</p:tagLst>
</file>

<file path=ppt/tags/tag2.xml><?xml version="1.0" encoding="utf-8"?>
<p:tagLst xmlns:p="http://schemas.openxmlformats.org/presentationml/2006/main">
  <p:tag name="TABLE_ENDDRAG_ORIGIN_RECT" val="307*125"/>
  <p:tag name="TABLE_ENDDRAG_RECT" val="348*186*307*125"/>
</p:tagLst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3499</Words>
  <Application>WPS 表格</Application>
  <PresentationFormat>Converted Presentation</PresentationFormat>
  <Paragraphs>282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微软雅黑</vt:lpstr>
      <vt:lpstr>汉仪旗黑</vt:lpstr>
      <vt:lpstr>Calibri</vt:lpstr>
      <vt:lpstr>Helvetica Neue</vt:lpstr>
      <vt:lpstr>汉仪书宋二KW</vt:lpstr>
      <vt:lpstr>宋体</vt:lpstr>
      <vt:lpstr>Arial Unicode MS</vt:lpstr>
      <vt:lpstr>Material</vt:lpstr>
      <vt:lpstr>Office 主题​​</vt:lpstr>
      <vt:lpstr>P2HHV32/P2HHV31 96CH LV Two O-ring Type Aging Test Comparison 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P2HHV32/P2HHV31 96CH LV Two O-ring Type Aging Test Comparison Report</dc:title>
  <dc:creator>Walnut Exporter</dc:creator>
  <cp:lastModifiedBy>Wye</cp:lastModifiedBy>
  <cp:revision>18</cp:revision>
  <dcterms:created xsi:type="dcterms:W3CDTF">2026-06-16T03:39:11Z</dcterms:created>
  <dcterms:modified xsi:type="dcterms:W3CDTF">2026-06-16T03:39:11Z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AD3D68C946D80472FEB6306A2B7B3351_42</vt:lpwstr>
  </property>
  <property fmtid="{D5CDD505-2E9C-101B-9397-08002B2CF9AE}" pid="3" name="KSOProductBuildVer">
    <vt:lpwstr>2052-12.1.25895.25895</vt:lpwstr>
  </property>
</Properties>
</file>