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323850"/>
            <a:ext cx="619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96CH LV 老化测试工作量与结果总览</a:t>
            </a:r>
            <a:endParaRPr sz="2250" b="1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752475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975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392% = 1,020,000次；417% = 1,085,000次；原设计寿命 = 270,000次</a:t>
            </a:r>
            <a:endParaRPr sz="975">
              <a:solidFill>
                <a:srgbClr val="6474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477500" y="342900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opentrons</a:t>
            </a:r>
            <a:endParaRPr sz="1350" b="1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350" b="1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合创生物</a:t>
            </a:r>
            <a:endParaRPr sz="1350" b="1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533400" y="1162050"/>
            <a:ext cx="142875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矩形 6"/>
          <p:cNvSpPr>
            <a:spLocks noGrp="1"/>
          </p:cNvSpPr>
          <p:nvPr/>
        </p:nvSpPr>
        <p:spPr>
          <a:xfrm>
            <a:off x="676275" y="12763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6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86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覆盖类型</a:t>
            </a:r>
            <a:endParaRPr sz="86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76275" y="152400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4285F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4285F4"/>
                </a:solidFill>
                <a:latin typeface="微软雅黑"/>
                <a:ea typeface="微软雅黑"/>
                <a:cs typeface="微软雅黑"/>
              </a:rPr>
              <a:t>2 类</a:t>
            </a:r>
            <a:endParaRPr sz="1800" b="1">
              <a:solidFill>
                <a:srgbClr val="4285F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2152650" y="1162050"/>
            <a:ext cx="161925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2295525" y="1276350"/>
            <a:ext cx="133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6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86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跑测样机</a:t>
            </a:r>
            <a:endParaRPr sz="86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295525" y="1524000"/>
            <a:ext cx="1333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4285F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4285F4"/>
                </a:solidFill>
                <a:latin typeface="微软雅黑"/>
                <a:ea typeface="微软雅黑"/>
                <a:cs typeface="微软雅黑"/>
              </a:rPr>
              <a:t>19 台</a:t>
            </a:r>
            <a:endParaRPr sz="1800" b="1">
              <a:solidFill>
                <a:srgbClr val="4285F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3962400" y="1162050"/>
            <a:ext cx="1905000" cy="742950"/>
          </a:xfrm>
          <a:prstGeom prst="roundRect">
            <a:avLst>
              <a:gd name="adj" fmla="val 10256"/>
            </a:avLst>
          </a:prstGeom>
          <a:solidFill>
            <a:srgbClr val="E8F7E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endParaRPr lang="zh-CN" altLang="en-US"/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105275" y="127635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6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86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完成 1,020,000/1,085,000次</a:t>
            </a:r>
            <a:endParaRPr sz="86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105275" y="15240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0A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A86B"/>
                </a:solidFill>
                <a:latin typeface="微软雅黑"/>
                <a:ea typeface="微软雅黑"/>
                <a:cs typeface="微软雅黑"/>
              </a:rPr>
              <a:t>16 台</a:t>
            </a:r>
            <a:endParaRPr sz="1800" b="1">
              <a:solidFill>
                <a:srgbClr val="00A8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057900" y="1162050"/>
            <a:ext cx="2133600" cy="742950"/>
          </a:xfrm>
          <a:prstGeom prst="roundRect">
            <a:avLst>
              <a:gd name="adj" fmla="val 10256"/>
            </a:avLst>
          </a:prstGeom>
          <a:solidFill>
            <a:srgbClr val="E8F7E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矩形 15"/>
          <p:cNvSpPr>
            <a:spLocks noGrp="1"/>
          </p:cNvSpPr>
          <p:nvPr/>
        </p:nvSpPr>
        <p:spPr>
          <a:xfrm>
            <a:off x="6200775" y="1276350"/>
            <a:ext cx="1847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6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86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PASS / 总通过率</a:t>
            </a:r>
            <a:endParaRPr sz="86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00775" y="1524000"/>
            <a:ext cx="1847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0A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A86B"/>
                </a:solidFill>
                <a:latin typeface="微软雅黑"/>
                <a:ea typeface="微软雅黑"/>
                <a:cs typeface="微软雅黑"/>
              </a:rPr>
              <a:t>15 台 / 79%</a:t>
            </a:r>
            <a:endParaRPr sz="1800" b="1">
              <a:solidFill>
                <a:srgbClr val="00A8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382000" y="1162050"/>
            <a:ext cx="1638300" cy="742950"/>
          </a:xfrm>
          <a:prstGeom prst="roundRect">
            <a:avLst>
              <a:gd name="adj" fmla="val 10256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矩形 18"/>
          <p:cNvSpPr>
            <a:spLocks noGrp="1"/>
          </p:cNvSpPr>
          <p:nvPr/>
        </p:nvSpPr>
        <p:spPr>
          <a:xfrm>
            <a:off x="8524875" y="1276350"/>
            <a:ext cx="1352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6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86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风险复核</a:t>
            </a:r>
            <a:endParaRPr sz="86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524875" y="1524000"/>
            <a:ext cx="1352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2 项</a:t>
            </a:r>
            <a:endParaRPr sz="1800" b="1">
              <a:solidFill>
                <a:srgbClr val="F59E0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10210800" y="1162050"/>
            <a:ext cx="1428750" cy="742950"/>
          </a:xfrm>
          <a:prstGeom prst="roundRect">
            <a:avLst>
              <a:gd name="adj" fmla="val 10256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矩形 21"/>
          <p:cNvSpPr>
            <a:spLocks noGrp="1"/>
          </p:cNvSpPr>
          <p:nvPr/>
        </p:nvSpPr>
        <p:spPr>
          <a:xfrm>
            <a:off x="10353675" y="12763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6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86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Fail 已闭环</a:t>
            </a:r>
            <a:endParaRPr sz="86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0353675" y="152400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DC262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DC2626"/>
                </a:solidFill>
                <a:latin typeface="微软雅黑"/>
                <a:ea typeface="微软雅黑"/>
                <a:cs typeface="微软雅黑"/>
              </a:rPr>
              <a:t>2 台</a:t>
            </a:r>
            <a:endParaRPr sz="1800" b="1">
              <a:solidFill>
                <a:srgbClr val="DC26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533400" y="2190750"/>
            <a:ext cx="2609850" cy="3257550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5" name="矩形 24"/>
          <p:cNvSpPr>
            <a:spLocks noGrp="1"/>
          </p:cNvSpPr>
          <p:nvPr/>
        </p:nvSpPr>
        <p:spPr>
          <a:xfrm>
            <a:off x="800100" y="24765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我们完成的工作</a:t>
            </a:r>
            <a:endParaRPr sz="1500" b="1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857250" y="306705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028700" y="30099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4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94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按用户指定 SN 清单重新匹配 19 台样机，统一归为 Mold Oring 与 OTP-O ring 两类进行统计。</a:t>
            </a:r>
            <a:endParaRPr sz="940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857250" y="3752850"/>
            <a:ext cx="76200" cy="76200"/>
          </a:xfrm>
          <a:prstGeom prst="ellipse">
            <a:avLst/>
          </a:prstGeom>
          <a:solidFill>
            <a:srgbClr val="0891B2"/>
          </a:solidFill>
          <a:ln w="0">
            <a:solidFill>
              <a:srgbClr val="0891B2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028700" y="36957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4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94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逐台复核 RD 明细状态、最高老化节点、CV、最差通道 CV、LOW %D、吸液/不吸液和泄漏备注。</a:t>
            </a:r>
            <a:endParaRPr sz="940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857250" y="4591050"/>
            <a:ext cx="76200" cy="76200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028700" y="45339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4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94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测试覆盖从 0 到 1,020,000/1,085,000次；16 台已跑到终点，15 台计入通过。</a:t>
            </a:r>
            <a:endParaRPr sz="940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800100" y="5095875"/>
            <a:ext cx="2000250" cy="247650"/>
          </a:xfrm>
          <a:prstGeom prst="roundRect">
            <a:avLst>
              <a:gd name="adj" fmla="val 50000"/>
            </a:avLst>
          </a:prstGeom>
          <a:solidFill>
            <a:srgbClr val="DDF6FB"/>
          </a:solidFill>
          <a:ln w="0">
            <a:solidFill>
              <a:srgbClr val="DDF6FB"/>
            </a:solidFill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891B2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0891B2"/>
                </a:solidFill>
                <a:latin typeface="微软雅黑"/>
                <a:ea typeface="微软雅黑"/>
                <a:cs typeface="微软雅黑"/>
              </a:rPr>
              <a:t>工作量核心：19 台 × 多节点验证</a:t>
            </a:r>
            <a:endParaRPr sz="900" b="1">
              <a:solidFill>
                <a:srgbClr val="0891B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3429000" y="2190750"/>
            <a:ext cx="3905250" cy="3409950"/>
          </a:xfrm>
          <a:prstGeom prst="roundRect">
            <a:avLst>
              <a:gd name="adj" fmla="val 2235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4" name="矩形 33"/>
          <p:cNvSpPr>
            <a:spLocks noGrp="1"/>
          </p:cNvSpPr>
          <p:nvPr/>
        </p:nvSpPr>
        <p:spPr>
          <a:xfrm>
            <a:off x="3638550" y="23812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类型 1：Mold Oring</a:t>
            </a:r>
            <a:endParaRPr sz="1425" b="1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3638550" y="266700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79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14 台：全部归为 Mold Oring</a:t>
            </a:r>
            <a:endParaRPr sz="79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5695950" y="2390775"/>
            <a:ext cx="13335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64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pPr>
            <a:r>
              <a:rPr sz="64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PASS with risk closure</a:t>
            </a:r>
            <a:endParaRPr sz="640" b="1">
              <a:solidFill>
                <a:srgbClr val="F59E0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657600" y="3009900"/>
            <a:ext cx="66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2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72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跑测数量</a:t>
            </a:r>
            <a:endParaRPr sz="720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3657600" y="320040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14 台</a:t>
            </a:r>
            <a:endParaRPr sz="1425" b="1">
              <a:solidFill>
                <a:srgbClr val="F59E0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400550" y="3009900"/>
            <a:ext cx="66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2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72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完成终点</a:t>
            </a:r>
            <a:endParaRPr sz="720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400550" y="320040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13/14</a:t>
            </a:r>
            <a:endParaRPr sz="1425" b="1">
              <a:solidFill>
                <a:srgbClr val="F59E0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143500" y="3009900"/>
            <a:ext cx="66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2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72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PASS</a:t>
            </a:r>
            <a:endParaRPr sz="720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143500" y="320040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13/14</a:t>
            </a:r>
            <a:endParaRPr sz="1425" b="1">
              <a:solidFill>
                <a:srgbClr val="F59E0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5886450" y="3009900"/>
            <a:ext cx="66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2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72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通过率</a:t>
            </a:r>
            <a:endParaRPr sz="720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5886450" y="320040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93%</a:t>
            </a:r>
            <a:endParaRPr sz="1425" b="1">
              <a:solidFill>
                <a:srgbClr val="F59E0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3657600" y="3695700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完成率</a:t>
            </a:r>
            <a:endParaRPr sz="82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4686300" y="36957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93%</a:t>
            </a:r>
            <a:endParaRPr sz="900" b="1">
              <a:solidFill>
                <a:srgbClr val="F59E0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3657600" y="3914775"/>
            <a:ext cx="1524000" cy="104775"/>
          </a:xfrm>
          <a:prstGeom prst="roundRect">
            <a:avLst>
              <a:gd name="adj" fmla="val 50000"/>
            </a:avLst>
          </a:prstGeom>
          <a:solidFill>
            <a:srgbClr val="E5EDF2"/>
          </a:solidFill>
          <a:ln w="0">
            <a:solidFill>
              <a:srgbClr val="E5EDF2"/>
            </a:solidFill>
            <a:prstDash val="solid"/>
          </a:ln>
        </p:spPr>
      </p:sp>
      <p:sp>
        <p:nvSpPr>
          <p:cNvPr id="50" name="圆角矩形 49"/>
          <p:cNvSpPr>
            <a:spLocks noGrp="1"/>
          </p:cNvSpPr>
          <p:nvPr/>
        </p:nvSpPr>
        <p:spPr>
          <a:xfrm>
            <a:off x="3657600" y="3914775"/>
            <a:ext cx="1417320" cy="10477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5524500" y="3695700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PASS 率</a:t>
            </a:r>
            <a:endParaRPr sz="82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6553200" y="36957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00A86B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00A86B"/>
                </a:solidFill>
                <a:latin typeface="微软雅黑"/>
                <a:ea typeface="微软雅黑"/>
                <a:cs typeface="微软雅黑"/>
              </a:rPr>
              <a:t>93%</a:t>
            </a:r>
            <a:endParaRPr sz="900" b="1">
              <a:solidFill>
                <a:srgbClr val="00A86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5524500" y="3914775"/>
            <a:ext cx="1524000" cy="104775"/>
          </a:xfrm>
          <a:prstGeom prst="roundRect">
            <a:avLst>
              <a:gd name="adj" fmla="val 50000"/>
            </a:avLst>
          </a:prstGeom>
          <a:solidFill>
            <a:srgbClr val="E5EDF2"/>
          </a:solidFill>
          <a:ln w="0">
            <a:solidFill>
              <a:srgbClr val="E5EDF2"/>
            </a:solidFill>
            <a:prstDash val="solid"/>
          </a:ln>
        </p:spPr>
      </p:sp>
      <p:sp>
        <p:nvSpPr>
          <p:cNvPr id="54" name="圆角矩形 53"/>
          <p:cNvSpPr>
            <a:spLocks noGrp="1"/>
          </p:cNvSpPr>
          <p:nvPr/>
        </p:nvSpPr>
        <p:spPr>
          <a:xfrm>
            <a:off x="5524500" y="3914775"/>
            <a:ext cx="1417320" cy="104775"/>
          </a:xfrm>
          <a:prstGeom prst="roundRect">
            <a:avLst>
              <a:gd name="adj" fmla="val 50000"/>
            </a:avLst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3657600" y="4152900"/>
            <a:ext cx="3448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最高覆盖 1,085,000次；主体完成 1,020,000次</a:t>
            </a:r>
            <a:endParaRPr sz="82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椭圆 55"/>
          <p:cNvSpPr>
            <a:spLocks noGrp="1"/>
          </p:cNvSpPr>
          <p:nvPr/>
        </p:nvSpPr>
        <p:spPr>
          <a:xfrm>
            <a:off x="3695700" y="451485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3867150" y="4457700"/>
            <a:ext cx="3181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4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84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工作量：14 台纳入统计，13 台已完成至 1,020,000次 或 1,085,000次。</a:t>
            </a:r>
            <a:endParaRPr sz="840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椭圆 57"/>
          <p:cNvSpPr>
            <a:spLocks noGrp="1"/>
          </p:cNvSpPr>
          <p:nvPr/>
        </p:nvSpPr>
        <p:spPr>
          <a:xfrm>
            <a:off x="3695700" y="4876800"/>
            <a:ext cx="76200" cy="76200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3867150" y="4819650"/>
            <a:ext cx="3181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4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84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通过率：13/14 PASS；</a:t>
            </a:r>
            <a:endParaRPr sz="840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椭圆 59"/>
          <p:cNvSpPr>
            <a:spLocks noGrp="1"/>
          </p:cNvSpPr>
          <p:nvPr/>
        </p:nvSpPr>
        <p:spPr>
          <a:xfrm>
            <a:off x="3695700" y="5238750"/>
            <a:ext cx="76200" cy="76200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3867150" y="5181600"/>
            <a:ext cx="3181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4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84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风险复核：0407A01 D2 漏液/O-ring replacement 仍需作为单项风险说明。</a:t>
            </a:r>
            <a:endParaRPr sz="840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圆角矩形 61"/>
          <p:cNvSpPr>
            <a:spLocks noGrp="1"/>
          </p:cNvSpPr>
          <p:nvPr/>
        </p:nvSpPr>
        <p:spPr>
          <a:xfrm>
            <a:off x="7734300" y="2190750"/>
            <a:ext cx="3905250" cy="3409950"/>
          </a:xfrm>
          <a:prstGeom prst="roundRect">
            <a:avLst>
              <a:gd name="adj" fmla="val 2235"/>
            </a:avLst>
          </a:prstGeom>
          <a:solidFill>
            <a:srgbClr val="FEECEC"/>
          </a:solidFill>
          <a:ln w="9525">
            <a:solidFill>
              <a:srgbClr val="DC26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3" name="矩形 62"/>
          <p:cNvSpPr>
            <a:spLocks noGrp="1"/>
          </p:cNvSpPr>
          <p:nvPr/>
        </p:nvSpPr>
        <p:spPr>
          <a:xfrm>
            <a:off x="7943850" y="23812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类型 2：OTP-O ring</a:t>
            </a:r>
            <a:endParaRPr sz="1425" b="1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7943850" y="266700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79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5 台：ROD SEAL PIPETTE (10433+10425+10026OTP)</a:t>
            </a:r>
            <a:endParaRPr sz="79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5" name="圆角矩形 64"/>
          <p:cNvSpPr>
            <a:spLocks noGrp="1"/>
          </p:cNvSpPr>
          <p:nvPr/>
        </p:nvSpPr>
        <p:spPr>
          <a:xfrm>
            <a:off x="10001250" y="2390775"/>
            <a:ext cx="13335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>
              <a:defRPr sz="640" b="1">
                <a:solidFill>
                  <a:srgbClr val="DC2626"/>
                </a:solidFill>
                <a:latin typeface="微软雅黑"/>
                <a:ea typeface="微软雅黑"/>
                <a:cs typeface="微软雅黑"/>
              </a:defRPr>
            </a:pPr>
            <a:r>
              <a:rPr sz="640" b="1">
                <a:solidFill>
                  <a:srgbClr val="DC2626"/>
                </a:solidFill>
                <a:latin typeface="微软雅黑"/>
                <a:ea typeface="微软雅黑"/>
                <a:cs typeface="微软雅黑"/>
              </a:rPr>
              <a:t>FAIL closed / HOLD</a:t>
            </a:r>
            <a:endParaRPr sz="640" b="1">
              <a:solidFill>
                <a:srgbClr val="DC26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7962900" y="3009900"/>
            <a:ext cx="66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2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72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跑测数量</a:t>
            </a:r>
            <a:endParaRPr sz="720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7962900" y="320040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DC262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DC2626"/>
                </a:solidFill>
                <a:latin typeface="微软雅黑"/>
                <a:ea typeface="微软雅黑"/>
                <a:cs typeface="微软雅黑"/>
              </a:rPr>
              <a:t>5 台</a:t>
            </a:r>
            <a:endParaRPr sz="1425" b="1">
              <a:solidFill>
                <a:srgbClr val="DC26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8705850" y="3009900"/>
            <a:ext cx="66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2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72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完成终点</a:t>
            </a:r>
            <a:endParaRPr sz="720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8705850" y="320040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DC262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DC2626"/>
                </a:solidFill>
                <a:latin typeface="微软雅黑"/>
                <a:ea typeface="微软雅黑"/>
                <a:cs typeface="微软雅黑"/>
              </a:rPr>
              <a:t>3/5</a:t>
            </a:r>
            <a:endParaRPr sz="1425" b="1">
              <a:solidFill>
                <a:srgbClr val="DC26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9448800" y="3009900"/>
            <a:ext cx="66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2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72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PASS</a:t>
            </a:r>
            <a:endParaRPr sz="720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9448800" y="320040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DC262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DC2626"/>
                </a:solidFill>
                <a:latin typeface="微软雅黑"/>
                <a:ea typeface="微软雅黑"/>
                <a:cs typeface="微软雅黑"/>
              </a:rPr>
              <a:t>2/5</a:t>
            </a:r>
            <a:endParaRPr sz="1425" b="1">
              <a:solidFill>
                <a:srgbClr val="DC26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10191750" y="3009900"/>
            <a:ext cx="66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2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72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通过率</a:t>
            </a:r>
            <a:endParaRPr sz="720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10191750" y="320040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DC262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DC2626"/>
                </a:solidFill>
                <a:latin typeface="微软雅黑"/>
                <a:ea typeface="微软雅黑"/>
                <a:cs typeface="微软雅黑"/>
              </a:rPr>
              <a:t>40%</a:t>
            </a:r>
            <a:endParaRPr sz="1425" b="1">
              <a:solidFill>
                <a:srgbClr val="DC26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10934700" y="3009900"/>
            <a:ext cx="66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2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72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风险/Fail</a:t>
            </a:r>
            <a:endParaRPr sz="720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10934700" y="320040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DC262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DC2626"/>
                </a:solidFill>
                <a:latin typeface="微软雅黑"/>
                <a:ea typeface="微软雅黑"/>
                <a:cs typeface="微软雅黑"/>
              </a:rPr>
              <a:t>3 项</a:t>
            </a:r>
            <a:endParaRPr sz="1425" b="1">
              <a:solidFill>
                <a:srgbClr val="DC26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7962900" y="3695700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完成率</a:t>
            </a:r>
            <a:endParaRPr sz="82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8991600" y="36957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DC2626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DC2626"/>
                </a:solidFill>
                <a:latin typeface="微软雅黑"/>
                <a:ea typeface="微软雅黑"/>
                <a:cs typeface="微软雅黑"/>
              </a:rPr>
              <a:t>60%</a:t>
            </a:r>
            <a:endParaRPr sz="900" b="1">
              <a:solidFill>
                <a:srgbClr val="DC26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8" name="圆角矩形 77"/>
          <p:cNvSpPr>
            <a:spLocks noGrp="1"/>
          </p:cNvSpPr>
          <p:nvPr/>
        </p:nvSpPr>
        <p:spPr>
          <a:xfrm>
            <a:off x="7962900" y="3914775"/>
            <a:ext cx="1524000" cy="104775"/>
          </a:xfrm>
          <a:prstGeom prst="roundRect">
            <a:avLst>
              <a:gd name="adj" fmla="val 50000"/>
            </a:avLst>
          </a:prstGeom>
          <a:solidFill>
            <a:srgbClr val="E5EDF2"/>
          </a:solidFill>
          <a:ln w="0">
            <a:solidFill>
              <a:srgbClr val="E5EDF2"/>
            </a:solidFill>
            <a:prstDash val="solid"/>
          </a:ln>
        </p:spPr>
      </p:sp>
      <p:sp>
        <p:nvSpPr>
          <p:cNvPr id="79" name="圆角矩形 78"/>
          <p:cNvSpPr>
            <a:spLocks noGrp="1"/>
          </p:cNvSpPr>
          <p:nvPr/>
        </p:nvSpPr>
        <p:spPr>
          <a:xfrm>
            <a:off x="7962900" y="3914775"/>
            <a:ext cx="914400" cy="104775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80" name="矩形 79"/>
          <p:cNvSpPr>
            <a:spLocks noGrp="1"/>
          </p:cNvSpPr>
          <p:nvPr/>
        </p:nvSpPr>
        <p:spPr>
          <a:xfrm>
            <a:off x="9829800" y="3695700"/>
            <a:ext cx="1000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PASS 率</a:t>
            </a:r>
            <a:endParaRPr sz="82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10858500" y="36957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DC2626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DC2626"/>
                </a:solidFill>
                <a:latin typeface="微软雅黑"/>
                <a:ea typeface="微软雅黑"/>
                <a:cs typeface="微软雅黑"/>
              </a:rPr>
              <a:t>40%</a:t>
            </a:r>
            <a:endParaRPr sz="900" b="1">
              <a:solidFill>
                <a:srgbClr val="DC26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2" name="圆角矩形 81"/>
          <p:cNvSpPr>
            <a:spLocks noGrp="1"/>
          </p:cNvSpPr>
          <p:nvPr/>
        </p:nvSpPr>
        <p:spPr>
          <a:xfrm>
            <a:off x="9829800" y="3914775"/>
            <a:ext cx="1524000" cy="104775"/>
          </a:xfrm>
          <a:prstGeom prst="roundRect">
            <a:avLst>
              <a:gd name="adj" fmla="val 50000"/>
            </a:avLst>
          </a:prstGeom>
          <a:solidFill>
            <a:srgbClr val="E5EDF2"/>
          </a:solidFill>
          <a:ln w="0">
            <a:solidFill>
              <a:srgbClr val="E5EDF2"/>
            </a:solidFill>
            <a:prstDash val="solid"/>
          </a:ln>
        </p:spPr>
      </p:sp>
      <p:sp>
        <p:nvSpPr>
          <p:cNvPr id="83" name="圆角矩形 82"/>
          <p:cNvSpPr>
            <a:spLocks noGrp="1"/>
          </p:cNvSpPr>
          <p:nvPr/>
        </p:nvSpPr>
        <p:spPr>
          <a:xfrm>
            <a:off x="9829800" y="3914775"/>
            <a:ext cx="609600" cy="104775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7962900" y="4152900"/>
            <a:ext cx="3448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3 台完成 1,020,000次；2 台停止在 150%-175%</a:t>
            </a:r>
            <a:endParaRPr sz="825" b="1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5" name="椭圆 84"/>
          <p:cNvSpPr>
            <a:spLocks noGrp="1"/>
          </p:cNvSpPr>
          <p:nvPr/>
        </p:nvSpPr>
        <p:spPr>
          <a:xfrm>
            <a:off x="8001000" y="4514850"/>
            <a:ext cx="76200" cy="76200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86" name="矩形 85"/>
          <p:cNvSpPr>
            <a:spLocks noGrp="1"/>
          </p:cNvSpPr>
          <p:nvPr/>
        </p:nvSpPr>
        <p:spPr>
          <a:xfrm>
            <a:off x="8172450" y="4457700"/>
            <a:ext cx="3181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4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84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工作量：5 台纳入统计，覆盖 0 至 1,020,000次节点，2 台中途 STOP/FAIL。</a:t>
            </a:r>
            <a:endParaRPr sz="840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7" name="椭圆 86"/>
          <p:cNvSpPr>
            <a:spLocks noGrp="1"/>
          </p:cNvSpPr>
          <p:nvPr/>
        </p:nvSpPr>
        <p:spPr>
          <a:xfrm>
            <a:off x="8001000" y="4876800"/>
            <a:ext cx="76200" cy="76200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8172450" y="4819650"/>
            <a:ext cx="3181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4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84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通过率：2/5 PASS；1 台 QC risk；2 台已完成分析报告和闭环，判定 Fail。</a:t>
            </a:r>
            <a:endParaRPr sz="840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9" name="椭圆 88"/>
          <p:cNvSpPr>
            <a:spLocks noGrp="1"/>
          </p:cNvSpPr>
          <p:nvPr/>
        </p:nvSpPr>
        <p:spPr>
          <a:xfrm>
            <a:off x="8001000" y="5238750"/>
            <a:ext cx="76200" cy="76200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8172450" y="5181600"/>
            <a:ext cx="3181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4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84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主要风险：D3/G9 吸液少、E10/B7 不吸液、泄漏率高、1,020,000次节点 CV 4.16%。</a:t>
            </a:r>
            <a:endParaRPr sz="840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1" name="圆角矩形 90"/>
          <p:cNvSpPr>
            <a:spLocks noGrp="1"/>
          </p:cNvSpPr>
          <p:nvPr/>
        </p:nvSpPr>
        <p:spPr>
          <a:xfrm>
            <a:off x="533400" y="5753100"/>
            <a:ext cx="11106150" cy="723900"/>
          </a:xfrm>
          <a:prstGeom prst="roundRect">
            <a:avLst>
              <a:gd name="adj" fmla="val 10526"/>
            </a:avLst>
          </a:prstGeom>
          <a:solidFill>
            <a:srgbClr val="EAF7FC"/>
          </a:solidFill>
          <a:ln w="9525">
            <a:solidFill>
              <a:srgbClr val="0891B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2" name="圆角矩形 91"/>
          <p:cNvSpPr>
            <a:spLocks noGrp="1"/>
          </p:cNvSpPr>
          <p:nvPr/>
        </p:nvSpPr>
        <p:spPr>
          <a:xfrm>
            <a:off x="800100" y="598170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DDF6FB"/>
          </a:solidFill>
          <a:ln w="0">
            <a:solidFill>
              <a:srgbClr val="DDF6FB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891B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891B2"/>
                </a:solidFill>
                <a:latin typeface="微软雅黑"/>
                <a:ea typeface="微软雅黑"/>
                <a:cs typeface="微软雅黑"/>
              </a:rPr>
              <a:t>最终结论</a:t>
            </a:r>
            <a:endParaRPr sz="1050" b="1">
              <a:solidFill>
                <a:srgbClr val="0891B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2095500" y="5876925"/>
            <a:ext cx="8858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975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Mold Oring 老化验证表明：相较原设计寿命 270,000 次，当前样机已通过 1,020,000-1,085,000 次验证，寿命达到约 3.8-4.0 倍（提升约 278%-302%）。因此 Mold Oring 可作为寿命提升方向推进；OTP-O ring 两台失效已分析闭环并判定 Fail，不建议作为通过方案。</a:t>
            </a:r>
            <a:endParaRPr sz="975">
              <a:solidFill>
                <a:srgbClr val="26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8572500" y="6496050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90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pPr>
            <a:r>
              <a:rPr sz="69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注：老化汇总表部分 P2HHV32 进度仍滞后，最终统计以 RD 明细最新节点为准。</a:t>
            </a:r>
            <a:endParaRPr sz="690">
              <a:solidFill>
                <a:srgbClr val="64748B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1114</Words>
  <Application>WPS 表格</Application>
  <PresentationFormat>Converted Presentation</PresentationFormat>
  <Paragraphs>127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汉仪旗黑</vt:lpstr>
      <vt:lpstr>微软雅黑</vt:lpstr>
      <vt:lpstr>宋体</vt:lpstr>
      <vt:lpstr>Arial Unicode MS</vt:lpstr>
      <vt:lpstr>汉仪书宋二KW</vt:lpstr>
      <vt:lpstr>Calibri</vt:lpstr>
      <vt:lpstr>Helvetica Neue</vt:lpstr>
      <vt:lpstr>微软雅黑</vt:lpstr>
      <vt:lpstr>Calibri Light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Wye</cp:lastModifiedBy>
  <cp:revision>3</cp:revision>
  <dcterms:created xsi:type="dcterms:W3CDTF">2026-06-17T07:33:42Z</dcterms:created>
  <dcterms:modified xsi:type="dcterms:W3CDTF">2026-06-17T07:33:42Z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D331FC24CF9AB9B5A43A326A106A0B90_42</vt:lpwstr>
  </property>
  <property fmtid="{D5CDD505-2E9C-101B-9397-08002B2CF9AE}" pid="3" name="KSOProductBuildVer">
    <vt:lpwstr>2052-12.1.25895.25895</vt:lpwstr>
  </property>
</Properties>
</file>