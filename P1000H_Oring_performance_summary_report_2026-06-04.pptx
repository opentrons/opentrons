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2900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69080" y="117043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437"/>
                </a:solidFill>
              </a:rPr>
              <a:t>P1000H O-ring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69080" y="1700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437"/>
                </a:solidFill>
              </a:rPr>
              <a:t>性能测试汇总报告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096512" y="248716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384"/>
                </a:solidFill>
              </a:rPr>
              <a:t>影响路径：吸水一致性与 Optical CV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87384"/>
                </a:solidFill>
              </a:rPr>
              <a:t>Data cut: 1,020,000 cycles / 392.3% life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BFF"/>
                </a:solidFill>
              </a:rPr>
              <a:t>报告目的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从 O-ring 密封性能角度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解释吸水异常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与光学波动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并给出逐台风险分层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096512" y="5394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384"/>
                </a:solidFill>
              </a:rPr>
              <a:t>SZ ENG | 2026-06-04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1/9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6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/ 结论摘要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84"/>
                </a:solidFill>
              </a:rPr>
              <a:t>O-ring 风险集中在 A05、A04、1217A05；0311A04 可作为稳定对照。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49840" y="301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2/9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337560" cy="1143000"/>
          </a:xfrm>
          <a:prstGeom prst="roundRect">
            <a:avLst>
              <a:gd name="adj" fmla="val 56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1234440"/>
            <a:ext cx="3337560" cy="1143000"/>
          </a:xfrm>
          <a:prstGeom prst="roundRect">
            <a:avLst>
              <a:gd name="adj" fmla="val 56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1234440"/>
            <a:ext cx="3337560" cy="1143000"/>
          </a:xfrm>
          <a:prstGeom prst="roundRect">
            <a:avLst>
              <a:gd name="adj" fmla="val 56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81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最高优先级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755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3437"/>
                </a:solidFill>
              </a:rPr>
              <a:t>0624A05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F3437"/>
                </a:solidFill>
              </a:rPr>
              <a:t>最新 CV 6.839，plate 1-3 全高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1481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高风险闭环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755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3437"/>
                </a:solidFill>
              </a:rPr>
              <a:t>0624A04 / 1217A05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F3437"/>
                </a:solidFill>
              </a:rPr>
              <a:t>LOW %D、吸水少、油漏事件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0" y="1481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稳定对照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17556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3437"/>
                </a:solidFill>
              </a:rPr>
              <a:t>0311A04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F3437"/>
                </a:solidFill>
              </a:rPr>
              <a:t>latest CV 0.677，无非 Pressure fail note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2743200"/>
            <a:ext cx="1042416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主要判断：完成 1,020,000 cycles 不等于 O-ring 性能无异常通过。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直接证据包括：LOW %D、C5/C7 吸水少、latest / historical Optical CV 升高、worst-channel CV 峰值。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O-ring 相关推断：密封不足、压缩永久变形、润滑/污染异常会导致吸水量偏差，并最终反映为 optical CV 波动。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建议采用“更换 O-ring 前后对比复测”确认因果关系，而不是仅凭 CV 直接判定 O-ring 为唯一原因。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6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O-ring 对吸水与 Optical 的影响链路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84"/>
                </a:solidFill>
              </a:rPr>
              <a:t>本页为工程机理推断，用于解释为什么密封性能会影响吸水和光学结果。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49840" y="301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3/9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EAF2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019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O-ring 状态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0664" y="23957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磨损 / 压缩变形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润滑不足 / 污染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装配偏差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04872" y="2514600"/>
            <a:ext cx="329184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62072" y="1664208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19019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密封与摩擦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08376" y="23957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微漏气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滑动阻力变化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通道间差异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72584" y="2514600"/>
            <a:ext cx="329184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9784" y="1664208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19019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吸水表现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76088" y="23957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吸水少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LOW %D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气泡 / 残液风险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0296" y="2514600"/>
            <a:ext cx="329184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496" y="1664208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19019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Optical 结果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23957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CV 升高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worst-channel CV 升高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plate 间一致性下降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08008" y="2514600"/>
            <a:ext cx="329184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65208" y="1664208"/>
            <a:ext cx="1755648" cy="2148840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19019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报告结论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11512" y="23957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按通道定位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O-ring 拆检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7"/>
                </a:solidFill>
              </a:rPr>
              <a:t>更换前后复测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4434840"/>
            <a:ext cx="100584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F3437"/>
                </a:solidFill>
              </a:rPr>
              <a:t>关键解释：O-ring 不一定直接造成 optical 读数异常，但会先影响气密性和吸/排液稳定性。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F3437"/>
                </a:solidFill>
              </a:rPr>
              <a:t>当吸水量偏小或通道间吸水不一致时，光学读数会表现为 LOW %D、CV 高、worst-channel CV 高。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F3437"/>
                </a:solidFill>
              </a:rPr>
              <a:t>因此，本报告将 O-ring 风险判定建立在“吸水现象 + optical CV + 通道定位”的组合证据上。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6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 Optical 证据：latest CV 与历史峰值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84"/>
                </a:solidFill>
              </a:rPr>
              <a:t>A05 最新 CV 明显偏高；A04 / A01 的历史峰值提示曾出现通道一致性失控。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49840" y="301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4/9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58368" y="114300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Latest Optical CV @ 1,020,000 cycles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5303520"/>
            <a:ext cx="466344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23951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0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024128" y="4377690"/>
            <a:ext cx="466344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431368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2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024128" y="3451860"/>
            <a:ext cx="466344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38785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4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024128" y="2526030"/>
            <a:ext cx="466344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46202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6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024128" y="1600200"/>
            <a:ext cx="466344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153619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8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212997" y="3276415"/>
            <a:ext cx="512978" cy="2027105"/>
          </a:xfrm>
          <a:prstGeom prst="roundRect">
            <a:avLst>
              <a:gd name="adj" fmla="val 713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9845" y="3075247"/>
            <a:ext cx="6592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59E0B"/>
                </a:solidFill>
              </a:rPr>
              <a:t>4.379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1066693" y="5431536"/>
            <a:ext cx="805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45685" y="4615165"/>
            <a:ext cx="512978" cy="688355"/>
          </a:xfrm>
          <a:prstGeom prst="roundRect">
            <a:avLst>
              <a:gd name="adj" fmla="val 713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2533" y="4413997"/>
            <a:ext cx="6592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59E0B"/>
                </a:solidFill>
              </a:rPr>
              <a:t>1.487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1999381" y="5431536"/>
            <a:ext cx="805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1217A05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78373" y="4990127"/>
            <a:ext cx="512978" cy="313393"/>
          </a:xfrm>
          <a:prstGeom prst="roundRect">
            <a:avLst>
              <a:gd name="adj" fmla="val 116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05221" y="4788959"/>
            <a:ext cx="6592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A34A"/>
                </a:solidFill>
              </a:rPr>
              <a:t>0.677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2932069" y="5431536"/>
            <a:ext cx="805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0311A04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11061" y="4547580"/>
            <a:ext cx="512978" cy="755940"/>
          </a:xfrm>
          <a:prstGeom prst="roundRect">
            <a:avLst>
              <a:gd name="adj" fmla="val 713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7909" y="4346412"/>
            <a:ext cx="6592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BBF24"/>
                </a:solidFill>
              </a:rPr>
              <a:t>1.633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3864757" y="5431536"/>
            <a:ext cx="805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43749" y="2137644"/>
            <a:ext cx="512978" cy="3165876"/>
          </a:xfrm>
          <a:prstGeom prst="roundRect">
            <a:avLst>
              <a:gd name="adj" fmla="val 713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0597" y="1936476"/>
            <a:ext cx="6592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DC2626"/>
                </a:solidFill>
              </a:rPr>
              <a:t>6.839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4797445" y="5431536"/>
            <a:ext cx="805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 rot="16200000">
            <a:off x="658368" y="336042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4"/>
                </a:solidFill>
              </a:rPr>
              <a:t>CV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114300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Historical Max Worst-channel CV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20840" y="5303520"/>
            <a:ext cx="457200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523951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0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6720840" y="4774474"/>
            <a:ext cx="457200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471046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2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720840" y="4245429"/>
            <a:ext cx="457200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4181421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4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6720840" y="3716383"/>
            <a:ext cx="457200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3652375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6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6720840" y="3187337"/>
            <a:ext cx="457200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3123329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8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6720840" y="2658291"/>
            <a:ext cx="457200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2594283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10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6720840" y="2129246"/>
            <a:ext cx="457200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06523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12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6720840" y="1600200"/>
            <a:ext cx="4572000" cy="0"/>
          </a:xfrm>
          <a:prstGeom prst="line">
            <a:avLst/>
          </a:prstGeom>
          <a:noFill/>
          <a:ln w="7620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153619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87384"/>
                </a:solidFill>
              </a:rPr>
              <a:t>14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6906006" y="2339806"/>
            <a:ext cx="502920" cy="2963714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2854" y="2138638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59E0B"/>
                </a:solidFill>
              </a:rPr>
              <a:t>11.2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6759702" y="5431536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0624A04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820406" y="3341025"/>
            <a:ext cx="502920" cy="1962495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47254" y="3139857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59E0B"/>
                </a:solidFill>
              </a:rPr>
              <a:t>7.419</a:t>
            </a:r>
            <a:endParaRPr lang="en-US" sz="760" dirty="0"/>
          </a:p>
        </p:txBody>
      </p:sp>
      <p:sp>
        <p:nvSpPr>
          <p:cNvPr id="56" name="Text 54"/>
          <p:cNvSpPr/>
          <p:nvPr/>
        </p:nvSpPr>
        <p:spPr>
          <a:xfrm>
            <a:off x="7674102" y="5431536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1217A05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734806" y="4468157"/>
            <a:ext cx="502920" cy="835363"/>
          </a:xfrm>
          <a:prstGeom prst="roundRect">
            <a:avLst>
              <a:gd name="adj" fmla="val 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61654" y="4266989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A34A"/>
                </a:solidFill>
              </a:rPr>
              <a:t>3.158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8588502" y="5431536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0311A04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649206" y="1759707"/>
            <a:ext cx="502920" cy="3543813"/>
          </a:xfrm>
          <a:prstGeom prst="roundRect">
            <a:avLst>
              <a:gd name="adj" fmla="val 727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76054" y="1558539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BBF24"/>
                </a:solidFill>
              </a:rPr>
              <a:t>13.4</a:t>
            </a:r>
            <a:endParaRPr lang="en-US" sz="760" dirty="0"/>
          </a:p>
        </p:txBody>
      </p:sp>
      <p:sp>
        <p:nvSpPr>
          <p:cNvPr id="62" name="Text 60"/>
          <p:cNvSpPr/>
          <p:nvPr/>
        </p:nvSpPr>
        <p:spPr>
          <a:xfrm>
            <a:off x="9502902" y="5431536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0624A01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0563606" y="3098987"/>
            <a:ext cx="502920" cy="2204533"/>
          </a:xfrm>
          <a:prstGeom prst="roundRect">
            <a:avLst>
              <a:gd name="adj" fmla="val 727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490454" y="2897819"/>
            <a:ext cx="649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DC2626"/>
                </a:solidFill>
              </a:rPr>
              <a:t>8.334</a:t>
            </a:r>
            <a:endParaRPr lang="en-US" sz="760" dirty="0"/>
          </a:p>
        </p:txBody>
      </p:sp>
      <p:sp>
        <p:nvSpPr>
          <p:cNvPr id="65" name="Text 63"/>
          <p:cNvSpPr/>
          <p:nvPr/>
        </p:nvSpPr>
        <p:spPr>
          <a:xfrm>
            <a:off x="10417302" y="5431536"/>
            <a:ext cx="795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 rot="16200000">
            <a:off x="6355080" y="336042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7384"/>
                </a:solidFill>
              </a:rPr>
              <a:t>CV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77240" y="589788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87384"/>
                </a:solidFill>
              </a:rPr>
              <a:t>读法：latest CV 反映寿命终点状态；max worst-channel CV 反映历史上是否出现过通道级异常峰值。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6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吸水与 LOW %D 证据：O-ring 风险的直接观察窗口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84"/>
                </a:solidFill>
              </a:rPr>
              <a:t>O-ring 密封不足更容易先表现为吸水偏低或个别通道不稳定，再传导到 optical CV。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49840" y="301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5/9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105156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298448"/>
            <a:ext cx="297180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13716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吸水/LOW %D 现象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1298448"/>
            <a:ext cx="237744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相关光学或事件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298448"/>
            <a:ext cx="388620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3716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O-ring 解读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956816"/>
            <a:ext cx="1051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2996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0624A04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554480" y="1956816"/>
            <a:ext cx="2971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20299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F1 LOW %D @100k; A5 LOW %D @260k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26280" y="1956816"/>
            <a:ext cx="23774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520k 油漏 / 背板有油 / sensor error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903720" y="1956816"/>
            <a:ext cx="3886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02996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密封污染或润滑异常需优先排查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02920" y="2615184"/>
            <a:ext cx="105156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8833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F3437"/>
                </a:solidFill>
              </a:rPr>
              <a:t>1217A05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554480" y="2615184"/>
            <a:ext cx="297180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268833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C5/C7 low aspiration @175% / 455k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526280" y="2615184"/>
            <a:ext cx="237744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6883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明确 fail 记录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903720" y="2615184"/>
            <a:ext cx="388620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268833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局部通道 O-ring 装配或磨损风险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02920" y="3273552"/>
            <a:ext cx="1051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34670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0624A01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554480" y="3273552"/>
            <a:ext cx="2971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0200" y="334670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H1 LOW %D; G12 LOW %D @195k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526280" y="3273552"/>
            <a:ext cx="23774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346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latest optical 已改善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903720" y="3273552"/>
            <a:ext cx="3886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34670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阶段性异常，需确认可重复性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02920" y="3931920"/>
            <a:ext cx="105156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00507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0624A05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1554480" y="3931920"/>
            <a:ext cx="297180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00200" y="40050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未见明确 LOW %D note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526280" y="3931920"/>
            <a:ext cx="237744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40050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latest CV 6.839，plate 1-3 全高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903720" y="3931920"/>
            <a:ext cx="388620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400507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整体一致性风险，需用吸水复测验证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02920" y="4590288"/>
            <a:ext cx="1051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6634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F3437"/>
                </a:solidFill>
              </a:rPr>
              <a:t>0311A04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1554480" y="4590288"/>
            <a:ext cx="2971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00200" y="4663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未见非 Pressure fail / LOW %D note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4526280" y="4590288"/>
            <a:ext cx="23774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4663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latest CV 0.677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6903720" y="4590288"/>
            <a:ext cx="3886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46634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F3437"/>
                </a:solidFill>
              </a:rPr>
              <a:t>稳定参考样本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594360" y="594360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87384"/>
                </a:solidFill>
              </a:rPr>
              <a:t>注意：LOW %D / low aspiration 是 O-ring 相关风险的强证据，但仍需拆检或更换前后复测才能证明 O-ring 为唯一根因。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6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逐台 O-ring 风险评估矩阵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84"/>
                </a:solidFill>
              </a:rPr>
              <a:t>风险排序综合了吸水现象、latest optical、历史峰值和通道定位信息。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49840" y="301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6/9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00584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Unit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17320" y="1115568"/>
            <a:ext cx="82296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188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40280" y="1115568"/>
            <a:ext cx="210312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Optical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43400" y="1115568"/>
            <a:ext cx="297180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188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吸水/LOW %D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0" y="1115568"/>
            <a:ext cx="4343400" cy="65836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188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O-ring 风险解读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1773936"/>
            <a:ext cx="1005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47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0624A04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1417320" y="1773936"/>
            <a:ext cx="822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18470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High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2240280" y="1773936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8470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Latest CV 4.379; worst 1.585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343400" y="1773936"/>
            <a:ext cx="2971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8470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F1 LOW %D @100k; A5 LOW %D @260k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7315200" y="1773936"/>
            <a:ext cx="4343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18470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密封/润滑异常风险高；520k 油漏与传感器报错需闭环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411480" y="2432304"/>
            <a:ext cx="100584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1217A05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1417320" y="2432304"/>
            <a:ext cx="82296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25054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High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2240280" y="2432304"/>
            <a:ext cx="210312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505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Latest CV 1.487; worst 2.308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4343400" y="2432304"/>
            <a:ext cx="297180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25054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175% / 455k explicit fail; C5/C7 low aspiration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7315200" y="2432304"/>
            <a:ext cx="434340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25054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局部通道 O-ring 密封不足或装配偏差风险高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411480" y="3090672"/>
            <a:ext cx="1005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1638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0311A04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1417320" y="3090672"/>
            <a:ext cx="822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63040" y="31638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Low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2240280" y="3090672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0" y="3163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Latest CV 0.677; worst 1.052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4343400" y="3090672"/>
            <a:ext cx="2971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No non-pressure LOW %D / fail note found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7315200" y="3090672"/>
            <a:ext cx="4343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3163824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可作为 O-ring 表现稳定的对照样本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411480" y="3749040"/>
            <a:ext cx="100584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8221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0624A01</a:t>
            </a:r>
            <a:endParaRPr lang="en-US" sz="770" dirty="0"/>
          </a:p>
        </p:txBody>
      </p:sp>
      <p:sp>
        <p:nvSpPr>
          <p:cNvPr id="49" name="Shape 47"/>
          <p:cNvSpPr/>
          <p:nvPr/>
        </p:nvSpPr>
        <p:spPr>
          <a:xfrm>
            <a:off x="1417320" y="3749040"/>
            <a:ext cx="82296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63040" y="38221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Monitor</a:t>
            </a:r>
            <a:endParaRPr lang="en-US" sz="770" dirty="0"/>
          </a:p>
        </p:txBody>
      </p:sp>
      <p:sp>
        <p:nvSpPr>
          <p:cNvPr id="51" name="Shape 49"/>
          <p:cNvSpPr/>
          <p:nvPr/>
        </p:nvSpPr>
        <p:spPr>
          <a:xfrm>
            <a:off x="2240280" y="3749040"/>
            <a:ext cx="210312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0" y="38221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Latest CV 1.633; worst 3.046</a:t>
            </a:r>
            <a:endParaRPr lang="en-US" sz="770" dirty="0"/>
          </a:p>
        </p:txBody>
      </p:sp>
      <p:sp>
        <p:nvSpPr>
          <p:cNvPr id="53" name="Shape 51"/>
          <p:cNvSpPr/>
          <p:nvPr/>
        </p:nvSpPr>
        <p:spPr>
          <a:xfrm>
            <a:off x="4343400" y="3749040"/>
            <a:ext cx="297180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H1 LOW %D and G12 LOW %D @195k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7315200" y="3749040"/>
            <a:ext cx="4343400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60920" y="382219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阶段性密封/污染/测试状态异常，当前需观察</a:t>
            </a:r>
            <a:endParaRPr lang="en-US" sz="770" dirty="0"/>
          </a:p>
        </p:txBody>
      </p:sp>
      <p:sp>
        <p:nvSpPr>
          <p:cNvPr id="57" name="Shape 55"/>
          <p:cNvSpPr/>
          <p:nvPr/>
        </p:nvSpPr>
        <p:spPr>
          <a:xfrm>
            <a:off x="411480" y="4407408"/>
            <a:ext cx="1005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480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0624A05</a:t>
            </a:r>
            <a:endParaRPr lang="en-US" sz="770" dirty="0"/>
          </a:p>
        </p:txBody>
      </p:sp>
      <p:sp>
        <p:nvSpPr>
          <p:cNvPr id="59" name="Shape 57"/>
          <p:cNvSpPr/>
          <p:nvPr/>
        </p:nvSpPr>
        <p:spPr>
          <a:xfrm>
            <a:off x="1417320" y="4407408"/>
            <a:ext cx="822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63040" y="4480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2F3437"/>
                </a:solidFill>
              </a:rPr>
              <a:t>High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2240280" y="440740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0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Latest CV 6.839; worst 3.150</a:t>
            </a:r>
            <a:endParaRPr lang="en-US" sz="770" dirty="0"/>
          </a:p>
        </p:txBody>
      </p:sp>
      <p:sp>
        <p:nvSpPr>
          <p:cNvPr id="63" name="Shape 61"/>
          <p:cNvSpPr/>
          <p:nvPr/>
        </p:nvSpPr>
        <p:spPr>
          <a:xfrm>
            <a:off x="4343400" y="4407408"/>
            <a:ext cx="2971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8912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No explicit LOW %D note; optical suggests unstable dispense</a:t>
            </a:r>
            <a:endParaRPr lang="en-US" sz="770" dirty="0"/>
          </a:p>
        </p:txBody>
      </p:sp>
      <p:sp>
        <p:nvSpPr>
          <p:cNvPr id="65" name="Shape 63"/>
          <p:cNvSpPr/>
          <p:nvPr/>
        </p:nvSpPr>
        <p:spPr>
          <a:xfrm>
            <a:off x="7315200" y="4407408"/>
            <a:ext cx="4343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60920" y="44805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437"/>
                </a:solidFill>
              </a:rPr>
              <a:t>整体吸液/排液一致性下降风险最高；优先按 O-ring 风险处理</a:t>
            </a:r>
            <a:endParaRPr lang="en-US" sz="770" dirty="0"/>
          </a:p>
        </p:txBody>
      </p:sp>
      <p:sp>
        <p:nvSpPr>
          <p:cNvPr id="67" name="Shape 65"/>
          <p:cNvSpPr/>
          <p:nvPr/>
        </p:nvSpPr>
        <p:spPr>
          <a:xfrm>
            <a:off x="1444752" y="1975104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44752" y="2025396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1444752" y="263347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444752" y="2683764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1444752" y="329184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444752" y="3342132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Low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1444752" y="3950208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444752" y="400050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Monitor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1444752" y="4608576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444752" y="465886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High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502920" y="598932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87384"/>
                </a:solidFill>
              </a:rPr>
              <a:t>优先级：A05 先复测确认整体 optical 偏高；A04 / 1217A05 按吸水异常和事件记录做通道拆检；A01 监控；0311A04 做 reference。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6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高风险样机拆解：需要证明 O-ring 与结果异常的因果关系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84"/>
                </a:solidFill>
              </a:rPr>
              <a:t>三台样机的风险类型不同：A05 偏整体一致性，A04 偏污染/事件，1217A05 偏局部通道。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49840" y="301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7/9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154680" cy="3246120"/>
          </a:xfrm>
          <a:prstGeom prst="roundRect">
            <a:avLst>
              <a:gd name="adj" fmla="val 202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2697480" cy="292608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60220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0624A05 | 整体 optical 偏高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5146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Latest / max CV 6.839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plate 1-3 均高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优先做 O-ring 更换前后对比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886200"/>
            <a:ext cx="260604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3437"/>
                </a:solidFill>
              </a:rPr>
              <a:t>结论：按 O-ring 风险样机处理，先复测再定根因。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1417320"/>
            <a:ext cx="3154680" cy="3246120"/>
          </a:xfrm>
          <a:prstGeom prst="roundRect">
            <a:avLst>
              <a:gd name="adj" fmla="val 202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691640"/>
            <a:ext cx="269748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60220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0624A04 | LOW %D + 油漏事件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709160" y="2240280"/>
            <a:ext cx="25146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F1 / A5 LOW %D history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520k 油漏与 sensor error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检查润滑、污染、密封面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886200"/>
            <a:ext cx="26060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3437"/>
                </a:solidFill>
              </a:rPr>
              <a:t>结论：按 O-ring 风险样机处理，先复测再定根因。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1417320"/>
            <a:ext cx="3154680" cy="3246120"/>
          </a:xfrm>
          <a:prstGeom prst="roundRect">
            <a:avLst>
              <a:gd name="adj" fmla="val 202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691640"/>
            <a:ext cx="269748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760220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1217A05 | 局部通道吸水少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412480" y="2240280"/>
            <a:ext cx="25146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175% explicit fail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C5/C7 low aspiration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437"/>
                </a:solidFill>
              </a:rPr>
              <a:t>• 按通道拆检 O-ring / 活塞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3886200"/>
            <a:ext cx="26060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3437"/>
                </a:solidFill>
              </a:rPr>
              <a:t>结论：按 O-ring 风险样机处理，先复测再定根因。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3437"/>
                </a:solidFill>
              </a:rPr>
              <a:t>高风险不等于 O-ring 已被证明失效；但这些样机最值得做 O-ring 拆检与更换前后 A/B 复测。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6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建议验证计划：把 O-ring 假设变成可证明结论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84"/>
                </a:solidFill>
              </a:rPr>
              <a:t>验证应同时覆盖物理状态、吸水表现、光学结果和通道定位。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49840" y="301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8/9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402336" cy="402336"/>
          </a:xfrm>
          <a:prstGeom prst="ellipse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130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2527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437"/>
                </a:solidFill>
              </a:rPr>
              <a:t>拆检与外观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25272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F3437"/>
                </a:solidFill>
              </a:rPr>
              <a:t>观察磨损、划伤、污染、缺口、润滑状态；记录对应通道。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777240" y="2057400"/>
            <a:ext cx="402336" cy="402336"/>
          </a:xfrm>
          <a:prstGeom prst="ellipse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4426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437"/>
                </a:solidFill>
              </a:rPr>
              <a:t>尺寸与材料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20756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F3437"/>
                </a:solidFill>
              </a:rPr>
              <a:t>测 O-ring 截面/内径、硬度、压缩永久变形；与新件对比。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777240" y="2880360"/>
            <a:ext cx="402336" cy="402336"/>
          </a:xfrm>
          <a:prstGeom prst="ellipse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6722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2898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437"/>
                </a:solidFill>
              </a:rPr>
              <a:t>更换前后复测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289864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F3437"/>
                </a:solidFill>
              </a:rPr>
              <a:t>同一台、同一通道、同一 protocol，对比吸水量、LOW %D、Optical CV。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402336" cy="402336"/>
          </a:xfrm>
          <a:prstGeom prst="ellipse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9018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721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437"/>
                </a:solidFill>
              </a:rPr>
              <a:t>通道定向验证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37216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F3437"/>
                </a:solidFill>
              </a:rPr>
              <a:t>优先 C5/C7、F1/A5、H1/G12；A05 增加全通道 optical repeat。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777240" y="4526280"/>
            <a:ext cx="402336" cy="402336"/>
          </a:xfrm>
          <a:prstGeom prst="ellipse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61314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17320" y="4544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437"/>
                </a:solidFill>
              </a:rPr>
              <a:t>密封辅助验证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454456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F3437"/>
                </a:solidFill>
              </a:rPr>
              <a:t>Pressure / leak 可作为辅助证据，帮助确认密封而不是光学算法问题。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777240" y="5669280"/>
            <a:ext cx="10241280" cy="502920"/>
          </a:xfrm>
          <a:prstGeom prst="roundRect">
            <a:avLst>
              <a:gd name="adj" fmla="val 12727"/>
            </a:avLst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824728"/>
            <a:ext cx="9829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4EA6"/>
                </a:solidFill>
              </a:rPr>
              <a:t>最终判定标准建议：更换 O-ring 后，异常通道 LOW %D 消失、Optical CV 下降并可重复，才可支持 O-ring 为主要原因。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16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Conclusion / 最终总结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87384"/>
                </a:solidFill>
              </a:rPr>
              <a:t>本报告把 O-ring 作为解释吸水与 optical 波动的核心工程假设，并给出样机处理优先级。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49840" y="3017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Performance Summary | 2026-06-04 | 9/9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77240" y="1280160"/>
            <a:ext cx="4983480" cy="3291840"/>
          </a:xfrm>
          <a:prstGeom prst="roundRect">
            <a:avLst>
              <a:gd name="adj" fmla="val 1944"/>
            </a:avLst>
          </a:prstGeom>
          <a:solidFill>
            <a:srgbClr val="EAF2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280160"/>
            <a:ext cx="49834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727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68D3"/>
                </a:solidFill>
              </a:rPr>
              <a:t>结论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43434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F3437"/>
                </a:solidFill>
              </a:rPr>
              <a:t>• A05、A04、1217A05 应作为 O-ring 高风险样机。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F3437"/>
                </a:solidFill>
              </a:rPr>
              <a:t>• A01 当前结果改善，但历史 LOW %D 和高 CV 需要继续监控。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F3437"/>
                </a:solidFill>
              </a:rPr>
              <a:t>• 0311A04 是当前最适合作为稳定 reference 的样机。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F3437"/>
                </a:solidFill>
              </a:rPr>
              <a:t>• 不建议仅以完成 cycles 判定 O-ring 通过。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15727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68D3"/>
                </a:solidFill>
              </a:rPr>
              <a:t>下一步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11680"/>
            <a:ext cx="43434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F3437"/>
                </a:solidFill>
              </a:rPr>
              <a:t>1. 0624A05：优先复测 optical，并做 O-ring 更换前后对比。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3437"/>
                </a:solidFill>
              </a:rPr>
              <a:t>2. 0624A04：追溯油漏/污染/润滑状态，拆检 F1/A5 相关通道。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3437"/>
                </a:solidFill>
              </a:rPr>
              <a:t>3. 1217A05：按 C5/C7 定向拆检，确认局部密封问题。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F3437"/>
                </a:solidFill>
              </a:rPr>
              <a:t>4. 将吸水、optical 和 seal/leak 结果合并到最终 acceptance。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437"/>
                </a:solidFill>
              </a:rPr>
              <a:t>报告口径：当前结论是基于吸水/LOW %D/Optical CV 现象对 O-ring 风险的工程判断；根因仍需通过拆检和更换前后复测确认。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Opentrons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P1000H O-ring Performance Summary Report</dc:title>
  <dc:subject>P1000H O-ring performance summary report</dc:subject>
  <dc:creator>Codex</dc:creator>
  <cp:lastModifiedBy>Codex</cp:lastModifiedBy>
  <cp:revision>1</cp:revision>
  <dcterms:created xsi:type="dcterms:W3CDTF">2026-06-04T00:54:33Z</dcterms:created>
  <dcterms:modified xsi:type="dcterms:W3CDTF">2026-06-04T00:54:33Z</dcterms:modified>
</cp:coreProperties>
</file>