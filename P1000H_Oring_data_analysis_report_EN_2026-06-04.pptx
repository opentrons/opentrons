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3756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0" y="1115568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3437"/>
                </a:solidFill>
              </a:rPr>
              <a:t>P1000H O-ring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23360" y="1627632"/>
            <a:ext cx="612648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F3437"/>
                </a:solidFill>
              </a:rPr>
              <a:t>Data Analysis Report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050792" y="2423160"/>
            <a:ext cx="612648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87384"/>
                </a:solidFill>
              </a:rPr>
              <a:t>Data-focused analysis of aspiration behavior and optical CV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687384"/>
                </a:solidFill>
              </a:rPr>
              <a:t>1,020,000 cycles / 392.3% life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EBFF"/>
                </a:solidFill>
              </a:rPr>
              <a:t>Report 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 Analysis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Trends / Anomaly Nodes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Plate-level Scope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Unit-level Evidence Chain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050792" y="534924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84"/>
                </a:solidFill>
              </a:rPr>
              <a:t>SZ ENG | 2026-06-04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1/13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1. Data Scope and Analysis Method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This report focuses on aspiration / LOW %D and optical CV. Pressure data is treated only as supporting seal-context data, not as the primary judgment basis.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2/13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1920240" cy="50292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289304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Field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8595360" cy="50292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1289304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Scope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19202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178765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Sample Count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737360"/>
            <a:ext cx="8595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178765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5 production P1KH 96-channel P1000H units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240280"/>
            <a:ext cx="192024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229057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Test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2240280"/>
            <a:ext cx="859536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229057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1000 uL cycles / O-ring-related performance observation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743200"/>
            <a:ext cx="19202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279349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Cycle Records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2743200"/>
            <a:ext cx="8595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42616" y="279349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Each unit has 15 cycle rows; 10 rows contain analyzable numeric CV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246120"/>
            <a:ext cx="192024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329641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Latest Node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246120"/>
            <a:ext cx="859536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42616" y="329641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1,020,000 cycles / 392.3% life / Finish x5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3749040"/>
            <a:ext cx="19202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" y="379933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Key Data Fields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3749040"/>
            <a:ext cx="8595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42616" y="379933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CV across all dispenses, plate1-5 CV, worst-channel CV, LOW %D / fail / note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4251960"/>
            <a:ext cx="192024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" y="430225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Key Scope Change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06040" y="4251960"/>
            <a:ext cx="859536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42616" y="430225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At the latest 1020k node, only plate1-3 are valid; plate4/5 are #DIV/0!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983480"/>
            <a:ext cx="1046988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21208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4EA6"/>
                </a:solidFill>
              </a:rPr>
              <a:t>Analysis principle: treat the O-ring as an engineering hypothesis that may affect aspiration consistency and optical CV; use the data to grade risk, and do not treat inference as a confirmed root cause.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2. Metric Definitions: Data That Indicates O-ring Risk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The O-ring does not directly generate optical values; it affects aspiration/dispense stability through sealing and friction, which then appears in optical results.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3/13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123444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25296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Category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1170432"/>
            <a:ext cx="233172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1225296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60520" y="1170432"/>
            <a:ext cx="699516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7096" y="1225296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Analytical Meaning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1792224"/>
            <a:ext cx="123444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842516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Direct Observation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828800" y="1792224"/>
            <a:ext cx="23317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65376" y="1842516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LOW %D / low aspiration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160520" y="1792224"/>
            <a:ext cx="6995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842516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Low aspiration or local channel aspiration shortage is the closest observable signal to an O-ring sealing issue.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94360" y="2414016"/>
            <a:ext cx="123444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2464308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Direct Observation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828800" y="2414016"/>
            <a:ext cx="233172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2464308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Optical CV across all dispenses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160520" y="2414016"/>
            <a:ext cx="69951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97096" y="2464308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Overall dispensing consistency; an increase suggests higher channel-to-channel or plate-to-plate variation.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94360" y="3035808"/>
            <a:ext cx="123444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3086100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Direct Observation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1828800" y="3035808"/>
            <a:ext cx="23317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5376" y="3086100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Worst-channel CV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160520" y="3035808"/>
            <a:ext cx="6995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3086100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Used to locate abnormal peaks from a single channel or a small group of channels.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94360" y="3657600"/>
            <a:ext cx="123444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707892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Data Quality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1828800" y="3657600"/>
            <a:ext cx="233172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3707892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Valid Plate Count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160520" y="3657600"/>
            <a:ext cx="69951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7096" y="3707892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The latest 1020k node has only 3 tested plates, so it is not fully equivalent to historical 5-plate data.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94360" y="4279392"/>
            <a:ext cx="123444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" y="4329684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Engineering Inference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828800" y="4279392"/>
            <a:ext cx="23317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65376" y="4329684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O-ring Risk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4160520" y="4279392"/>
            <a:ext cx="6995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97096" y="4329684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O-ring risk increases when LOW %D, CV peaks, and channel-localized evidence appear together.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777240" y="5074920"/>
            <a:ext cx="10149840" cy="6858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F3437"/>
                </a:solidFill>
              </a:rPr>
              <a:t>• This report prioritizes data patterns: overall elevation, localized channel anomalies, and whether LOW %D / fail notes are present.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2F3437"/>
                </a:solidFill>
              </a:rPr>
              <a:t>• O-ring conclusions must be confirmed through teardown or before/after replacement retesting; this report grades the strength of data support.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3. CV Trend: Different Units Show Different Variation Patterns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A05 is a late-stage spike; A01 was high in the early/mid stage and then improved; A04 is elevated during 195k-520k and again at the latest node.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4/13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083564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CV across all dispenses by cycle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978408" y="52578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98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978408" y="48514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919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978408" y="44450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855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78408" y="40386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791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3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978408" y="36322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727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4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978408" y="32258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66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5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78408" y="28194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599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6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78408" y="24130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3535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7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978408" y="20066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9471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8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78408" y="16002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15407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9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978408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577276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0972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260k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176144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29840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520k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9174839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28535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820k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1173968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27664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1020k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978408" y="3225800"/>
            <a:ext cx="10195560" cy="0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51008" y="307949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C2626"/>
                </a:solidFill>
              </a:rPr>
              <a:t>CV 5 reference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78408" y="4885451"/>
            <a:ext cx="649717" cy="85167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28125" y="4781828"/>
            <a:ext cx="349848" cy="10362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77973" y="4781828"/>
            <a:ext cx="299869" cy="241303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77842" y="3566813"/>
            <a:ext cx="649717" cy="1456317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7559" y="3545140"/>
            <a:ext cx="649717" cy="2167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77276" y="2964929"/>
            <a:ext cx="2598868" cy="58021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6144" y="2964929"/>
            <a:ext cx="999565" cy="183189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75709" y="4796826"/>
            <a:ext cx="1999129" cy="15731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74839" y="3478011"/>
            <a:ext cx="1999129" cy="1476133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6404" y="4938614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140" y="2932925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141964" y="3446007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8408" y="4934211"/>
            <a:ext cx="649717" cy="4747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28125" y="4934211"/>
            <a:ext cx="349848" cy="2663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77973" y="4960842"/>
            <a:ext cx="299869" cy="5718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77842" y="4854441"/>
            <a:ext cx="649717" cy="163582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27559" y="4854441"/>
            <a:ext cx="649717" cy="24628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77276" y="2740238"/>
            <a:ext cx="2598868" cy="213883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76144" y="2740238"/>
            <a:ext cx="999565" cy="2003778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75709" y="4498840"/>
            <a:ext cx="1999129" cy="245176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74839" y="4498840"/>
            <a:ext cx="1999129" cy="15478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46404" y="4949680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44140" y="2708234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141964" y="4621621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8408" y="4462424"/>
            <a:ext cx="649717" cy="51037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28125" y="4779809"/>
            <a:ext cx="349848" cy="192987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77973" y="4779809"/>
            <a:ext cx="299869" cy="25364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7842" y="4834564"/>
            <a:ext cx="649717" cy="198894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27559" y="4834564"/>
            <a:ext cx="649717" cy="164927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77276" y="4834106"/>
            <a:ext cx="2598868" cy="165384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76144" y="4834107"/>
            <a:ext cx="999565" cy="5982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75709" y="4893934"/>
            <a:ext cx="1999129" cy="135646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74839" y="4982507"/>
            <a:ext cx="1999129" cy="4707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6404" y="4430420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95555" y="4802560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141964" y="4950503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8408" y="3324710"/>
            <a:ext cx="649717" cy="1686932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28125" y="3324709"/>
            <a:ext cx="349848" cy="745867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77973" y="3053518"/>
            <a:ext cx="299869" cy="1017059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77842" y="2033442"/>
            <a:ext cx="649717" cy="1020076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927559" y="2033442"/>
            <a:ext cx="649717" cy="48809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77276" y="1841788"/>
            <a:ext cx="2598868" cy="679747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76144" y="1841788"/>
            <a:ext cx="999565" cy="1593115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75709" y="3434903"/>
            <a:ext cx="1999129" cy="1032852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74839" y="4467755"/>
            <a:ext cx="1999129" cy="126515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46404" y="4979638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95555" y="2001438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44140" y="1809784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141964" y="456226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" y="4830539"/>
            <a:ext cx="649717" cy="7765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628125" y="4729428"/>
            <a:ext cx="349848" cy="101111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977973" y="4729428"/>
            <a:ext cx="299869" cy="26781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77842" y="4886010"/>
            <a:ext cx="649717" cy="11123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27559" y="4886010"/>
            <a:ext cx="649717" cy="127032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577276" y="4953818"/>
            <a:ext cx="2598868" cy="5922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76144" y="4953818"/>
            <a:ext cx="999565" cy="37278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175709" y="4991096"/>
            <a:ext cx="1999129" cy="4450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74839" y="2478411"/>
            <a:ext cx="1999129" cy="255718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46404" y="4876191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945969" y="4697424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141964" y="2446408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24128" y="5550408"/>
            <a:ext cx="1097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704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0624A04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1938528" y="5550408"/>
            <a:ext cx="1097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0848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1217A05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2852928" y="5550408"/>
            <a:ext cx="1097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9992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0311A04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67328" y="5550408"/>
            <a:ext cx="1097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136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0624A01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4681728" y="5550408"/>
            <a:ext cx="1097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280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0624A05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713232" y="5715000"/>
            <a:ext cx="109728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9808" y="5769864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Unit</a:t>
            </a:r>
            <a:endParaRPr lang="en-US" sz="770" dirty="0"/>
          </a:p>
        </p:txBody>
      </p:sp>
      <p:sp>
        <p:nvSpPr>
          <p:cNvPr id="113" name="Shape 111"/>
          <p:cNvSpPr/>
          <p:nvPr/>
        </p:nvSpPr>
        <p:spPr>
          <a:xfrm>
            <a:off x="1810512" y="5715000"/>
            <a:ext cx="146304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847088" y="5769864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Latest CV</a:t>
            </a:r>
            <a:endParaRPr lang="en-US" sz="770" dirty="0"/>
          </a:p>
        </p:txBody>
      </p:sp>
      <p:sp>
        <p:nvSpPr>
          <p:cNvPr id="115" name="Shape 113"/>
          <p:cNvSpPr/>
          <p:nvPr/>
        </p:nvSpPr>
        <p:spPr>
          <a:xfrm>
            <a:off x="3273552" y="5715000"/>
            <a:ext cx="219456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310128" y="5769864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Max CV point</a:t>
            </a:r>
            <a:endParaRPr lang="en-US" sz="770" dirty="0"/>
          </a:p>
        </p:txBody>
      </p:sp>
      <p:sp>
        <p:nvSpPr>
          <p:cNvPr id="117" name="Shape 115"/>
          <p:cNvSpPr/>
          <p:nvPr/>
        </p:nvSpPr>
        <p:spPr>
          <a:xfrm>
            <a:off x="5468112" y="5715000"/>
            <a:ext cx="118872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504688" y="5769864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N</a:t>
            </a:r>
            <a:endParaRPr lang="en-US" sz="770" dirty="0"/>
          </a:p>
        </p:txBody>
      </p:sp>
      <p:sp>
        <p:nvSpPr>
          <p:cNvPr id="119" name="Shape 117"/>
          <p:cNvSpPr/>
          <p:nvPr/>
        </p:nvSpPr>
        <p:spPr>
          <a:xfrm>
            <a:off x="713232" y="6007608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9808" y="6057900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0624A04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810512" y="6007608"/>
            <a:ext cx="146304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847088" y="6057900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4.379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273552" y="6007608"/>
            <a:ext cx="219456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10128" y="6057900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5.642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5468112" y="6007608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504688" y="6057900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713232" y="6300216"/>
            <a:ext cx="109728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49808" y="6350508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1217A05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810512" y="6300216"/>
            <a:ext cx="146304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847088" y="6350508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1.487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3273552" y="6300216"/>
            <a:ext cx="219456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310128" y="6350508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6.195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5468112" y="6300216"/>
            <a:ext cx="11887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504688" y="6350508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713232" y="6592824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49808" y="6643116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0311A04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1810512" y="6592824"/>
            <a:ext cx="146304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847088" y="6643116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0.677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3273552" y="6592824"/>
            <a:ext cx="219456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310128" y="6643116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0 / 1.957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468112" y="6592824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504688" y="6643116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713232" y="6885432"/>
            <a:ext cx="109728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49808" y="6935724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0624A01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1810512" y="6885432"/>
            <a:ext cx="146304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847088" y="6935724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1.633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3273552" y="6885432"/>
            <a:ext cx="219456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310128" y="6935724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8.406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5468112" y="6885432"/>
            <a:ext cx="11887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504688" y="6935724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713232" y="7178040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49808" y="7228332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0624A05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1810512" y="7178040"/>
            <a:ext cx="146304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847088" y="7228332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6.839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3273552" y="7178040"/>
            <a:ext cx="219456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310128" y="7228332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6.839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5468112" y="7178040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504688" y="7228332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4. Worst-channel CV: Channel-level Peak Localization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Worst-channel CV helps identify local sealing or aspiration instability, rather than relying only on overall CV.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5/13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083564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Worst-channel CV by cycle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978408" y="52578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98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978408" y="4735286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75850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2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978408" y="4212771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53335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4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78408" y="3690257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30821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6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978408" y="3167743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307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8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978408" y="2645229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85793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10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78408" y="2122714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63278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12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78408" y="16002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5407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14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978408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577276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0972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260k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176144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9840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520k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9174839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28535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820k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1173968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27664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1020k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978408" y="4584607"/>
            <a:ext cx="649717" cy="352371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28125" y="3206981"/>
            <a:ext cx="349848" cy="137762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77973" y="3206981"/>
            <a:ext cx="299869" cy="169885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77842" y="3158386"/>
            <a:ext cx="649717" cy="174745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7559" y="3158387"/>
            <a:ext cx="649717" cy="676113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77276" y="2330582"/>
            <a:ext cx="2598868" cy="150391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6144" y="2330582"/>
            <a:ext cx="999565" cy="2514145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75709" y="4844727"/>
            <a:ext cx="1999129" cy="122412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74839" y="4843831"/>
            <a:ext cx="1999129" cy="12330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6404" y="4904974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44140" y="2298578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41964" y="4811827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8408" y="3939922"/>
            <a:ext cx="649717" cy="107523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28125" y="3939922"/>
            <a:ext cx="349848" cy="819368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77973" y="4759290"/>
            <a:ext cx="299869" cy="15505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77842" y="4914343"/>
            <a:ext cx="649717" cy="57687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7559" y="4885735"/>
            <a:ext cx="649717" cy="8629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77276" y="3319477"/>
            <a:ext cx="2598868" cy="1566258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6144" y="3319477"/>
            <a:ext cx="999565" cy="152043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75709" y="4646898"/>
            <a:ext cx="1999129" cy="19301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74839" y="4646897"/>
            <a:ext cx="1999129" cy="787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6404" y="4983148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44140" y="3287473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41964" y="4622764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8408" y="4604079"/>
            <a:ext cx="649717" cy="339031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628125" y="4687932"/>
            <a:ext cx="349848" cy="25517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77973" y="4687932"/>
            <a:ext cx="299869" cy="35581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77842" y="4432765"/>
            <a:ext cx="649717" cy="61098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27559" y="4432765"/>
            <a:ext cx="649717" cy="56131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77276" y="4900680"/>
            <a:ext cx="2598868" cy="9339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76144" y="4866817"/>
            <a:ext cx="999565" cy="3386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75709" y="4866817"/>
            <a:ext cx="1999129" cy="171257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74839" y="4982917"/>
            <a:ext cx="1999129" cy="55157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6404" y="4572075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95555" y="4400761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141964" y="4950913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78408" y="3474877"/>
            <a:ext cx="649717" cy="1529872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28125" y="3474877"/>
            <a:ext cx="349848" cy="560380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77973" y="3623672"/>
            <a:ext cx="299869" cy="411585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7842" y="1757862"/>
            <a:ext cx="649717" cy="1865810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7559" y="1757862"/>
            <a:ext cx="649717" cy="149782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77276" y="2726567"/>
            <a:ext cx="2598868" cy="529116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76144" y="2726566"/>
            <a:ext cx="999565" cy="988626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75709" y="3715192"/>
            <a:ext cx="1999129" cy="85069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174839" y="4461947"/>
            <a:ext cx="1999129" cy="103936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6404" y="4972745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95555" y="1725858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44140" y="2694562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141964" y="4429943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8408" y="4053757"/>
            <a:ext cx="649717" cy="887290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28125" y="3080394"/>
            <a:ext cx="349848" cy="973363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77973" y="3080394"/>
            <a:ext cx="299869" cy="1906358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277842" y="4118239"/>
            <a:ext cx="649717" cy="868513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27559" y="4118239"/>
            <a:ext cx="649717" cy="862492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77276" y="4895405"/>
            <a:ext cx="2598868" cy="8532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76144" y="4895405"/>
            <a:ext cx="999565" cy="12189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175709" y="4930327"/>
            <a:ext cx="1999129" cy="8697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174839" y="4434888"/>
            <a:ext cx="1999129" cy="49543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46404" y="4909043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45969" y="3048390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141964" y="4402883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24128" y="5550408"/>
            <a:ext cx="1097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704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0624A04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1938528" y="5550408"/>
            <a:ext cx="1097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0848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1217A05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852928" y="5550408"/>
            <a:ext cx="1097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9992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0311A04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67328" y="5550408"/>
            <a:ext cx="1097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9136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0624A01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4681728" y="5550408"/>
            <a:ext cx="1097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8280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0624A05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713232" y="5715000"/>
            <a:ext cx="109728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9808" y="5769864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Unit</a:t>
            </a:r>
            <a:endParaRPr lang="en-US" sz="770" dirty="0"/>
          </a:p>
        </p:txBody>
      </p:sp>
      <p:sp>
        <p:nvSpPr>
          <p:cNvPr id="107" name="Shape 105"/>
          <p:cNvSpPr/>
          <p:nvPr/>
        </p:nvSpPr>
        <p:spPr>
          <a:xfrm>
            <a:off x="1810512" y="5715000"/>
            <a:ext cx="256032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847088" y="5769864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Max worst-channel</a:t>
            </a:r>
            <a:endParaRPr lang="en-US" sz="770" dirty="0"/>
          </a:p>
        </p:txBody>
      </p:sp>
      <p:sp>
        <p:nvSpPr>
          <p:cNvPr id="109" name="Shape 107"/>
          <p:cNvSpPr/>
          <p:nvPr/>
        </p:nvSpPr>
        <p:spPr>
          <a:xfrm>
            <a:off x="4370832" y="5715000"/>
            <a:ext cx="256032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407408" y="5769864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Latest worst-channel</a:t>
            </a:r>
            <a:endParaRPr lang="en-US" sz="770" dirty="0"/>
          </a:p>
        </p:txBody>
      </p:sp>
      <p:sp>
        <p:nvSpPr>
          <p:cNvPr id="111" name="Shape 109"/>
          <p:cNvSpPr/>
          <p:nvPr/>
        </p:nvSpPr>
        <p:spPr>
          <a:xfrm>
            <a:off x="6931152" y="5715000"/>
            <a:ext cx="118872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967728" y="5769864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Risk</a:t>
            </a:r>
            <a:endParaRPr lang="en-US" sz="770" dirty="0"/>
          </a:p>
        </p:txBody>
      </p:sp>
      <p:sp>
        <p:nvSpPr>
          <p:cNvPr id="113" name="Shape 111"/>
          <p:cNvSpPr/>
          <p:nvPr/>
        </p:nvSpPr>
        <p:spPr>
          <a:xfrm>
            <a:off x="713232" y="6007608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9808" y="6057900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0624A04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1810512" y="6007608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847088" y="6057900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11.204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370832" y="6007608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407408" y="6057900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1.585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6931152" y="6007608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967728" y="6057900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High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713232" y="6300216"/>
            <a:ext cx="109728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9808" y="6350508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1217A05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810512" y="6300216"/>
            <a:ext cx="25603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847088" y="6350508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7.419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370832" y="6300216"/>
            <a:ext cx="25603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407408" y="6350508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2.308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6931152" y="6300216"/>
            <a:ext cx="11887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967728" y="6350508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High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713232" y="6592824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9808" y="6643116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0311A04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1810512" y="6592824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847088" y="6643116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195k / 3.158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4370832" y="6592824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407408" y="6643116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1.052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6931152" y="6592824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967728" y="6643116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Low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713232" y="6885432"/>
            <a:ext cx="109728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49808" y="6935724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0624A01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1810512" y="6885432"/>
            <a:ext cx="25603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847088" y="6935724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195k / 13.397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4370832" y="6885432"/>
            <a:ext cx="25603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407408" y="6935724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3.046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6931152" y="6885432"/>
            <a:ext cx="11887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967728" y="6935724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Monitor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713232" y="7178040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49808" y="7228332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0624A05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1810512" y="7178040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847088" y="7228332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100k / 8.334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370832" y="7178040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407408" y="7228332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3.150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6931152" y="7178040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967728" y="7228332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High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5. Latest 1020k Plate-level Analysis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The latest node includes only plate1-3; all three valid A05 plates are in the 6.7-6.9 range, indicating broad elevation.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6/13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521208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Latest CV comparison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978408" y="4416552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4361688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0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978408" y="4070223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4015359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1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978408" y="3723894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669030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2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978408" y="3377565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322701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3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978408" y="3031236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976372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4</a:t>
            </a:r>
            <a:endParaRPr lang="en-US" sz="640" dirty="0"/>
          </a:p>
        </p:txBody>
      </p:sp>
      <p:sp>
        <p:nvSpPr>
          <p:cNvPr id="18" name="Shape 16"/>
          <p:cNvSpPr/>
          <p:nvPr/>
        </p:nvSpPr>
        <p:spPr>
          <a:xfrm>
            <a:off x="978408" y="2684907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630043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5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978408" y="2338578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228371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6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978408" y="1992249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1937385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7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978408" y="1645920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1591056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8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978408" y="2684907"/>
            <a:ext cx="4681728" cy="0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41" y="2899838"/>
            <a:ext cx="543080" cy="1516714"/>
          </a:xfrm>
          <a:prstGeom prst="roundRect">
            <a:avLst>
              <a:gd name="adj" fmla="val 589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2745" y="2735246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59E0B"/>
                </a:solidFill>
              </a:rPr>
              <a:t>4.379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1028737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0624A04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2111386" y="3901682"/>
            <a:ext cx="543080" cy="514870"/>
          </a:xfrm>
          <a:prstGeom prst="roundRect">
            <a:avLst>
              <a:gd name="adj" fmla="val 621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9090" y="3737090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7C3AED"/>
                </a:solidFill>
              </a:rPr>
              <a:t>1.487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1965082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1217A05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3047732" y="4181950"/>
            <a:ext cx="543080" cy="234602"/>
          </a:xfrm>
          <a:prstGeom prst="roundRect">
            <a:avLst>
              <a:gd name="adj" fmla="val 1364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5436" y="4017358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6A34A"/>
                </a:solidFill>
              </a:rPr>
              <a:t>0.677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901428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0311A04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3984077" y="3851100"/>
            <a:ext cx="543080" cy="565452"/>
          </a:xfrm>
          <a:prstGeom prst="roundRect">
            <a:avLst>
              <a:gd name="adj" fmla="val 589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01781" y="3686508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891B2"/>
                </a:solidFill>
              </a:rPr>
              <a:t>1.633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3837773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0624A01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4920423" y="2047992"/>
            <a:ext cx="543080" cy="2368560"/>
          </a:xfrm>
          <a:prstGeom prst="roundRect">
            <a:avLst>
              <a:gd name="adj" fmla="val 589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8127" y="1883400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DC2626"/>
                </a:solidFill>
              </a:rPr>
              <a:t>6.839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4774119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0624A05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6080760" y="1261872"/>
            <a:ext cx="86868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17336" y="1316736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Unit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6949440" y="1261872"/>
            <a:ext cx="91440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86016" y="1316736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Latest CV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7863840" y="1261872"/>
            <a:ext cx="283464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00416" y="1316736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Plate1 / Plate2 / Plate3 / Plate4 / Plate5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10698480" y="1261872"/>
            <a:ext cx="64008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35056" y="1316736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Valid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11338560" y="1261872"/>
            <a:ext cx="132588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375136" y="1316736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Note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080760" y="1700784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17336" y="1751076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0624A04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949440" y="1700784"/>
            <a:ext cx="9144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86016" y="1751076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4.379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863840" y="1700784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00416" y="1751076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4.324 / 4.352 / 4.447 / #DIV/0! / #DIV/0!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698480" y="1700784"/>
            <a:ext cx="640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35056" y="1751076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1338560" y="1700784"/>
            <a:ext cx="13258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375136" y="1751076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New optical test standard; only 3 plates tested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080760" y="2139696"/>
            <a:ext cx="8686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17336" y="2189988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1217A05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949440" y="2139696"/>
            <a:ext cx="91440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86016" y="2189988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1.487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863840" y="2139696"/>
            <a:ext cx="283464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00416" y="2189988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0.562 / 0.544 / 0.450 / #DIV/0! / #DIV/0!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0698480" y="2139696"/>
            <a:ext cx="6400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735056" y="2189988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1338560" y="2139696"/>
            <a:ext cx="13258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375136" y="2189988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-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080760" y="2578608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17336" y="2628900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0311A04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949440" y="2578608"/>
            <a:ext cx="9144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86016" y="2628900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0.677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863840" y="2578608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00416" y="2628900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0.549 / 0.571 / 0.577 / #DIV/0! / #DIV/0!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698480" y="2578608"/>
            <a:ext cx="640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735056" y="2628900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1338560" y="2578608"/>
            <a:ext cx="13258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375136" y="2628900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-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080760" y="3017520"/>
            <a:ext cx="8686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17336" y="3067812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0624A01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6949440" y="3017520"/>
            <a:ext cx="91440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86016" y="3067812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1.633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863840" y="3017520"/>
            <a:ext cx="283464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00416" y="3067812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0.448 / 0.860 / 0.454 / #DIV/0! / #DIV/0!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0698480" y="3017520"/>
            <a:ext cx="6400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735056" y="3067812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1338560" y="3017520"/>
            <a:ext cx="13258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375136" y="3067812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-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080760" y="3456432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17336" y="3506724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0624A05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949440" y="3456432"/>
            <a:ext cx="9144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86016" y="3506724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6.839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863840" y="3456432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00416" y="3506724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6.743 / 6.944 / 6.898 / #DIV/0! / #DIV/0!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10698480" y="3456432"/>
            <a:ext cx="640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735056" y="3506724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11338560" y="3456432"/>
            <a:ext cx="13258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1375136" y="3506724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-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777240" y="5166360"/>
            <a:ext cx="10149840" cy="566928"/>
          </a:xfrm>
          <a:prstGeom prst="roundRect">
            <a:avLst>
              <a:gd name="adj" fmla="val 967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60120" y="5358384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2F3437"/>
                </a:solidFill>
              </a:rPr>
              <a:t>Data-scope risk: the latest 1020k result is not fully comparable with earlier 5-plate data. A05 remains abnormal because all 3 valid plates are elevated, but latest CV comparisons for other units should be interpreted cautiously.</a:t>
            </a:r>
            <a:endParaRPr lang="en-US" sz="10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6. Anomaly Timeline: Relationship Between Aspiration / LOW %D and Optical Peaks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Anomalies do not appear only at the endpoint; key evidence for A04, A01, and 1217A05 is concentrated in the early/mid stages.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7/13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960120" cy="47548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197864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</a:rPr>
              <a:t>Cycle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1463040" y="1143000"/>
            <a:ext cx="1005840" cy="47548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1197864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</a:rPr>
              <a:t>Unit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6766560" cy="47548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197864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</a:rPr>
              <a:t>Observed data / note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235440" y="1143000"/>
            <a:ext cx="1828800" cy="47548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2016" y="1197864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</a:rPr>
              <a:t>Evidence type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02920" y="1618488"/>
            <a:ext cx="960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1668780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100k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63040" y="1618488"/>
            <a:ext cx="10058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1668780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0624A04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468880" y="1618488"/>
            <a:ext cx="67665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5456" y="1668780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F1 LOW %D in plate5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235440" y="1618488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1668780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Aspiration anomaly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02920" y="2093976"/>
            <a:ext cx="96012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144268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195k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463040" y="2093976"/>
            <a:ext cx="100584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9616" y="2144268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0624A01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468880" y="2093976"/>
            <a:ext cx="676656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05456" y="2144268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H1 LOW %D plate2; G12 LOW %D plate3; worst CV 13.397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235440" y="2093976"/>
            <a:ext cx="182880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72016" y="2144268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Aspiration + channel peak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02920" y="2569464"/>
            <a:ext cx="960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2619756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260k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463040" y="2569464"/>
            <a:ext cx="10058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9616" y="2619756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0624A04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468880" y="2569464"/>
            <a:ext cx="67665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05456" y="2619756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A5 LOW %D plate4; CV 4.214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9235440" y="2569464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72016" y="2619756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Aspiration anomaly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02920" y="3044952"/>
            <a:ext cx="96012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" y="3095244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455k / 175%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1463040" y="3044952"/>
            <a:ext cx="100584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99616" y="3095244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1217A05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2468880" y="3044952"/>
            <a:ext cx="676656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05456" y="3095244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Explicit fail; C5/C7 aspirate less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9235440" y="3044952"/>
            <a:ext cx="182880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72016" y="3095244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Explicit aspiration fail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02920" y="3520440"/>
            <a:ext cx="960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3570732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520k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1463040" y="3520440"/>
            <a:ext cx="10058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99616" y="3570732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0624A04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2468880" y="3520440"/>
            <a:ext cx="67665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05456" y="3570732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Oil leak / sensor error; CV 5.642; worst 11.204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9235440" y="3520440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72016" y="3570732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Event + optical peak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502920" y="3995928"/>
            <a:ext cx="96012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" y="4046220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520k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1463040" y="3995928"/>
            <a:ext cx="100584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99616" y="4046220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0624A01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2468880" y="3995928"/>
            <a:ext cx="676656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05456" y="4046220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Max CV 8.406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9235440" y="3995928"/>
            <a:ext cx="182880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72016" y="4046220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Optical peak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502920" y="4471416"/>
            <a:ext cx="960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" y="4521708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1020k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1463040" y="4471416"/>
            <a:ext cx="10058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99616" y="4521708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0624A05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2468880" y="4471416"/>
            <a:ext cx="67665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05456" y="4521708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Latest CV 6.839; plate1-3 all high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9235440" y="4471416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72016" y="4521708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Endpoint broadly elevated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502920" y="4946904"/>
            <a:ext cx="96012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9496" y="4997196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1020k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1463040" y="4946904"/>
            <a:ext cx="100584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499616" y="4997196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All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2468880" y="4946904"/>
            <a:ext cx="676656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05456" y="4997196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Only 3 valid plates; plate4/5 #DIV/0!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9235440" y="4946904"/>
            <a:ext cx="182880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72016" y="4997196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Data scope change</a:t>
            </a:r>
            <a:endParaRPr lang="en-US" sz="820" dirty="0"/>
          </a:p>
        </p:txBody>
      </p:sp>
      <p:sp>
        <p:nvSpPr>
          <p:cNvPr id="79" name="Text 77"/>
          <p:cNvSpPr/>
          <p:nvPr/>
        </p:nvSpPr>
        <p:spPr>
          <a:xfrm>
            <a:off x="685800" y="5486400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F3437"/>
                </a:solidFill>
              </a:rPr>
              <a:t>Analytical focus: O-ring risk is not determined by a single CV value; it is determined by the combined pattern of aspiration anomaly + channel localization + CV peak + event record.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7. Per-unit Data Matrix: Latest, Peak, and Anomaly Evidence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This page is the unit-level data summary for follow-up review and root-cause investigation.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8/13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82296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152144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Unit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234440" y="1097280"/>
            <a:ext cx="68580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1016" y="1152144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Risk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20240" y="1097280"/>
            <a:ext cx="91440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1152144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Latest CV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34640" y="1097280"/>
            <a:ext cx="141732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71216" y="1152144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Max CV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51960" y="1097280"/>
            <a:ext cx="169164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152144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Max worst CV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585216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1152144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Notes / fail evidence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1728216"/>
            <a:ext cx="8229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1778508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0624A04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234440" y="1728216"/>
            <a:ext cx="6858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71016" y="1778508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High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920240" y="1728216"/>
            <a:ext cx="9144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1778508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4.379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834640" y="1728216"/>
            <a:ext cx="141732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1216" y="1778508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5.642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251960" y="1728216"/>
            <a:ext cx="169164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88536" y="1778508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11.204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5943600" y="1728216"/>
            <a:ext cx="58521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0176" y="1778508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100k F1 LOW %D in plate5; 260k A5 LOW %D plate4; 520k tip-pickup step loss or collision error: oil leak; back board filled with oil, causing sensor error; 1020k new optical test standard, only 3 plates tested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11480" y="2359152"/>
            <a:ext cx="82296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2409444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1217A05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234440" y="2359152"/>
            <a:ext cx="68580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71016" y="2409444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High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1920240" y="2359152"/>
            <a:ext cx="91440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56816" y="2409444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1.487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2834640" y="2359152"/>
            <a:ext cx="141732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71216" y="2409444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6.195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251960" y="2359152"/>
            <a:ext cx="169164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88536" y="2409444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7.419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5943600" y="2359152"/>
            <a:ext cx="585216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0176" y="2409444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455k C5/C7 two channels aspirated less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411480" y="2990088"/>
            <a:ext cx="8229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" y="3040380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0311A04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1234440" y="2990088"/>
            <a:ext cx="6858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71016" y="3040380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Low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1920240" y="2990088"/>
            <a:ext cx="9144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6816" y="3040380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0.677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2834640" y="2990088"/>
            <a:ext cx="141732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71216" y="3040380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0 / 1.957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4251960" y="2990088"/>
            <a:ext cx="169164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88536" y="3040380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195k / 3.158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5943600" y="2990088"/>
            <a:ext cx="58521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0176" y="3040380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-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411480" y="3621024"/>
            <a:ext cx="82296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" y="3671316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0624A01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1234440" y="3621024"/>
            <a:ext cx="68580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71016" y="3671316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Monitor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1920240" y="3621024"/>
            <a:ext cx="91440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56816" y="3671316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1.633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2834640" y="3621024"/>
            <a:ext cx="141732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71216" y="3671316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8.406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4251960" y="3621024"/>
            <a:ext cx="169164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88536" y="3671316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195k / 13.397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5943600" y="3621024"/>
            <a:ext cx="585216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0176" y="3671316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195k H1 LOW %D in plate2 and G12 LOW %D in plate3; 920k optical; - optical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411480" y="4251960"/>
            <a:ext cx="8229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" y="4302252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0624A05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1234440" y="4251960"/>
            <a:ext cx="6858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71016" y="4302252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High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1920240" y="4251960"/>
            <a:ext cx="9144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56816" y="4302252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6.839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2834640" y="4251960"/>
            <a:ext cx="141732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71216" y="4302252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1020k / 6.839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4251960" y="4251960"/>
            <a:ext cx="169164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88536" y="4302252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100k / 8.334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5943600" y="4251960"/>
            <a:ext cx="58521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80176" y="4302252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-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1261872" y="1920240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261872" y="1961388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1261872" y="2551176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61872" y="2592324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261872" y="3182112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261872" y="3223260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261872" y="3813048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261872" y="3854196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Monitor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1261872" y="4443984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61872" y="4485132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8. Case Analysis - 0624A05: Late-stage Optical Spike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The key point for A05 is not historical LOW %D; it is that all three valid plates show high CV at the endpoint.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9/13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CV trend - all units, A05 highlighted by final spike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005840" y="438912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432968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005840" y="406908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400964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005840" y="374904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68960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005840" y="342900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3695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3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005840" y="310896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04952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4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005840" y="278892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72948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5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005840" y="246888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40944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6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005840" y="214884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08940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7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005840" y="182880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1769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8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005840" y="150876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144932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9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00584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19456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825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260k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38328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3697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520k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75488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820k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66928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2297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1020k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005840" y="2788920"/>
            <a:ext cx="4663440" cy="0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64261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C2626"/>
                </a:solidFill>
              </a:rPr>
              <a:t>5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05840" y="4095896"/>
            <a:ext cx="297180" cy="6706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03020" y="4014292"/>
            <a:ext cx="160020" cy="8160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4014292"/>
            <a:ext cx="137160" cy="19002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00200" y="3057469"/>
            <a:ext cx="297180" cy="114684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97380" y="3040400"/>
            <a:ext cx="297180" cy="1706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94560" y="2583484"/>
            <a:ext cx="1188720" cy="45691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2583484"/>
            <a:ext cx="457200" cy="144261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0" y="4026103"/>
            <a:ext cx="914400" cy="12388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2987536"/>
            <a:ext cx="914400" cy="1162455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" y="4130961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51276" y="2551480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37276" y="2955532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" y="4134293"/>
            <a:ext cx="297180" cy="3738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03020" y="4134294"/>
            <a:ext cx="160020" cy="20972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63040" y="4155265"/>
            <a:ext cx="137160" cy="4503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00200" y="4071475"/>
            <a:ext cx="297180" cy="12882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97380" y="4071475"/>
            <a:ext cx="297180" cy="1939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94560" y="2406540"/>
            <a:ext cx="1188720" cy="1684329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0" y="2406540"/>
            <a:ext cx="457200" cy="157797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0" y="3791439"/>
            <a:ext cx="914400" cy="193076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3791439"/>
            <a:ext cx="914400" cy="12189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3836" y="4139674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51276" y="2374536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37276" y="3881328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5840" y="3762761"/>
            <a:ext cx="297180" cy="40191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03020" y="4012702"/>
            <a:ext cx="160020" cy="15197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63040" y="4012702"/>
            <a:ext cx="137160" cy="19974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00200" y="4055821"/>
            <a:ext cx="297180" cy="156629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97380" y="4055822"/>
            <a:ext cx="297180" cy="12988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4055461"/>
            <a:ext cx="1188720" cy="13024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4055462"/>
            <a:ext cx="457200" cy="47114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40480" y="4102576"/>
            <a:ext cx="914400" cy="106821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54880" y="4172327"/>
            <a:ext cx="914400" cy="3707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3836" y="3730757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65376" y="4023818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37276" y="4140323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5840" y="2866811"/>
            <a:ext cx="297180" cy="1328459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03020" y="2866811"/>
            <a:ext cx="160020" cy="58737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463040" y="2653248"/>
            <a:ext cx="137160" cy="80093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00200" y="1849938"/>
            <a:ext cx="297180" cy="803310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97380" y="1849938"/>
            <a:ext cx="297180" cy="38437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194560" y="1699011"/>
            <a:ext cx="1188720" cy="53530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83280" y="1699011"/>
            <a:ext cx="457200" cy="1254578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40480" y="2953589"/>
            <a:ext cx="914400" cy="81337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54880" y="3766960"/>
            <a:ext cx="914400" cy="9963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3836" y="416326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65376" y="1817934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51276" y="1667007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37276" y="383458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05840" y="4052652"/>
            <a:ext cx="297180" cy="6115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03020" y="3973027"/>
            <a:ext cx="160020" cy="79625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63040" y="3973027"/>
            <a:ext cx="137160" cy="210905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00200" y="4096335"/>
            <a:ext cx="297180" cy="8759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897380" y="4096336"/>
            <a:ext cx="297180" cy="10003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194560" y="4149734"/>
            <a:ext cx="1188720" cy="4663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149734"/>
            <a:ext cx="457200" cy="2935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840480" y="4179091"/>
            <a:ext cx="914400" cy="3504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754880" y="2200352"/>
            <a:ext cx="914400" cy="201378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3836" y="4081802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431036" y="3941023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637276" y="2168348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1560" y="4681728"/>
            <a:ext cx="1097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978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0624A04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1965960" y="4681728"/>
            <a:ext cx="1097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122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1217A05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2880360" y="4681728"/>
            <a:ext cx="1097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266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0311A04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94760" y="4681728"/>
            <a:ext cx="1097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410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0624A01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4709160" y="4681728"/>
            <a:ext cx="1097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554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0624A05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6126480" y="1143000"/>
            <a:ext cx="68580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163056" y="119786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Cycle</a:t>
            </a:r>
            <a:endParaRPr lang="en-US" sz="670" dirty="0"/>
          </a:p>
        </p:txBody>
      </p:sp>
      <p:sp>
        <p:nvSpPr>
          <p:cNvPr id="113" name="Shape 111"/>
          <p:cNvSpPr/>
          <p:nvPr/>
        </p:nvSpPr>
        <p:spPr>
          <a:xfrm>
            <a:off x="6812280" y="1143000"/>
            <a:ext cx="77724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848856" y="1197864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Life</a:t>
            </a:r>
            <a:endParaRPr lang="en-US" sz="670" dirty="0"/>
          </a:p>
        </p:txBody>
      </p:sp>
      <p:sp>
        <p:nvSpPr>
          <p:cNvPr id="115" name="Shape 113"/>
          <p:cNvSpPr/>
          <p:nvPr/>
        </p:nvSpPr>
        <p:spPr>
          <a:xfrm>
            <a:off x="7589520" y="1143000"/>
            <a:ext cx="68580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626096" y="119786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CV</a:t>
            </a:r>
            <a:endParaRPr lang="en-US" sz="670" dirty="0"/>
          </a:p>
        </p:txBody>
      </p:sp>
      <p:sp>
        <p:nvSpPr>
          <p:cNvPr id="117" name="Shape 115"/>
          <p:cNvSpPr/>
          <p:nvPr/>
        </p:nvSpPr>
        <p:spPr>
          <a:xfrm>
            <a:off x="8275320" y="1143000"/>
            <a:ext cx="82296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11896" y="1197864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Worst</a:t>
            </a:r>
            <a:endParaRPr lang="en-US" sz="670" dirty="0"/>
          </a:p>
        </p:txBody>
      </p:sp>
      <p:sp>
        <p:nvSpPr>
          <p:cNvPr id="119" name="Shape 117"/>
          <p:cNvSpPr/>
          <p:nvPr/>
        </p:nvSpPr>
        <p:spPr>
          <a:xfrm>
            <a:off x="9098280" y="1143000"/>
            <a:ext cx="256032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134856" y="1197864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Note</a:t>
            </a:r>
            <a:endParaRPr lang="en-US" sz="670" dirty="0"/>
          </a:p>
        </p:txBody>
      </p:sp>
      <p:sp>
        <p:nvSpPr>
          <p:cNvPr id="121" name="Shape 119"/>
          <p:cNvSpPr/>
          <p:nvPr/>
        </p:nvSpPr>
        <p:spPr>
          <a:xfrm>
            <a:off x="6126480" y="1472184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163056" y="1522476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0</a:t>
            </a:r>
            <a:endParaRPr lang="en-US" sz="640" dirty="0"/>
          </a:p>
        </p:txBody>
      </p:sp>
      <p:sp>
        <p:nvSpPr>
          <p:cNvPr id="123" name="Shape 121"/>
          <p:cNvSpPr/>
          <p:nvPr/>
        </p:nvSpPr>
        <p:spPr>
          <a:xfrm>
            <a:off x="6812280" y="1472184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848856" y="1522476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0.0%</a:t>
            </a:r>
            <a:endParaRPr lang="en-US" sz="640" dirty="0"/>
          </a:p>
        </p:txBody>
      </p:sp>
      <p:sp>
        <p:nvSpPr>
          <p:cNvPr id="125" name="Shape 123"/>
          <p:cNvSpPr/>
          <p:nvPr/>
        </p:nvSpPr>
        <p:spPr>
          <a:xfrm>
            <a:off x="7589520" y="1472184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626096" y="1522476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0.860</a:t>
            </a:r>
            <a:endParaRPr lang="en-US" sz="640" dirty="0"/>
          </a:p>
        </p:txBody>
      </p:sp>
      <p:sp>
        <p:nvSpPr>
          <p:cNvPr id="127" name="Shape 125"/>
          <p:cNvSpPr/>
          <p:nvPr/>
        </p:nvSpPr>
        <p:spPr>
          <a:xfrm>
            <a:off x="8275320" y="1472184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311896" y="1522476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1.212</a:t>
            </a:r>
            <a:endParaRPr lang="en-US" sz="640" dirty="0"/>
          </a:p>
        </p:txBody>
      </p:sp>
      <p:sp>
        <p:nvSpPr>
          <p:cNvPr id="129" name="Shape 127"/>
          <p:cNvSpPr/>
          <p:nvPr/>
        </p:nvSpPr>
        <p:spPr>
          <a:xfrm>
            <a:off x="9098280" y="1472184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134856" y="1522476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31" name="Shape 129"/>
          <p:cNvSpPr/>
          <p:nvPr/>
        </p:nvSpPr>
        <p:spPr>
          <a:xfrm>
            <a:off x="6126480" y="1801368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163056" y="1851660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65k</a:t>
            </a:r>
            <a:endParaRPr lang="en-US" sz="640" dirty="0"/>
          </a:p>
        </p:txBody>
      </p:sp>
      <p:sp>
        <p:nvSpPr>
          <p:cNvPr id="133" name="Shape 131"/>
          <p:cNvSpPr/>
          <p:nvPr/>
        </p:nvSpPr>
        <p:spPr>
          <a:xfrm>
            <a:off x="6812280" y="1801368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848856" y="1851660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25.0%</a:t>
            </a:r>
            <a:endParaRPr lang="en-US" sz="640" dirty="0"/>
          </a:p>
        </p:txBody>
      </p:sp>
      <p:sp>
        <p:nvSpPr>
          <p:cNvPr id="135" name="Shape 133"/>
          <p:cNvSpPr/>
          <p:nvPr/>
        </p:nvSpPr>
        <p:spPr>
          <a:xfrm>
            <a:off x="7589520" y="1801368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626096" y="1851660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1.051</a:t>
            </a:r>
            <a:endParaRPr lang="en-US" sz="640" dirty="0"/>
          </a:p>
        </p:txBody>
      </p:sp>
      <p:sp>
        <p:nvSpPr>
          <p:cNvPr id="137" name="Shape 135"/>
          <p:cNvSpPr/>
          <p:nvPr/>
        </p:nvSpPr>
        <p:spPr>
          <a:xfrm>
            <a:off x="8275320" y="1801368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311896" y="1851660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4.609</a:t>
            </a:r>
            <a:endParaRPr lang="en-US" sz="640" dirty="0"/>
          </a:p>
        </p:txBody>
      </p:sp>
      <p:sp>
        <p:nvSpPr>
          <p:cNvPr id="139" name="Shape 137"/>
          <p:cNvSpPr/>
          <p:nvPr/>
        </p:nvSpPr>
        <p:spPr>
          <a:xfrm>
            <a:off x="9098280" y="1801368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134856" y="1851660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41" name="Shape 139"/>
          <p:cNvSpPr/>
          <p:nvPr/>
        </p:nvSpPr>
        <p:spPr>
          <a:xfrm>
            <a:off x="6126480" y="2130552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163056" y="218084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100k</a:t>
            </a:r>
            <a:endParaRPr lang="en-US" sz="640" dirty="0"/>
          </a:p>
        </p:txBody>
      </p:sp>
      <p:sp>
        <p:nvSpPr>
          <p:cNvPr id="143" name="Shape 141"/>
          <p:cNvSpPr/>
          <p:nvPr/>
        </p:nvSpPr>
        <p:spPr>
          <a:xfrm>
            <a:off x="6812280" y="2130552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848856" y="2180844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Lifetest Spec</a:t>
            </a:r>
            <a:endParaRPr lang="en-US" sz="640" dirty="0"/>
          </a:p>
        </p:txBody>
      </p:sp>
      <p:sp>
        <p:nvSpPr>
          <p:cNvPr id="145" name="Shape 143"/>
          <p:cNvSpPr/>
          <p:nvPr/>
        </p:nvSpPr>
        <p:spPr>
          <a:xfrm>
            <a:off x="7589520" y="2130552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626096" y="218084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1.300</a:t>
            </a:r>
            <a:endParaRPr lang="en-US" sz="640" dirty="0"/>
          </a:p>
        </p:txBody>
      </p:sp>
      <p:sp>
        <p:nvSpPr>
          <p:cNvPr id="147" name="Shape 145"/>
          <p:cNvSpPr/>
          <p:nvPr/>
        </p:nvSpPr>
        <p:spPr>
          <a:xfrm>
            <a:off x="8275320" y="2130552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311896" y="2180844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8.334</a:t>
            </a:r>
            <a:endParaRPr lang="en-US" sz="640" dirty="0"/>
          </a:p>
        </p:txBody>
      </p:sp>
      <p:sp>
        <p:nvSpPr>
          <p:cNvPr id="149" name="Shape 147"/>
          <p:cNvSpPr/>
          <p:nvPr/>
        </p:nvSpPr>
        <p:spPr>
          <a:xfrm>
            <a:off x="9098280" y="2130552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134856" y="2180844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51" name="Shape 149"/>
          <p:cNvSpPr/>
          <p:nvPr/>
        </p:nvSpPr>
        <p:spPr>
          <a:xfrm>
            <a:off x="6126480" y="2459736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163056" y="2510028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130k</a:t>
            </a:r>
            <a:endParaRPr lang="en-US" sz="640" dirty="0"/>
          </a:p>
        </p:txBody>
      </p:sp>
      <p:sp>
        <p:nvSpPr>
          <p:cNvPr id="153" name="Shape 151"/>
          <p:cNvSpPr/>
          <p:nvPr/>
        </p:nvSpPr>
        <p:spPr>
          <a:xfrm>
            <a:off x="6812280" y="2459736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848856" y="2510028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50.0%</a:t>
            </a:r>
            <a:endParaRPr lang="en-US" sz="640" dirty="0"/>
          </a:p>
        </p:txBody>
      </p:sp>
      <p:sp>
        <p:nvSpPr>
          <p:cNvPr id="155" name="Shape 153"/>
          <p:cNvSpPr/>
          <p:nvPr/>
        </p:nvSpPr>
        <p:spPr>
          <a:xfrm>
            <a:off x="7589520" y="2459736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626096" y="2510028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0.641</a:t>
            </a:r>
            <a:endParaRPr lang="en-US" sz="640" dirty="0"/>
          </a:p>
        </p:txBody>
      </p:sp>
      <p:sp>
        <p:nvSpPr>
          <p:cNvPr id="157" name="Shape 155"/>
          <p:cNvSpPr/>
          <p:nvPr/>
        </p:nvSpPr>
        <p:spPr>
          <a:xfrm>
            <a:off x="8275320" y="2459736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311896" y="2510028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1.037</a:t>
            </a:r>
            <a:endParaRPr lang="en-US" sz="640" dirty="0"/>
          </a:p>
        </p:txBody>
      </p:sp>
      <p:sp>
        <p:nvSpPr>
          <p:cNvPr id="159" name="Shape 157"/>
          <p:cNvSpPr/>
          <p:nvPr/>
        </p:nvSpPr>
        <p:spPr>
          <a:xfrm>
            <a:off x="9098280" y="2459736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134856" y="2510028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61" name="Shape 159"/>
          <p:cNvSpPr/>
          <p:nvPr/>
        </p:nvSpPr>
        <p:spPr>
          <a:xfrm>
            <a:off x="6126480" y="2788920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163056" y="2839212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195k</a:t>
            </a:r>
            <a:endParaRPr lang="en-US" sz="640" dirty="0"/>
          </a:p>
        </p:txBody>
      </p:sp>
      <p:sp>
        <p:nvSpPr>
          <p:cNvPr id="163" name="Shape 161"/>
          <p:cNvSpPr/>
          <p:nvPr/>
        </p:nvSpPr>
        <p:spPr>
          <a:xfrm>
            <a:off x="6812280" y="2788920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6848856" y="2839212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75.0%</a:t>
            </a:r>
            <a:endParaRPr lang="en-US" sz="640" dirty="0"/>
          </a:p>
        </p:txBody>
      </p:sp>
      <p:sp>
        <p:nvSpPr>
          <p:cNvPr id="165" name="Shape 163"/>
          <p:cNvSpPr/>
          <p:nvPr/>
        </p:nvSpPr>
        <p:spPr>
          <a:xfrm>
            <a:off x="7589520" y="2788920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626096" y="2839212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0.915</a:t>
            </a:r>
            <a:endParaRPr lang="en-US" sz="640" dirty="0"/>
          </a:p>
        </p:txBody>
      </p:sp>
      <p:sp>
        <p:nvSpPr>
          <p:cNvPr id="167" name="Shape 165"/>
          <p:cNvSpPr/>
          <p:nvPr/>
        </p:nvSpPr>
        <p:spPr>
          <a:xfrm>
            <a:off x="8275320" y="2788920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311896" y="2839212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4.362</a:t>
            </a:r>
            <a:endParaRPr lang="en-US" sz="640" dirty="0"/>
          </a:p>
        </p:txBody>
      </p:sp>
      <p:sp>
        <p:nvSpPr>
          <p:cNvPr id="169" name="Shape 167"/>
          <p:cNvSpPr/>
          <p:nvPr/>
        </p:nvSpPr>
        <p:spPr>
          <a:xfrm>
            <a:off x="9098280" y="2788920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134856" y="2839212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71" name="Shape 169"/>
          <p:cNvSpPr/>
          <p:nvPr/>
        </p:nvSpPr>
        <p:spPr>
          <a:xfrm>
            <a:off x="6126480" y="3118104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6163056" y="3168396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260k</a:t>
            </a:r>
            <a:endParaRPr lang="en-US" sz="640" dirty="0"/>
          </a:p>
        </p:txBody>
      </p:sp>
      <p:sp>
        <p:nvSpPr>
          <p:cNvPr id="173" name="Shape 171"/>
          <p:cNvSpPr/>
          <p:nvPr/>
        </p:nvSpPr>
        <p:spPr>
          <a:xfrm>
            <a:off x="6812280" y="3118104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6848856" y="3168396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100.0%</a:t>
            </a:r>
            <a:endParaRPr lang="en-US" sz="640" dirty="0"/>
          </a:p>
        </p:txBody>
      </p:sp>
      <p:sp>
        <p:nvSpPr>
          <p:cNvPr id="175" name="Shape 173"/>
          <p:cNvSpPr/>
          <p:nvPr/>
        </p:nvSpPr>
        <p:spPr>
          <a:xfrm>
            <a:off x="7589520" y="3118104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626096" y="3168396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0.602</a:t>
            </a:r>
            <a:endParaRPr lang="en-US" sz="640" dirty="0"/>
          </a:p>
        </p:txBody>
      </p:sp>
      <p:sp>
        <p:nvSpPr>
          <p:cNvPr id="177" name="Shape 175"/>
          <p:cNvSpPr/>
          <p:nvPr/>
        </p:nvSpPr>
        <p:spPr>
          <a:xfrm>
            <a:off x="8275320" y="3118104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8311896" y="3168396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1.061</a:t>
            </a:r>
            <a:endParaRPr lang="en-US" sz="640" dirty="0"/>
          </a:p>
        </p:txBody>
      </p:sp>
      <p:sp>
        <p:nvSpPr>
          <p:cNvPr id="179" name="Shape 177"/>
          <p:cNvSpPr/>
          <p:nvPr/>
        </p:nvSpPr>
        <p:spPr>
          <a:xfrm>
            <a:off x="9098280" y="3118104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9134856" y="3168396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81" name="Shape 179"/>
          <p:cNvSpPr/>
          <p:nvPr/>
        </p:nvSpPr>
        <p:spPr>
          <a:xfrm>
            <a:off x="6126480" y="3447288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6163056" y="3497580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520k</a:t>
            </a:r>
            <a:endParaRPr lang="en-US" sz="640" dirty="0"/>
          </a:p>
        </p:txBody>
      </p:sp>
      <p:sp>
        <p:nvSpPr>
          <p:cNvPr id="183" name="Shape 181"/>
          <p:cNvSpPr/>
          <p:nvPr/>
        </p:nvSpPr>
        <p:spPr>
          <a:xfrm>
            <a:off x="6812280" y="3447288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848856" y="3497580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200.0%</a:t>
            </a:r>
            <a:endParaRPr lang="en-US" sz="640" dirty="0"/>
          </a:p>
        </p:txBody>
      </p:sp>
      <p:sp>
        <p:nvSpPr>
          <p:cNvPr id="185" name="Shape 183"/>
          <p:cNvSpPr/>
          <p:nvPr/>
        </p:nvSpPr>
        <p:spPr>
          <a:xfrm>
            <a:off x="7589520" y="3447288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626096" y="3497580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0.748</a:t>
            </a:r>
            <a:endParaRPr lang="en-US" sz="640" dirty="0"/>
          </a:p>
        </p:txBody>
      </p:sp>
      <p:sp>
        <p:nvSpPr>
          <p:cNvPr id="187" name="Shape 185"/>
          <p:cNvSpPr/>
          <p:nvPr/>
        </p:nvSpPr>
        <p:spPr>
          <a:xfrm>
            <a:off x="8275320" y="3447288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311896" y="3497580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1.387</a:t>
            </a:r>
            <a:endParaRPr lang="en-US" sz="640" dirty="0"/>
          </a:p>
        </p:txBody>
      </p:sp>
      <p:sp>
        <p:nvSpPr>
          <p:cNvPr id="189" name="Shape 187"/>
          <p:cNvSpPr/>
          <p:nvPr/>
        </p:nvSpPr>
        <p:spPr>
          <a:xfrm>
            <a:off x="9098280" y="3447288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9134856" y="3497580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91" name="Shape 189"/>
          <p:cNvSpPr/>
          <p:nvPr/>
        </p:nvSpPr>
        <p:spPr>
          <a:xfrm>
            <a:off x="6126480" y="3776472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6163056" y="382676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620k</a:t>
            </a:r>
            <a:endParaRPr lang="en-US" sz="640" dirty="0"/>
          </a:p>
        </p:txBody>
      </p:sp>
      <p:sp>
        <p:nvSpPr>
          <p:cNvPr id="193" name="Shape 191"/>
          <p:cNvSpPr/>
          <p:nvPr/>
        </p:nvSpPr>
        <p:spPr>
          <a:xfrm>
            <a:off x="6812280" y="3776472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6848856" y="3826764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238.5%</a:t>
            </a:r>
            <a:endParaRPr lang="en-US" sz="640" dirty="0"/>
          </a:p>
        </p:txBody>
      </p:sp>
      <p:sp>
        <p:nvSpPr>
          <p:cNvPr id="195" name="Shape 193"/>
          <p:cNvSpPr/>
          <p:nvPr/>
        </p:nvSpPr>
        <p:spPr>
          <a:xfrm>
            <a:off x="7589520" y="3776472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7626096" y="382676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0.656</a:t>
            </a:r>
            <a:endParaRPr lang="en-US" sz="640" dirty="0"/>
          </a:p>
        </p:txBody>
      </p:sp>
      <p:sp>
        <p:nvSpPr>
          <p:cNvPr id="197" name="Shape 195"/>
          <p:cNvSpPr/>
          <p:nvPr/>
        </p:nvSpPr>
        <p:spPr>
          <a:xfrm>
            <a:off x="8275320" y="3776472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8311896" y="3826764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0.921</a:t>
            </a:r>
            <a:endParaRPr lang="en-US" sz="640" dirty="0"/>
          </a:p>
        </p:txBody>
      </p:sp>
      <p:sp>
        <p:nvSpPr>
          <p:cNvPr id="199" name="Shape 197"/>
          <p:cNvSpPr/>
          <p:nvPr/>
        </p:nvSpPr>
        <p:spPr>
          <a:xfrm>
            <a:off x="9098280" y="3776472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134856" y="3826764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201" name="Shape 199"/>
          <p:cNvSpPr/>
          <p:nvPr/>
        </p:nvSpPr>
        <p:spPr>
          <a:xfrm>
            <a:off x="6126480" y="4105656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163056" y="4155948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820k</a:t>
            </a:r>
            <a:endParaRPr lang="en-US" sz="640" dirty="0"/>
          </a:p>
        </p:txBody>
      </p:sp>
      <p:sp>
        <p:nvSpPr>
          <p:cNvPr id="203" name="Shape 201"/>
          <p:cNvSpPr/>
          <p:nvPr/>
        </p:nvSpPr>
        <p:spPr>
          <a:xfrm>
            <a:off x="6812280" y="4105656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848856" y="4155948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315.4%</a:t>
            </a:r>
            <a:endParaRPr lang="en-US" sz="640" dirty="0"/>
          </a:p>
        </p:txBody>
      </p:sp>
      <p:sp>
        <p:nvSpPr>
          <p:cNvPr id="205" name="Shape 203"/>
          <p:cNvSpPr/>
          <p:nvPr/>
        </p:nvSpPr>
        <p:spPr>
          <a:xfrm>
            <a:off x="7589520" y="4105656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7626096" y="4155948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0.547</a:t>
            </a:r>
            <a:endParaRPr lang="en-US" sz="640" dirty="0"/>
          </a:p>
        </p:txBody>
      </p:sp>
      <p:sp>
        <p:nvSpPr>
          <p:cNvPr id="207" name="Shape 205"/>
          <p:cNvSpPr/>
          <p:nvPr/>
        </p:nvSpPr>
        <p:spPr>
          <a:xfrm>
            <a:off x="8275320" y="4105656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8311896" y="4155948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1.253</a:t>
            </a:r>
            <a:endParaRPr lang="en-US" sz="640" dirty="0"/>
          </a:p>
        </p:txBody>
      </p:sp>
      <p:sp>
        <p:nvSpPr>
          <p:cNvPr id="209" name="Shape 207"/>
          <p:cNvSpPr/>
          <p:nvPr/>
        </p:nvSpPr>
        <p:spPr>
          <a:xfrm>
            <a:off x="9098280" y="4105656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9134856" y="4155948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211" name="Shape 209"/>
          <p:cNvSpPr/>
          <p:nvPr/>
        </p:nvSpPr>
        <p:spPr>
          <a:xfrm>
            <a:off x="6126480" y="4434840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163056" y="4485132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1020k</a:t>
            </a:r>
            <a:endParaRPr lang="en-US" sz="640" dirty="0"/>
          </a:p>
        </p:txBody>
      </p:sp>
      <p:sp>
        <p:nvSpPr>
          <p:cNvPr id="213" name="Shape 211"/>
          <p:cNvSpPr/>
          <p:nvPr/>
        </p:nvSpPr>
        <p:spPr>
          <a:xfrm>
            <a:off x="6812280" y="4434840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848856" y="4485132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392.3%</a:t>
            </a:r>
            <a:endParaRPr lang="en-US" sz="640" dirty="0"/>
          </a:p>
        </p:txBody>
      </p:sp>
      <p:sp>
        <p:nvSpPr>
          <p:cNvPr id="215" name="Shape 213"/>
          <p:cNvSpPr/>
          <p:nvPr/>
        </p:nvSpPr>
        <p:spPr>
          <a:xfrm>
            <a:off x="7589520" y="4434840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626096" y="4485132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6.839</a:t>
            </a:r>
            <a:endParaRPr lang="en-US" sz="640" dirty="0"/>
          </a:p>
        </p:txBody>
      </p:sp>
      <p:sp>
        <p:nvSpPr>
          <p:cNvPr id="217" name="Shape 215"/>
          <p:cNvSpPr/>
          <p:nvPr/>
        </p:nvSpPr>
        <p:spPr>
          <a:xfrm>
            <a:off x="8275320" y="4434840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311896" y="4485132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3.150</a:t>
            </a:r>
            <a:endParaRPr lang="en-US" sz="640" dirty="0"/>
          </a:p>
        </p:txBody>
      </p:sp>
      <p:sp>
        <p:nvSpPr>
          <p:cNvPr id="219" name="Shape 217"/>
          <p:cNvSpPr/>
          <p:nvPr/>
        </p:nvSpPr>
        <p:spPr>
          <a:xfrm>
            <a:off x="9098280" y="4434840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9134856" y="4485132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221" name="Shape 219"/>
          <p:cNvSpPr/>
          <p:nvPr/>
        </p:nvSpPr>
        <p:spPr>
          <a:xfrm>
            <a:off x="777240" y="5074920"/>
            <a:ext cx="10104120" cy="621792"/>
          </a:xfrm>
          <a:prstGeom prst="roundRect">
            <a:avLst>
              <a:gd name="adj" fmla="val 8824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60120" y="5285232"/>
            <a:ext cx="973836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F3437"/>
                </a:solidFill>
              </a:rPr>
              <a:t>Data read: latest CV 6.839 is also max CV, with plate1/2/3 = 6.743 / 6.944 / 6.898. This is a repeatable plate-level pattern at the latest point, not a single plate outlier.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9. Case Analysis - A04 / 1217A05: Aspiration Anomaly and Local Channel Risk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A04 has LOW %D plus an oil-leak event; 1217A05 has an explicit C5/C7 low-aspiration fail.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10/13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960120" cy="45720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170432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Unit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63040" y="1115568"/>
            <a:ext cx="960120" cy="45720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1170432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Cycle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1115568"/>
            <a:ext cx="5989320" cy="45720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736" y="1170432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evidence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412480" y="1115568"/>
            <a:ext cx="2377440" cy="45720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1170432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Interpretation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15727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16230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0624A04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1463040" y="15727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16230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100k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2423160" y="1572768"/>
            <a:ext cx="5989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9736" y="16230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F1 LOW %D in plate5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8412480" y="1572768"/>
            <a:ext cx="2377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16230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Early aspiration anomaly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02920" y="20299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0802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0624A04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1463040" y="20299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9616" y="20802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260k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2423160" y="2029968"/>
            <a:ext cx="59893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9736" y="20802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A5 LOW %D plate4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8412480" y="2029968"/>
            <a:ext cx="237744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49056" y="20802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Repeated LOW %D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502920" y="24871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25374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0624A04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1463040" y="24871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9616" y="25374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520k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2423160" y="2487168"/>
            <a:ext cx="5989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59736" y="25374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Oil leak / sensor error; max CV 5.642; max worst 11.204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8412480" y="2487168"/>
            <a:ext cx="2377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49056" y="25374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Event + optical peak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502920" y="29443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" y="29946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0624A04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1463040" y="29443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99616" y="29946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1020k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2423160" y="2944368"/>
            <a:ext cx="59893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59736" y="29946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Latest CV 4.379; only 3 valid plates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8412480" y="2944368"/>
            <a:ext cx="237744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49056" y="29946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Endpoint still elevated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502920" y="34015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34518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1217A05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1463040" y="34015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99616" y="34518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455k / 175%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2423160" y="3401568"/>
            <a:ext cx="5989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59736" y="34518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Explicit fail; C5/C7 aspirate less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8412480" y="3401568"/>
            <a:ext cx="2377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49056" y="34518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Explicit aspiration fail</a:t>
            </a:r>
            <a:endParaRPr lang="en-US" sz="810" dirty="0"/>
          </a:p>
        </p:txBody>
      </p:sp>
      <p:sp>
        <p:nvSpPr>
          <p:cNvPr id="55" name="Shape 53"/>
          <p:cNvSpPr/>
          <p:nvPr/>
        </p:nvSpPr>
        <p:spPr>
          <a:xfrm>
            <a:off x="502920" y="38587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" y="39090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1217A05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1463040" y="38587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99616" y="39090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520k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2423160" y="3858768"/>
            <a:ext cx="59893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59736" y="39090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Max CV 6.195; max worst 7.419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8412480" y="3858768"/>
            <a:ext cx="237744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49056" y="39090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Optical peak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502920" y="43159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" y="43662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1217A05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1463040" y="43159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99616" y="43662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1020k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2423160" y="4315968"/>
            <a:ext cx="5989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59736" y="43662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Latest CV 1.487; worst 2.308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8412480" y="4315968"/>
            <a:ext cx="2377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49056" y="43662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Endpoint improved, but historical fail remains relevant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1375258" y="5464572"/>
            <a:ext cx="1295705" cy="341868"/>
          </a:xfrm>
          <a:prstGeom prst="roundRect">
            <a:avLst>
              <a:gd name="adj" fmla="val 93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375258" y="5299980"/>
            <a:ext cx="1295705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4.38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265530" y="5879592"/>
            <a:ext cx="1515161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7384"/>
                </a:solidFill>
              </a:rPr>
              <a:t>A04 latest CV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866998" y="4931797"/>
            <a:ext cx="1295705" cy="874643"/>
          </a:xfrm>
          <a:prstGeom prst="roundRect">
            <a:avLst>
              <a:gd name="adj" fmla="val 365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66998" y="4767205"/>
            <a:ext cx="1295705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11.20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757270" y="5879592"/>
            <a:ext cx="1515161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7384"/>
                </a:solidFill>
              </a:rPr>
              <a:t>A04 max worst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358738" y="5690388"/>
            <a:ext cx="1295705" cy="116052"/>
          </a:xfrm>
          <a:prstGeom prst="roundRect">
            <a:avLst>
              <a:gd name="adj" fmla="val 275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58738" y="5525796"/>
            <a:ext cx="1295705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1.49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249010" y="5879592"/>
            <a:ext cx="1515161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7384"/>
                </a:solidFill>
              </a:rPr>
              <a:t>1217 latest CV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850478" y="5227275"/>
            <a:ext cx="1295705" cy="579165"/>
          </a:xfrm>
          <a:prstGeom prst="roundRect">
            <a:avLst>
              <a:gd name="adj" fmla="val 55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850478" y="5062683"/>
            <a:ext cx="1295705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7.42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740750" y="5879592"/>
            <a:ext cx="1515161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7384"/>
                </a:solidFill>
              </a:rPr>
              <a:t>1217 max worst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10. Case Analysis - A01 / 0311A04: Recovery Type vs Stable Reference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A01 had large historical variation but improved at the latest node; 0311A04 shows stable optical behavior and can be used as a reference unit.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11/13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94360" y="108813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CV trend: A01 recovery vs 0311A04 stable baseline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005840" y="443484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437540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005840" y="411480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4055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005840" y="379476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73532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005840" y="347472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41528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3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005840" y="315468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09524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4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005840" y="283464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77520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5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005840" y="251460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4551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6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005840" y="219456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13512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7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005840" y="187452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181508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8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005840" y="155448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149504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9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00584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19456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825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260k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38328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3697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520k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75488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820k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66928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2297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1020k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005840" y="2834640"/>
            <a:ext cx="4663440" cy="0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68833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C2626"/>
                </a:solidFill>
              </a:rPr>
              <a:t>5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05840" y="4141616"/>
            <a:ext cx="297180" cy="6706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03020" y="4060012"/>
            <a:ext cx="160020" cy="8160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4060012"/>
            <a:ext cx="137160" cy="19002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00200" y="3103189"/>
            <a:ext cx="297180" cy="114684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97380" y="3086120"/>
            <a:ext cx="297180" cy="1706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94560" y="2629204"/>
            <a:ext cx="1188720" cy="45691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2629204"/>
            <a:ext cx="457200" cy="144261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0" y="4071823"/>
            <a:ext cx="914400" cy="12388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033256"/>
            <a:ext cx="914400" cy="1162455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" y="4176681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51276" y="2597200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37276" y="3001252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" y="4180013"/>
            <a:ext cx="297180" cy="3738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03020" y="4180014"/>
            <a:ext cx="160020" cy="20972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63040" y="4200985"/>
            <a:ext cx="137160" cy="4503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00200" y="4117195"/>
            <a:ext cx="297180" cy="12882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97380" y="4117195"/>
            <a:ext cx="297180" cy="1939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94560" y="2452260"/>
            <a:ext cx="1188720" cy="1684329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0" y="2452260"/>
            <a:ext cx="457200" cy="157797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0" y="3837159"/>
            <a:ext cx="914400" cy="193076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3837159"/>
            <a:ext cx="914400" cy="12189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3836" y="4185394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51276" y="2420256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37276" y="3927048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5840" y="3808481"/>
            <a:ext cx="297180" cy="40191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03020" y="4058422"/>
            <a:ext cx="160020" cy="15197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63040" y="4058422"/>
            <a:ext cx="137160" cy="19974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00200" y="4101541"/>
            <a:ext cx="297180" cy="156629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97380" y="4101542"/>
            <a:ext cx="297180" cy="12988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4101181"/>
            <a:ext cx="1188720" cy="13024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4101182"/>
            <a:ext cx="457200" cy="47114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40480" y="4148296"/>
            <a:ext cx="914400" cy="106821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54880" y="4218047"/>
            <a:ext cx="914400" cy="3707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3836" y="3776477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65376" y="4069538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37276" y="4186043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5840" y="2912531"/>
            <a:ext cx="297180" cy="1328459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03020" y="2912531"/>
            <a:ext cx="160020" cy="58737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463040" y="2698968"/>
            <a:ext cx="137160" cy="80093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00200" y="1895658"/>
            <a:ext cx="297180" cy="803310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97380" y="1895658"/>
            <a:ext cx="297180" cy="38437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194560" y="1744731"/>
            <a:ext cx="1188720" cy="53530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83280" y="1744731"/>
            <a:ext cx="457200" cy="1254578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40480" y="2999309"/>
            <a:ext cx="914400" cy="81337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54880" y="3812680"/>
            <a:ext cx="914400" cy="9963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3836" y="420898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65376" y="1863654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51276" y="1712727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37276" y="388030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05840" y="4098372"/>
            <a:ext cx="297180" cy="6115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03020" y="4018747"/>
            <a:ext cx="160020" cy="79625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63040" y="4018747"/>
            <a:ext cx="137160" cy="210905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00200" y="4142055"/>
            <a:ext cx="297180" cy="8759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897380" y="4142056"/>
            <a:ext cx="297180" cy="10003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194560" y="4195454"/>
            <a:ext cx="1188720" cy="4663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195454"/>
            <a:ext cx="457200" cy="2935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840480" y="4224811"/>
            <a:ext cx="914400" cy="3504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754880" y="2246072"/>
            <a:ext cx="914400" cy="201378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3836" y="4127522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431036" y="3986743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637276" y="2214068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1560" y="4727448"/>
            <a:ext cx="1097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978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0624A04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1965960" y="4727448"/>
            <a:ext cx="1097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122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1217A05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2880360" y="4727448"/>
            <a:ext cx="1097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266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0311A04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94760" y="4727448"/>
            <a:ext cx="1097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410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0624A01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4709160" y="4727448"/>
            <a:ext cx="1097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554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0624A05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6172200" y="1234440"/>
            <a:ext cx="914400" cy="49377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08776" y="1289304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</a:rPr>
              <a:t>Unit</a:t>
            </a:r>
            <a:endParaRPr lang="en-US" sz="830" dirty="0"/>
          </a:p>
        </p:txBody>
      </p:sp>
      <p:sp>
        <p:nvSpPr>
          <p:cNvPr id="113" name="Shape 111"/>
          <p:cNvSpPr/>
          <p:nvPr/>
        </p:nvSpPr>
        <p:spPr>
          <a:xfrm>
            <a:off x="7086600" y="1234440"/>
            <a:ext cx="1005840" cy="49377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123176" y="1289304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</a:rPr>
              <a:t>Cycle</a:t>
            </a:r>
            <a:endParaRPr lang="en-US" sz="830" dirty="0"/>
          </a:p>
        </p:txBody>
      </p:sp>
      <p:sp>
        <p:nvSpPr>
          <p:cNvPr id="115" name="Shape 113"/>
          <p:cNvSpPr/>
          <p:nvPr/>
        </p:nvSpPr>
        <p:spPr>
          <a:xfrm>
            <a:off x="8092440" y="1234440"/>
            <a:ext cx="3566160" cy="49377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129016" y="1289304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</a:rPr>
              <a:t>Data</a:t>
            </a:r>
            <a:endParaRPr lang="en-US" sz="830" dirty="0"/>
          </a:p>
        </p:txBody>
      </p:sp>
      <p:sp>
        <p:nvSpPr>
          <p:cNvPr id="117" name="Shape 115"/>
          <p:cNvSpPr/>
          <p:nvPr/>
        </p:nvSpPr>
        <p:spPr>
          <a:xfrm>
            <a:off x="11658600" y="1234440"/>
            <a:ext cx="1828800" cy="49377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1695176" y="1289304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</a:rPr>
              <a:t>Read</a:t>
            </a:r>
            <a:endParaRPr lang="en-US" sz="830" dirty="0"/>
          </a:p>
        </p:txBody>
      </p:sp>
      <p:sp>
        <p:nvSpPr>
          <p:cNvPr id="119" name="Shape 117"/>
          <p:cNvSpPr/>
          <p:nvPr/>
        </p:nvSpPr>
        <p:spPr>
          <a:xfrm>
            <a:off x="6172200" y="1728216"/>
            <a:ext cx="9144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208776" y="1778508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0624A01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7086600" y="1728216"/>
            <a:ext cx="10058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123176" y="1778508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65k-520k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8092440" y="1728216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129016" y="1778508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CV 4.757 → 8.406 high band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1658600" y="1728216"/>
            <a:ext cx="1828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1695176" y="1778508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Clear historical variation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172200" y="2221992"/>
            <a:ext cx="91440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08776" y="2272284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0624A01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7086600" y="2221992"/>
            <a:ext cx="100584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123176" y="2272284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195k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8092440" y="2221992"/>
            <a:ext cx="356616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129016" y="2272284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H1 LOW %D; G12 LOW %D; worst 13.397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11658600" y="2221992"/>
            <a:ext cx="182880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695176" y="2272284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Aspiration anomaly + channel peak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6172200" y="2715768"/>
            <a:ext cx="9144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208776" y="2766060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0624A01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7086600" y="2715768"/>
            <a:ext cx="10058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123176" y="2766060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1020k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2440" y="2715768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129016" y="2766060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Latest CV 1.633; worst 3.046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11658600" y="2715768"/>
            <a:ext cx="1828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1695176" y="2766060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Improved, but repeatability should be confirmed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6172200" y="3209544"/>
            <a:ext cx="91440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208776" y="3259836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0311A04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7086600" y="3209544"/>
            <a:ext cx="100584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123176" y="3259836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0-1020k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092440" y="3209544"/>
            <a:ext cx="356616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129016" y="3259836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Latest CV 0.677; max CV 1.957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11658600" y="3209544"/>
            <a:ext cx="182880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695176" y="3259836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Overall stable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6172200" y="3703320"/>
            <a:ext cx="9144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208776" y="3753612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0311A04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7086600" y="3703320"/>
            <a:ext cx="10058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123176" y="3753612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195k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8092440" y="3703320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129016" y="3753612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Max worst 3.158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11658600" y="3703320"/>
            <a:ext cx="1828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1695176" y="3753612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Low-amplitude channel peak; acceptable as a reference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777240" y="5166360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EAF2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60120" y="5340096"/>
            <a:ext cx="96469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EA6"/>
                </a:solidFill>
              </a:rPr>
              <a:t>A01 max CV 8.406 vs latest 1.633; 0311A04 latest 0.677. In the data, A01 is a recovery-type unit and 0311A04 is a stable-type unit.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11. O-ring Evidence Strength Matrix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Separate direct data evidence from O-ring root-cause inference to avoid presenting correlation as causation.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12/13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91440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197864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FFFFFF"/>
                </a:solidFill>
              </a:rPr>
              <a:t>Unit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1417320" y="1143000"/>
            <a:ext cx="333756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3896" y="1197864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FFFFFF"/>
                </a:solidFill>
              </a:rPr>
              <a:t>Optical / aspiration evidence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242316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197864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FFFFFF"/>
                </a:solidFill>
              </a:rPr>
              <a:t>Supporting event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178040" y="1143000"/>
            <a:ext cx="370332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1197864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FFFFFF"/>
                </a:solidFill>
              </a:rPr>
              <a:t>O-ring inference strength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502920" y="1764792"/>
            <a:ext cx="91440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1815084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0624A05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1417320" y="1764792"/>
            <a:ext cx="33375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3896" y="1815084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Strong: latest CV 6.839; all 3 valid plates are elevated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4754880" y="1764792"/>
            <a:ext cx="2423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815084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Weak: no explicit LOW %D note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178040" y="1764792"/>
            <a:ext cx="37033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14616" y="1815084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Medium-high: overall consistency declined; before/after replacement retest is needed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502920" y="2386584"/>
            <a:ext cx="91440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436876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0624A04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1417320" y="2386584"/>
            <a:ext cx="33375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53896" y="2436876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Strong: F1/A5 LOW %D; max worst 11.204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4754880" y="2386584"/>
            <a:ext cx="24231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436876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Strong: oil leak / sensor event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7178040" y="2386584"/>
            <a:ext cx="370332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14616" y="2436876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High: contamination, lubrication, or sealing-surface abnormality requires teardown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502920" y="3008376"/>
            <a:ext cx="91440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3058668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1217A05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1417320" y="3008376"/>
            <a:ext cx="33375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3896" y="3058668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Strong: C5/C7 low aspiration fail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4754880" y="3008376"/>
            <a:ext cx="2423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3058668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Medium: 520k CV peak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7178040" y="3008376"/>
            <a:ext cx="37033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4616" y="3058668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High: local O-ring or channel assembly risk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502920" y="3630168"/>
            <a:ext cx="91440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" y="3680460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0624A01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1417320" y="3630168"/>
            <a:ext cx="33375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53896" y="3680460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Medium: H1/G12 LOW %D; historical CV high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4754880" y="3630168"/>
            <a:ext cx="24231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3680460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Medium: latest node improved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7178040" y="3630168"/>
            <a:ext cx="370332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14616" y="3680460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Medium: stage-specific anomaly; repeatability is needed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502920" y="4251960"/>
            <a:ext cx="91440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4302252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0311A04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1417320" y="4251960"/>
            <a:ext cx="33375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53896" y="4302252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Weak: no anomaly note; CV is stable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4754880" y="4251960"/>
            <a:ext cx="2423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4302252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Weak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178040" y="4251960"/>
            <a:ext cx="37033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14616" y="4302252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Low: reference sample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731520" y="56235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3437"/>
                </a:solidFill>
              </a:rPr>
              <a:t>Root-cause confirmation standard: teardown finds an O-ring abnormality, and the corresponding channel LOW %D / CV anomaly improves significantly and repeatably after replacement.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12. Additional Data and Final Judgment Recommendations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The current data is sufficient for risk stratification, but final O-ring performance judgment requires additional verification data.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13/13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457200" cy="58521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197864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</a:rPr>
              <a:t>#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1051560" y="1143000"/>
            <a:ext cx="2011680" cy="58521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1197864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</a:rPr>
              <a:t>Data needed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063240" y="1143000"/>
            <a:ext cx="4663440" cy="58521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1197864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</a:rPr>
              <a:t>Details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726680" y="1143000"/>
            <a:ext cx="3383280" cy="58521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3256" y="1197864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</a:rPr>
              <a:t>Purpose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94360" y="1728216"/>
            <a:ext cx="457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1778508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1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1051560" y="1728216"/>
            <a:ext cx="20116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1778508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O-ring teardown data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063240" y="1728216"/>
            <a:ext cx="46634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9816" y="1778508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Wear, scratches, contamination, lubrication condition, compression set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726680" y="1728216"/>
            <a:ext cx="3383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63256" y="1778508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Connect optical / aspiration anomalies with physical condition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94360" y="2313432"/>
            <a:ext cx="45720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363724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2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1051560" y="2313432"/>
            <a:ext cx="201168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" y="2363724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Before/after replacement A/B data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3063240" y="2313432"/>
            <a:ext cx="466344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9816" y="2363724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Same unit and same channel: CV, LOW %D, and aspiration-volume changes before/after O-ring replacement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7726680" y="2313432"/>
            <a:ext cx="338328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63256" y="2363724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Verify whether the O-ring is the main cause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94360" y="2898648"/>
            <a:ext cx="457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2948940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3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1051560" y="2898648"/>
            <a:ext cx="20116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8136" y="2948940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Channel-localized retest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3063240" y="2898648"/>
            <a:ext cx="46634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9816" y="2948940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Repeat C5/C7, F1/A5, H1/G12, and all A05 channels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7726680" y="2898648"/>
            <a:ext cx="3383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63256" y="2948940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Confirm whether the anomaly is fixed to a channel or plate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594360" y="3483864"/>
            <a:ext cx="45720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" y="3534156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4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1051560" y="3483864"/>
            <a:ext cx="201168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8136" y="3534156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Unify plate-count scope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3063240" y="3483864"/>
            <a:ext cx="466344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99816" y="3534156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Complete 5 plates at the latest node or explicitly define the 3-plate standard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7726680" y="3483864"/>
            <a:ext cx="338328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63256" y="3534156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Resolve comparability between historical and latest data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594360" y="4069080"/>
            <a:ext cx="457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4119372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5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1051560" y="4069080"/>
            <a:ext cx="20116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8136" y="4119372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Final acceptance rule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3063240" y="4069080"/>
            <a:ext cx="46634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99816" y="4119372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Combine optical, aspiration, and seal/leak indicators for judgment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7726680" y="4069080"/>
            <a:ext cx="3383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63256" y="4119372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Avoid assigning PASS based only on cycles or a single CV metric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6944</Words>
  <Application>WPS 演示</Application>
  <PresentationFormat>On-screen Show (16:9)</PresentationFormat>
  <Paragraphs>1047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Opentrons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P1000H O-ring Data Analysis Report - English</dc:title>
  <dc:creator>Codex</dc:creator>
  <dc:subject>P1000H O-ring data analysis report - English</dc:subject>
  <cp:lastModifiedBy>Wye</cp:lastModifiedBy>
  <cp:revision>2</cp:revision>
  <dcterms:created xsi:type="dcterms:W3CDTF">2026-06-04T01:22:46Z</dcterms:created>
  <dcterms:modified xsi:type="dcterms:W3CDTF">2026-06-04T01:22:46Z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97B833B80EA3B75A66D3206AD7AF8B94_42</vt:lpwstr>
  </property>
</Properties>
</file>